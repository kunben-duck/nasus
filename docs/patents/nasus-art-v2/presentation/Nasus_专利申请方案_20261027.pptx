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1314de3c934df6" /><Relationship Type="http://schemas.openxmlformats.org/officeDocument/2006/relationships/extended-properties" Target="/docProps/app.xml" Id="R6ef5f44f21ab4342" /><Relationship Type="http://schemas.openxmlformats.org/officeDocument/2006/relationships/officeDocument" Target="/ppt/presentation.xml" Id="R5cf99725469b44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ec2bc2568a4ad9"/>
  </p:sldMasterIdLst>
  <p:notesMasterIdLst>
    <p:notesMasterId xmlns:r="http://schemas.openxmlformats.org/officeDocument/2006/relationships" r:id="Rfcf9faf33e384c2c"/>
  </p:notesMasterIdLst>
  <p:sldIdLst>
    <p:sldId xmlns:r="http://schemas.openxmlformats.org/officeDocument/2006/relationships" id="256" r:id="Rc4040d252e024241"/>
    <p:sldId xmlns:r="http://schemas.openxmlformats.org/officeDocument/2006/relationships" id="257" r:id="Rb25745d25cda4018"/>
    <p:sldId xmlns:r="http://schemas.openxmlformats.org/officeDocument/2006/relationships" id="258" r:id="Rfe7b71bb1230440c"/>
    <p:sldId xmlns:r="http://schemas.openxmlformats.org/officeDocument/2006/relationships" id="259" r:id="Rca189c2497564c63"/>
    <p:sldId xmlns:r="http://schemas.openxmlformats.org/officeDocument/2006/relationships" id="260" r:id="R93bdac750e534004"/>
    <p:sldId xmlns:r="http://schemas.openxmlformats.org/officeDocument/2006/relationships" id="261" r:id="R66dad428867d443d"/>
    <p:sldId xmlns:r="http://schemas.openxmlformats.org/officeDocument/2006/relationships" id="262" r:id="R16a2c30e834a4a29"/>
    <p:sldId xmlns:r="http://schemas.openxmlformats.org/officeDocument/2006/relationships" id="263" r:id="R9711d39edf8346c0"/>
    <p:sldId xmlns:r="http://schemas.openxmlformats.org/officeDocument/2006/relationships" id="264" r:id="R2a578b3951e449d7"/>
    <p:sldId xmlns:r="http://schemas.openxmlformats.org/officeDocument/2006/relationships" id="265" r:id="Rd4e0d1cf8ced4965"/>
    <p:sldId xmlns:r="http://schemas.openxmlformats.org/officeDocument/2006/relationships" id="266" r:id="Rc2b3026b7da14950"/>
    <p:sldId xmlns:r="http://schemas.openxmlformats.org/officeDocument/2006/relationships" id="267" r:id="Re3c9980ed02441bd"/>
    <p:sldId xmlns:r="http://schemas.openxmlformats.org/officeDocument/2006/relationships" id="268" r:id="R3f0d69c651254de6"/>
    <p:sldId xmlns:r="http://schemas.openxmlformats.org/officeDocument/2006/relationships" id="269" r:id="Rc4e7bdbf11b1488c"/>
    <p:sldId xmlns:r="http://schemas.openxmlformats.org/officeDocument/2006/relationships" id="270" r:id="R52bf55a3f22b46ba"/>
    <p:sldId xmlns:r="http://schemas.openxmlformats.org/officeDocument/2006/relationships" id="271" r:id="R993a24a54e8e45e5"/>
    <p:sldId xmlns:r="http://schemas.openxmlformats.org/officeDocument/2006/relationships" id="272" r:id="Rb82827a77b4d4309"/>
    <p:sldId xmlns:r="http://schemas.openxmlformats.org/officeDocument/2006/relationships" id="273" r:id="Re83fa36edcb84ab7"/>
    <p:sldId xmlns:r="http://schemas.openxmlformats.org/officeDocument/2006/relationships" id="274" r:id="Rd4911d0445d142b2"/>
    <p:sldId xmlns:r="http://schemas.openxmlformats.org/officeDocument/2006/relationships" id="275" r:id="Ra2d51a8a06454efa"/>
    <p:sldId xmlns:r="http://schemas.openxmlformats.org/officeDocument/2006/relationships" id="276" r:id="R0ef048a455ba4d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eba5e9b1274cbe" /><Relationship Type="http://schemas.openxmlformats.org/officeDocument/2006/relationships/slideMaster" Target="/ppt/slideMasters/slideMaster1.xml" Id="R37ec2bc2568a4ad9" /><Relationship Type="http://schemas.openxmlformats.org/officeDocument/2006/relationships/notesMaster" Target="/ppt/notesMasters/notesMaster1.xml" Id="Rfcf9faf33e384c2c" /><Relationship Type="http://schemas.openxmlformats.org/officeDocument/2006/relationships/presProps" Target="/ppt/presProps.xml" Id="Rc9da6afe4a83442f" /><Relationship Type="http://schemas.openxmlformats.org/officeDocument/2006/relationships/tableStyles" Target="/ppt/tableStyles.xml" Id="R59409e41f3f242f2" /><Relationship Type="http://schemas.openxmlformats.org/officeDocument/2006/relationships/slide" Target="/ppt/slides/slide1.xml" Id="Rc4040d252e024241" /><Relationship Type="http://schemas.openxmlformats.org/officeDocument/2006/relationships/slide" Target="/ppt/slides/slide2.xml" Id="Rb25745d25cda4018" /><Relationship Type="http://schemas.openxmlformats.org/officeDocument/2006/relationships/slide" Target="/ppt/slides/slide3.xml" Id="Rfe7b71bb1230440c" /><Relationship Type="http://schemas.openxmlformats.org/officeDocument/2006/relationships/slide" Target="/ppt/slides/slide4.xml" Id="Rca189c2497564c63" /><Relationship Type="http://schemas.openxmlformats.org/officeDocument/2006/relationships/slide" Target="/ppt/slides/slide5.xml" Id="R93bdac750e534004" /><Relationship Type="http://schemas.openxmlformats.org/officeDocument/2006/relationships/slide" Target="/ppt/slides/slide6.xml" Id="R66dad428867d443d" /><Relationship Type="http://schemas.openxmlformats.org/officeDocument/2006/relationships/slide" Target="/ppt/slides/slide7.xml" Id="R16a2c30e834a4a29" /><Relationship Type="http://schemas.openxmlformats.org/officeDocument/2006/relationships/slide" Target="/ppt/slides/slide8.xml" Id="R9711d39edf8346c0" /><Relationship Type="http://schemas.openxmlformats.org/officeDocument/2006/relationships/slide" Target="/ppt/slides/slide9.xml" Id="R2a578b3951e449d7" /><Relationship Type="http://schemas.openxmlformats.org/officeDocument/2006/relationships/slide" Target="/ppt/slides/slide10.xml" Id="Rd4e0d1cf8ced4965" /><Relationship Type="http://schemas.openxmlformats.org/officeDocument/2006/relationships/slide" Target="/ppt/slides/slide11.xml" Id="Rc2b3026b7da14950" /><Relationship Type="http://schemas.openxmlformats.org/officeDocument/2006/relationships/slide" Target="/ppt/slides/slide12.xml" Id="Re3c9980ed02441bd" /><Relationship Type="http://schemas.openxmlformats.org/officeDocument/2006/relationships/slide" Target="/ppt/slides/slide13.xml" Id="R3f0d69c651254de6" /><Relationship Type="http://schemas.openxmlformats.org/officeDocument/2006/relationships/slide" Target="/ppt/slides/slide14.xml" Id="Rc4e7bdbf11b1488c" /><Relationship Type="http://schemas.openxmlformats.org/officeDocument/2006/relationships/slide" Target="/ppt/slides/slide15.xml" Id="R52bf55a3f22b46ba" /><Relationship Type="http://schemas.openxmlformats.org/officeDocument/2006/relationships/slide" Target="/ppt/slides/slide16.xml" Id="R993a24a54e8e45e5" /><Relationship Type="http://schemas.openxmlformats.org/officeDocument/2006/relationships/slide" Target="/ppt/slides/slide17.xml" Id="Rb82827a77b4d4309" /><Relationship Type="http://schemas.openxmlformats.org/officeDocument/2006/relationships/slide" Target="/ppt/slides/slide18.xml" Id="Re83fa36edcb84ab7" /><Relationship Type="http://schemas.openxmlformats.org/officeDocument/2006/relationships/slide" Target="/ppt/slides/slide19.xml" Id="Rd4911d0445d142b2" /><Relationship Type="http://schemas.openxmlformats.org/officeDocument/2006/relationships/slide" Target="/ppt/slides/slide20.xml" Id="Ra2d51a8a06454efa" /><Relationship Type="http://schemas.openxmlformats.org/officeDocument/2006/relationships/slide" Target="/ppt/slides/slide21.xml" Id="R0ef048a455ba4d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9040d5febe4d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ab8fc107554090" /><Relationship Type="http://schemas.openxmlformats.org/officeDocument/2006/relationships/notesMaster" Target="/ppt/notesMasters/notesMaster1.xml" Id="R08037d088dc44a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86000f730e45d5" /><Relationship Type="http://schemas.openxmlformats.org/officeDocument/2006/relationships/notesMaster" Target="/ppt/notesMasters/notesMaster1.xml" Id="R75bf86f2b08743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b5790ee0814e7e" /><Relationship Type="http://schemas.openxmlformats.org/officeDocument/2006/relationships/notesMaster" Target="/ppt/notesMasters/notesMaster1.xml" Id="R72f2aa3d19bf43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f4f9a919ba4e22" /><Relationship Type="http://schemas.openxmlformats.org/officeDocument/2006/relationships/notesMaster" Target="/ppt/notesMasters/notesMaster1.xml" Id="Ra57a6e0bede742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7f49a920ea4734" /><Relationship Type="http://schemas.openxmlformats.org/officeDocument/2006/relationships/notesMaster" Target="/ppt/notesMasters/notesMaster1.xml" Id="Rb4e3e874ec1648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4c79fa62e24ec5" /><Relationship Type="http://schemas.openxmlformats.org/officeDocument/2006/relationships/notesMaster" Target="/ppt/notesMasters/notesMaster1.xml" Id="R4a7c2d74c3a54c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48d477f8c7447c" /><Relationship Type="http://schemas.openxmlformats.org/officeDocument/2006/relationships/notesMaster" Target="/ppt/notesMasters/notesMaster1.xml" Id="Rbd51d0dbf6794c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748e2ddd1a4870" /><Relationship Type="http://schemas.openxmlformats.org/officeDocument/2006/relationships/notesMaster" Target="/ppt/notesMasters/notesMaster1.xml" Id="R0a27c5ef1e1443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8bb97e22694330" /><Relationship Type="http://schemas.openxmlformats.org/officeDocument/2006/relationships/notesMaster" Target="/ppt/notesMasters/notesMaster1.xml" Id="Rf749740530be43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a884ca60aa493e" /><Relationship Type="http://schemas.openxmlformats.org/officeDocument/2006/relationships/notesMaster" Target="/ppt/notesMasters/notesMaster1.xml" Id="R450646c82f3847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2a35defea7459e" /><Relationship Type="http://schemas.openxmlformats.org/officeDocument/2006/relationships/notesMaster" Target="/ppt/notesMasters/notesMaster1.xml" Id="Ra329a8d65c224c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abd51135284af2" /><Relationship Type="http://schemas.openxmlformats.org/officeDocument/2006/relationships/notesMaster" Target="/ppt/notesMasters/notesMaster1.xml" Id="Rf2bc5b1a34a747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7febaf55c64286" /><Relationship Type="http://schemas.openxmlformats.org/officeDocument/2006/relationships/notesMaster" Target="/ppt/notesMasters/notesMaster1.xml" Id="R2d38620593ce41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6e1204f7834460" /><Relationship Type="http://schemas.openxmlformats.org/officeDocument/2006/relationships/notesMaster" Target="/ppt/notesMasters/notesMaster1.xml" Id="R81ade05475a742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564feea004466d" /><Relationship Type="http://schemas.openxmlformats.org/officeDocument/2006/relationships/notesMaster" Target="/ppt/notesMasters/notesMaster1.xml" Id="Re48df5ee474048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ebdba6eccb46dd" /><Relationship Type="http://schemas.openxmlformats.org/officeDocument/2006/relationships/notesMaster" Target="/ppt/notesMasters/notesMaster1.xml" Id="R9a58430fa66e42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8a309aaafda434f" /><Relationship Type="http://schemas.openxmlformats.org/officeDocument/2006/relationships/notesMaster" Target="/ppt/notesMasters/notesMaster1.xml" Id="R748811dda5de48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44b39db0a4469a" /><Relationship Type="http://schemas.openxmlformats.org/officeDocument/2006/relationships/notesMaster" Target="/ppt/notesMasters/notesMaster1.xml" Id="Re483ff0ac80e468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1bc53101b5044fc" /><Relationship Type="http://schemas.openxmlformats.org/officeDocument/2006/relationships/notesMaster" Target="/ppt/notesMasters/notesMaster1.xml" Id="Rc63b0f1552d44be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7f5e8ccd0614ee7" /><Relationship Type="http://schemas.openxmlformats.org/officeDocument/2006/relationships/notesMaster" Target="/ppt/notesMasters/notesMaster1.xml" Id="Ra9203b15f23248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65ed830ee2d4393" /><Relationship Type="http://schemas.openxmlformats.org/officeDocument/2006/relationships/notesMaster" Target="/ppt/notesMasters/notesMaster1.xml" Id="R9de85e13b4b44a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Nasus 专利申请技术方案。AI Coding 是主要应用背景，方法也适用于人工代码变更。技术内容基于本地固定实现快照 50e82a95ce1ef975862dbe8038a98d307490d831，讨论分支 2026/nasus_art_v2。封面视觉为生成的概念装饰，不表示真实系统拓扑。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核心保护主题是三个机制之间的约束关系。滚动图谱、影响选测和生成测试本身已有公开基础。完整自动闭环为目标设计，已有组件与部分链路见第14页。来源：docs/patents/nasus-art-v2/README.md，固定实现快照50e82a9。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本页为问题建模，不是市场统计。AI Coding 属于主要场景，核心方法不依赖变更是否由模型生成。来源：Nasus V2.1 专利 Wiki 背景章节及 V2 固定实现基线。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检索核对日：2026-10-27。CN121935166A《一种基于动态知识图谱的测试用例智能生成方法及系统》权1、3、6，https://patents.google.com/patent/CN121935166A/zh</a:t>
            </a:r>
          </a:p>
          <a:p xmlns:a="http://schemas.openxmlformats.org/drawingml/2006/main">
            <a:r>
              <a:t>CN121833513A《软件自动化测试方法、装置、设备、存储介质及计算机程序产品》权1至6，https://patents.google.com/patent/CN121833513A/zh</a:t>
            </a:r>
          </a:p>
          <a:p xmlns:a="http://schemas.openxmlformats.org/drawingml/2006/main">
            <a:r>
              <a:t>US20260072811A1 Optimized regression testing through dependency graph analysis and selective test execution，权147、156、157、159、163，https://patents.google.com/patent/US20260072811A1/en</a:t>
            </a:r>
          </a:p>
          <a:p xmlns:a="http://schemas.openxmlformats.org/drawingml/2006/main">
            <a:r>
              <a:t>CN121455447A《一种基于知识图谱的软件需求解析方法》权1、3、7至9，https://patents.google.com/patent/CN121455447A/zh</a:t>
            </a:r>
          </a:p>
          <a:p xmlns:a="http://schemas.openxmlformats.org/drawingml/2006/main">
            <a:r>
              <a:t>表格概括公开技术内容。公开日期不替代具体技术特征的优先权判断。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相对第4页公开内容，重点比较查询范围依赖、义务保持及目标证据恢复三者的确定关联。不能由已读段落未出现某特征推断完整文献不存在该特征。单项依据失效不必然构成缺口，应先检查其他支持是否仍然有效。完整性限于声明的来源范围和本轮确定的义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源图：docs/patents/nasus-art-v1/assets/figure_1_architecture.png。图中总体闭环为目标方案，各环节实现程度见第14页。S101建立基准画像，S102双修订比较，S103依赖传播和失效，S104确定义务，S105复用及生成，S106固定计划执行，S107准入，S108治理反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结构依据：source_delta.py、derivation_registry.py、context_partition.py、test_design_generation.py、run_plan_case_execution.py 与 V2 基线。O_digest、准入聚合字段为目标方案表达，不宣称现有每个数据表均具有同名字段。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关键伪代码：</a:t>
            </a:r>
          </a:p>
          <a:p xmlns:a="http://schemas.openxmlformats.org/drawingml/2006/main">
            <a:r>
              <a:t>compare(binding, rev_a, rev_b, inventory_proof)</a:t>
            </a:r>
          </a:p>
          <a:p xmlns:a="http://schemas.openxmlformats.org/drawingml/2006/main">
            <a:r>
              <a:t>if not comparable_complete: delta.missing = unresolved</a:t>
            </a:r>
          </a:p>
          <a:p xmlns:a="http://schemas.openxmlformats.org/drawingml/2006/main">
            <a:r>
              <a:t>changed = changed_source_members OR changed_query_scope</a:t>
            </a:r>
          </a:p>
          <a:p xmlns:a="http://schemas.openxmlformats.org/drawingml/2006/main">
            <a:r>
              <a:t>if changed: invalidate(pinned_derivation_context)</a:t>
            </a:r>
          </a:p>
          <a:p xmlns:a="http://schemas.openxmlformats.org/drawingml/2006/main">
            <a:r>
              <a:t>if graph_limit_exceeded: reject_or_widen</a:t>
            </a:r>
          </a:p>
          <a:p xmlns:a="http://schemas.openxmlformats.org/drawingml/2006/main">
            <a:r>
              <a:t>persist_status(exact_image_id), preserve_history()</a:t>
            </a:r>
          </a:p>
          <a:p xmlns:a="http://schemas.openxmlformats.org/drawingml/2006/main">
            <a:r>
              <a:t>当前实现任何来源或范围变化会保守失效整个固定上下文派生集合，并非细粒度查询匹配。来源：domain/system_image/source_delta.py:129、code_member_delta.py:67、derivation_registry.py:45、derivation_impact.py:100、application/system_image/context_invalidations.py:48、infrastructure/persistence/context_invalidation_repository.py:127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关键伪代码：</a:t>
            </a:r>
          </a:p>
          <a:p xmlns:a="http://schemas.openxmlformats.org/drawingml/2006/main">
            <a:r>
              <a:t>O = canonical_union(changed_behaviour, impacted_items, policy_items, incident_guards, global_rules)</a:t>
            </a:r>
          </a:p>
          <a:p xmlns:a="http://schemas.openxmlformats.org/drawingml/2006/main">
            <a:r>
              <a:t>if unresolved_dependencies: O = widen(O) or BLOCK</a:t>
            </a:r>
          </a:p>
          <a:p xmlns:a="http://schemas.openxmlformats.org/drawingml/2006/main">
            <a:r>
              <a:t>O = bind_approved_oracles_and_stable_row_ids(O)</a:t>
            </a:r>
          </a:p>
          <a:p xmlns:a="http://schemas.openxmlformats.org/drawingml/2006/main">
            <a:r>
              <a:t>packs = pack_complete_conditions(O, inherit_all_global_rules=True)</a:t>
            </a:r>
          </a:p>
          <a:p xmlns:a="http://schemas.openxmlformats.org/drawingml/2006/main">
            <a:r>
              <a:t>if mandatory_overflow: BLOCK</a:t>
            </a:r>
          </a:p>
          <a:p xmlns:a="http://schemas.openxmlformats.org/drawingml/2006/main">
            <a:r>
              <a:t>append_optional_support_with_remaining_budget(packs)</a:t>
            </a:r>
          </a:p>
          <a:p xmlns:a="http://schemas.openxmlformats.org/drawingml/2006/main">
            <a:r>
              <a:t>freeze(O, input_digest)</a:t>
            </a:r>
          </a:p>
          <a:p xmlns:a="http://schemas.openxmlformats.org/drawingml/2006/main">
            <a:r>
              <a:t>来源：domain/system_image/context_partition.py:14，domain/quality_loop/test_design_generation.py:24。当前字节预算以UTF-8计量，后续模型token预算需按目标分词器另行计量，不把字段max_tokens直接解释为真实token数。全来源自动编译完整业务必验集合为完整目标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来源：domain/quality_loop/test_design_generation.py 的 compile_generation_input、verify_generation_input、_planned_rows。固定条件来源于批准AC、业务规则及范围项。每项义务映射到用例或缺口，步骤引用存在且判据正文和摘要与输入一致。生成结果计划覆盖不等于正式执行覆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pplication/quality_loop/run_plan_case_execution.py:161，run_plan_case_jobs.py:171，domain/quality_loop/run_plan_case_execution.py:260、311、326。claim可能已经产生副作用，缺乏可信outcome时不能安全推断未执行或自动重发。任务completed表示观察齐全，不代表业务检查全部通过。公共HTTP执行链已存在，但正式业务覆盖提交仍未贯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关键伪代码：</a:t>
            </a:r>
          </a:p>
          <a:p xmlns:a="http://schemas.openxmlformats.org/drawingml/2006/main">
            <a:r>
              <a:t>accepted = filter(raw_evidence, exact_plan_build_env_batch_oracle_and_integrity)</a:t>
            </a:r>
          </a:p>
          <a:p xmlns:a="http://schemas.openxmlformats.org/drawingml/2006/main">
            <a:r>
              <a:t>state = satisfy_each(frozen_O, accepted)</a:t>
            </a:r>
          </a:p>
          <a:p xmlns:a="http://schemas.openxmlformats.org/drawingml/2006/main">
            <a:r>
              <a:t>if any_required_fail_unknown_or_missing(state): BLOCK</a:t>
            </a:r>
          </a:p>
          <a:p xmlns:a="http://schemas.openxmlformats.org/drawingml/2006/main">
            <a:r>
              <a:t>expected = capture_dependency_revisions()</a:t>
            </a:r>
          </a:p>
          <a:p xmlns:a="http://schemas.openxmlformats.org/drawingml/2006/main">
            <a:r>
              <a:t>if not recheck_current(expected): RETRY_OR_BLOCK</a:t>
            </a:r>
          </a:p>
          <a:p xmlns:a="http://schemas.openxmlformats.org/drawingml/2006/main">
            <a:r>
              <a:t>commit_decision_if_revisions_unchanged(expected, evidence_refs)</a:t>
            </a:r>
          </a:p>
          <a:p xmlns:a="http://schemas.openxmlformats.org/drawingml/2006/main">
            <a:r>
              <a:t>return quality_ready AND operation_approved</a:t>
            </a:r>
          </a:p>
          <a:p xmlns:a="http://schemas.openxmlformats.org/drawingml/2006/main">
            <a:r>
              <a:t>已有release_decision.py包含未知质量阻断与conditional策略，不代表本页硬门禁已全面替换。知识画像publication、agent交付完成与业务发布准入是不同对象，不能互相替代。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来源：source_delta.py，derivation_registry.py，context_invalidation_repository.py，context_partition.py，run_plan_case_execution.py，publications.py 与 V2.1 技术方案。修改context ID或预算不能绕过原画像当前失效。接受与否定关联均须匹配身份和端点修订。反馈不能直接覆盖已批准验收预期。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基线：2026/nasus_art_v2，代码快照50e82a95ce1ef975862dbe8038a98d307490d831，文档HEAD5b5e4f57c2fbaaa5f47674c59bacc044f1d0eaed。核查日2026-10-27，已有专项记录截至2026-10-13。代表性依据：docs/patents/nasus-art-v2/README.md；domain/system_image/derivation_impact.py；domain/quality_loop/test_design_generation.py；application/quality_loop/run_plan_case_jobs.py；domain/quality_loop/run_plan_case_execution.py:326；domain/quality_loop/release_decision.py:51。没有本轮端到端实测数据，也没有全项目精确影响或最小回归集的实现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及下一页是构造示例，不是真实业务试验。R1至R6为义务行，每行可以包含完整子检查，不能把6行解释为只有6个断言。第一轮集合记为O1，第二轮集合记为O2。复用原全额退款资产并补充额度、并发和幂等要求。T1有效通过仅描述构造条件，不声明当前产品真实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构造示例。乱序用例：成功seq2先到，处理中seq1后到，再重放成功回调，要求终态不倒退且账本不重复。故障修复后的B2′需要新计划、新数据和新证据。O2是按新规范和风险重新确定的本轮集合，非无限保留所有历史用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0为候选核心组合，不作授权结论。单项依赖失效并不直接重写历史通过，应计算本轮当前适用性和其他支持。其技术作用是避免依据失效后错误缩小必验分母，或沿用其他目标的通过结果。完整组合部分环节为可实施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支持依据：P1 source_delta.py与code_member_delta.py；P2 derivation_registry.py及derivation_impact.py；P3 semantic_applicability.py与V2.1关联适用性设计；P4 context_invalidations.py与context_invalidation_repository.py。对应总体图S101至S103。上述机制应放在完整技术组合中评估，不把通用图谱或本体单独作为创新。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5组件依据context_partition.py、test_design_generation.py。P6依据RunPlan与claim/outcome执行契约，正式业务覆盖链尚未完整贯通。P7与P8为已有版本复核组件支持的完整目标设计。方法、系统、设备、存储介质共享同一技术处理逻辑，不把通用模型、图谱、本体或人工审批单独表述为创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口径：全量回归、常规影响选测、本方案，以及去除查询范围依赖、义务保持或目标证据接纳的机制消融。使用相同变更集、缺陷集、目标构建与环境。收益属于机制可解释的预期效果，未填写样本数量或未经实测的百分比。业务作用路径：复用版本化认知减少重复理解，复用适用资产减少重复生成，固定绑定减少人工版本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R1 https://patents.google.com/patent/CN121935166A/zh</a:t>
            </a:r>
          </a:p>
          <a:p xmlns:a="http://schemas.openxmlformats.org/drawingml/2006/main">
            <a:r>
              <a:t>R2 https://patents.google.com/patent/CN121833513A/zh</a:t>
            </a:r>
          </a:p>
          <a:p xmlns:a="http://schemas.openxmlformats.org/drawingml/2006/main">
            <a:r>
              <a:t>R3 https://patents.google.com/patent/US20260072811A1/en</a:t>
            </a:r>
          </a:p>
          <a:p xmlns:a="http://schemas.openxmlformats.org/drawingml/2006/main">
            <a:r>
              <a:t>R4 https://patents.google.com/patent/CN121455447A/zh</a:t>
            </a:r>
          </a:p>
          <a:p xmlns:a="http://schemas.openxmlformats.org/drawingml/2006/main">
            <a:r>
              <a:t>R5 https://arxiv.org/abs/1810.05286</a:t>
            </a:r>
          </a:p>
          <a:p xmlns:a="http://schemas.openxmlformats.org/drawingml/2006/main">
            <a:r>
              <a:t>R6 https://www.usenix.org/conference/usenixsecurity19/presentation/torres-arias</a:t>
            </a:r>
          </a:p>
          <a:p xmlns:a="http://schemas.openxmlformats.org/drawingml/2006/main">
            <a:r>
              <a:t>in-toto主要解决过程和产物完整性，不自动证明业务验收语义。内部依据：docs/patents/nasus-art-v2/README.md 与 docs/patents/nasus-art-v1/README.md。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533edfe594e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b236b896549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2769b42024f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d1b59e10f42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04bc6949644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8c5bc8d1646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1D44D2-DAB3-45CD-A433-74ECA625F1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61F7D2-7768-41D4-84C0-0B2ACD08DC3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39035AB-014B-43DB-B93F-2E9FA70481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C91A4D-02FE-48FD-A954-2D7A767DF9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55E09D-9191-4D47-8ED4-BB83BA043D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E4209E-253C-4C63-BC3F-83FEFA81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ACB93E-1453-445A-900C-1840663079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A094D5-B3C2-4AA2-BA00-C008588A3B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17FC2C-48DB-44AF-8D18-2C830C7915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60D7B5-5E98-4BDA-AC59-182A59F0D6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68f7bf6fd842ae" /><Relationship Type="http://schemas.openxmlformats.org/officeDocument/2006/relationships/slideLayout" Target="/ppt/slideLayouts/slideLayout1.xml" Id="R2cd2803f4cb0450a" /><Relationship Type="http://schemas.openxmlformats.org/officeDocument/2006/relationships/slideLayout" Target="/ppt/slideLayouts/slideLayout2.xml" Id="Rc3c5d69577604fc0" /><Relationship Type="http://schemas.openxmlformats.org/officeDocument/2006/relationships/slideLayout" Target="/ppt/slideLayouts/slideLayout3.xml" Id="R002ea4b3a4354288" /><Relationship Type="http://schemas.openxmlformats.org/officeDocument/2006/relationships/slideLayout" Target="/ppt/slideLayouts/slideLayout4.xml" Id="Rc2859f6886fa4bfb" /><Relationship Type="http://schemas.openxmlformats.org/officeDocument/2006/relationships/slideLayout" Target="/ppt/slideLayouts/slideLayout5.xml" Id="Rdf37f130a9014f43" /><Relationship Type="http://schemas.openxmlformats.org/officeDocument/2006/relationships/slideLayout" Target="/ppt/slideLayouts/slideLayout6.xml" Id="Re71e36c1ab6148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d2803f4cb0450a"/>
    <p:sldLayoutId xmlns:r="http://schemas.openxmlformats.org/officeDocument/2006/relationships" id="2147483650" r:id="Rc3c5d69577604fc0"/>
    <p:sldLayoutId xmlns:r="http://schemas.openxmlformats.org/officeDocument/2006/relationships" id="2147483651" r:id="R002ea4b3a4354288"/>
    <p:sldLayoutId xmlns:r="http://schemas.openxmlformats.org/officeDocument/2006/relationships" id="2147483652" r:id="Rc2859f6886fa4bfb"/>
    <p:sldLayoutId xmlns:r="http://schemas.openxmlformats.org/officeDocument/2006/relationships" id="2147483653" r:id="Rdf37f130a9014f43"/>
    <p:sldLayoutId xmlns:r="http://schemas.openxmlformats.org/officeDocument/2006/relationships" id="2147483654" r:id="Re71e36c1ab6148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c4c8ea2bc84240" /><Relationship Type="http://schemas.openxmlformats.org/officeDocument/2006/relationships/image" Target="/ppt/media/image.png" Id="Rfdff9773edca4910" /><Relationship Type="http://schemas.openxmlformats.org/officeDocument/2006/relationships/notesSlide" Target="/ppt/notesSlides/notesSlide1.xml" Id="R3ffcf0c818f742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1fe6628c643a6" /><Relationship Type="http://schemas.openxmlformats.org/officeDocument/2006/relationships/notesSlide" Target="/ppt/notesSlides/notesSlide2.xml" Id="R24d060ce5fa14b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4878a78d74555" /><Relationship Type="http://schemas.openxmlformats.org/officeDocument/2006/relationships/notesSlide" Target="/ppt/notesSlides/notesSlide3.xml" Id="Rff69472bab6046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3a2fe64ad4afe" /><Relationship Type="http://schemas.openxmlformats.org/officeDocument/2006/relationships/notesSlide" Target="/ppt/notesSlides/notesSlide4.xml" Id="R1f11f3da20b84d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a12a56d4ff404a" /><Relationship Type="http://schemas.openxmlformats.org/officeDocument/2006/relationships/notesSlide" Target="/ppt/notesSlides/notesSlide5.xml" Id="R3aa92884d27d44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b6cfe145f34746" /><Relationship Type="http://schemas.openxmlformats.org/officeDocument/2006/relationships/image" Target="/ppt/media/image2.png" Id="R24d3b71de5e14ca1" /><Relationship Type="http://schemas.openxmlformats.org/officeDocument/2006/relationships/notesSlide" Target="/ppt/notesSlides/notesSlide6.xml" Id="Rfe66ee7b8e2845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c6eaa7d8946d2" /><Relationship Type="http://schemas.openxmlformats.org/officeDocument/2006/relationships/notesSlide" Target="/ppt/notesSlides/notesSlide7.xml" Id="Ra1cdbcbe5e1844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1b0eb50484ba0" /><Relationship Type="http://schemas.openxmlformats.org/officeDocument/2006/relationships/notesSlide" Target="/ppt/notesSlides/notesSlide8.xml" Id="Rb3158e1bb50c4a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202bc331d34508" /><Relationship Type="http://schemas.openxmlformats.org/officeDocument/2006/relationships/notesSlide" Target="/ppt/notesSlides/notesSlide9.xml" Id="R509369406d864f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75f8aef2c4a52" /><Relationship Type="http://schemas.openxmlformats.org/officeDocument/2006/relationships/notesSlide" Target="/ppt/notesSlides/notesSlide10.xml" Id="Raa12d2124de44d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758ad923274fa0" /><Relationship Type="http://schemas.openxmlformats.org/officeDocument/2006/relationships/notesSlide" Target="/ppt/notesSlides/notesSlide11.xml" Id="R93dfb4ac75ea4b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1e93c3b5424f2c" /><Relationship Type="http://schemas.openxmlformats.org/officeDocument/2006/relationships/notesSlide" Target="/ppt/notesSlides/notesSlide12.xml" Id="R630009f7a7fe47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32b97577c4148" /><Relationship Type="http://schemas.openxmlformats.org/officeDocument/2006/relationships/notesSlide" Target="/ppt/notesSlides/notesSlide13.xml" Id="R55fc7776ff784b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ee20582bb24d18" /><Relationship Type="http://schemas.openxmlformats.org/officeDocument/2006/relationships/notesSlide" Target="/ppt/notesSlides/notesSlide14.xml" Id="R85228c39342348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9e9b1477c24129" /><Relationship Type="http://schemas.openxmlformats.org/officeDocument/2006/relationships/notesSlide" Target="/ppt/notesSlides/notesSlide15.xml" Id="Rfa6ed0db25bd40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4cf9579c0442c0" /><Relationship Type="http://schemas.openxmlformats.org/officeDocument/2006/relationships/notesSlide" Target="/ppt/notesSlides/notesSlide16.xml" Id="R1f4495cf20a749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9870d6e49b4f76" /><Relationship Type="http://schemas.openxmlformats.org/officeDocument/2006/relationships/notesSlide" Target="/ppt/notesSlides/notesSlide17.xml" Id="R07be0ed9b4e44d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b8eca2474d493b" /><Relationship Type="http://schemas.openxmlformats.org/officeDocument/2006/relationships/notesSlide" Target="/ppt/notesSlides/notesSlide18.xml" Id="Raaa228d741ca4b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681b3fe96b4a5c" /><Relationship Type="http://schemas.openxmlformats.org/officeDocument/2006/relationships/notesSlide" Target="/ppt/notesSlides/notesSlide19.xml" Id="R6fa19a41fdad460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e8735ba81b4616" /><Relationship Type="http://schemas.openxmlformats.org/officeDocument/2006/relationships/notesSlide" Target="/ppt/notesSlides/notesSlide20.xml" Id="Re0a91fafe1cf4f1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dd2affa4824c2d" /><Relationship Type="http://schemas.openxmlformats.org/officeDocument/2006/relationships/notesSlide" Target="/ppt/notesSlides/notesSlide21.xml" Id="R49ae863c630f4e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E40B8-E455-4960-96EA-998D4DF2B5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f9773edca491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NASUS">
            <a:extLst xmlns:a="http://schemas.openxmlformats.org/drawingml/2006/main">
              <a:ext uri="{FF2B5EF4-FFF2-40B4-BE49-F238E27FC236}">
                <a16:creationId xmlns:a16="http://schemas.microsoft.com/office/drawing/2014/main" id="{F81E738D-366B-4C5C-8DE7-D01F5824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8DCECD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550" b="1">
                <a:solidFill>
                  <a:srgbClr val="8DCECD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550" b="1">
                <a:solidFill>
                  <a:srgbClr val="8DCECD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550" b="1">
                <a:solidFill>
                  <a:srgbClr val="8DCECD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550" b="1">
                <a:solidFill>
                  <a:srgbClr val="8DCECD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550" b="1">
                <a:solidFill>
                  <a:srgbClr val="8DCECD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550" b="1">
                <a:solidFill>
                  <a:srgbClr val="8DCECD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550" b="1">
                <a:solidFill>
                  <a:srgbClr val="8DCECD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550" b="1">
                <a:solidFill>
                  <a:srgbClr val="8DCECD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550" b="1">
                <a:solidFill>
                  <a:srgbClr val="8DCEC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8DCEC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8DCECD"/>
                </a:solidFill>
                <a:latin typeface="Arial Unicode MS"/>
                <a:ea typeface="Arial Unicode MS"/>
                <a:cs typeface="Arial Unicode MS"/>
              </a:rPr>
              <a:t>NASUS</a:t>
            </a:r>
          </a:p>
        </p:txBody>
      </p:sp>
      <p:sp>
        <p:nvSpPr>
          <p:cNvPr id="3" name="一种基于持续演进系统画像的&#10;变更驱动集成验证&#10;与发布准入方法">
            <a:extLst xmlns:a="http://schemas.openxmlformats.org/drawingml/2006/main">
              <a:ext uri="{FF2B5EF4-FFF2-40B4-BE49-F238E27FC236}">
                <a16:creationId xmlns:a16="http://schemas.microsoft.com/office/drawing/2014/main" id="{53730695-F943-480B-90BC-4A385225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524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一种基于持续演进系统画像的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变更驱动集成验证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与发布准入方法</a:t>
            </a:r>
          </a:p>
        </p:txBody>
      </p:sp>
      <p:sp>
        <p:nvSpPr>
          <p:cNvPr id="4" name="专利申请技术方案">
            <a:extLst xmlns:a="http://schemas.openxmlformats.org/drawingml/2006/main">
              <a:ext uri="{FF2B5EF4-FFF2-40B4-BE49-F238E27FC236}">
                <a16:creationId xmlns:a16="http://schemas.microsoft.com/office/drawing/2014/main" id="{5B4127CC-C8C1-41A3-BAD3-512B9D15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专利申请技术方案</a:t>
            </a:r>
          </a:p>
        </p:txBody>
      </p:sp>
      <p:sp>
        <p:nvSpPr>
          <p:cNvPr id="5" name="内部 Idea 评审版   2026年10月27日">
            <a:extLst xmlns:a="http://schemas.openxmlformats.org/drawingml/2006/main">
              <a:ext uri="{FF2B5EF4-FFF2-40B4-BE49-F238E27FC236}">
                <a16:creationId xmlns:a16="http://schemas.microsoft.com/office/drawing/2014/main" id="{1A3F02EC-4D5D-4F59-9592-90AC95FF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BC0C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650" b="0">
                <a:solidFill>
                  <a:srgbClr val="ABC0C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650" b="0">
                <a:solidFill>
                  <a:srgbClr val="ABC0C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650" b="0">
                <a:solidFill>
                  <a:srgbClr val="ABC0C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650" b="0">
                <a:solidFill>
                  <a:srgbClr val="ABC0C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650" b="0">
                <a:solidFill>
                  <a:srgbClr val="ABC0C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650" b="0">
                <a:solidFill>
                  <a:srgbClr val="ABC0C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650" b="0">
                <a:solidFill>
                  <a:srgbClr val="ABC0C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650" b="0">
                <a:solidFill>
                  <a:srgbClr val="ABC0C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650" b="0">
                <a:solidFill>
                  <a:srgbClr val="ABC0C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ABC0C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ABC0CE"/>
                </a:solidFill>
                <a:latin typeface="Arial Unicode MS"/>
                <a:ea typeface="Arial Unicode MS"/>
                <a:cs typeface="Arial Unicode MS"/>
              </a:rPr>
              <a:t>内部 Idea 评审版   2026年10月27日</a:t>
            </a:r>
          </a:p>
        </p:txBody>
      </p:sp>
    </p:spTree>
    <p:extLst>
      <p:ext uri="{BB962C8B-B14F-4D97-AF65-F5344CB8AC3E}">
        <p14:creationId xmlns:p14="http://schemas.microsoft.com/office/powerpoint/2010/main" val="231679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核心发明思路">
            <a:extLst xmlns:a="http://schemas.openxmlformats.org/drawingml/2006/main">
              <a:ext uri="{FF2B5EF4-FFF2-40B4-BE49-F238E27FC236}">
                <a16:creationId xmlns:a16="http://schemas.microsoft.com/office/drawing/2014/main" id="{6BDBDB7B-B828-4376-9496-96FB7772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核心发明思路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B6115F8B-6F64-4C94-9318-B83DD1BE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滚动画像指导每轮集成验证，&#10;目标构建的有效证据决定发布准入。">
            <a:extLst xmlns:a="http://schemas.openxmlformats.org/drawingml/2006/main">
              <a:ext uri="{FF2B5EF4-FFF2-40B4-BE49-F238E27FC236}">
                <a16:creationId xmlns:a16="http://schemas.microsoft.com/office/drawing/2014/main" id="{1F9A5BD1-B5A8-4330-AB89-489282A2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滚动画像指导每轮集成验证，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目标构建的有效证据决定发布准入。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4ED2BBB8-32B2-4C8D-ADA3-8B74E56F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5" name="画像保持当前可用">
            <a:extLst xmlns:a="http://schemas.openxmlformats.org/drawingml/2006/main">
              <a:ext uri="{FF2B5EF4-FFF2-40B4-BE49-F238E27FC236}">
                <a16:creationId xmlns:a16="http://schemas.microsoft.com/office/drawing/2014/main" id="{9F418B0A-B3FD-4B96-98CB-8D74CDF1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623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画像保持当前可用</a:t>
            </a:r>
          </a:p>
        </p:txBody>
      </p:sp>
      <p:sp>
        <p:nvSpPr>
          <p:cNvPr id="6" name="固定来源修订，跟踪命中证据及查询范围，识别变化造成的依据失效">
            <a:extLst xmlns:a="http://schemas.openxmlformats.org/drawingml/2006/main">
              <a:ext uri="{FF2B5EF4-FFF2-40B4-BE49-F238E27FC236}">
                <a16:creationId xmlns:a16="http://schemas.microsoft.com/office/drawing/2014/main" id="{E09A34D1-C753-4A19-99DD-B24A855C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00450"/>
            <a:ext cx="1009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固定来源修订，跟踪命中证据及查询范围，识别变化造成的依据失效。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298D139A-390C-4893-843F-F00300D3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验证义务完整保留">
            <a:extLst xmlns:a="http://schemas.openxmlformats.org/drawingml/2006/main">
              <a:ext uri="{FF2B5EF4-FFF2-40B4-BE49-F238E27FC236}">
                <a16:creationId xmlns:a16="http://schemas.microsoft.com/office/drawing/2014/main" id="{7ADE5B31-48D4-4220-9A8A-E1A84C18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76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验证义务完整保留</a:t>
            </a:r>
          </a:p>
        </p:txBody>
      </p:sp>
      <p:sp>
        <p:nvSpPr>
          <p:cNvPr id="9" name="按本轮变更和独立验收规范确定必验集合，缺失资产或证据形成明确">
            <a:extLst xmlns:a="http://schemas.openxmlformats.org/drawingml/2006/main">
              <a:ext uri="{FF2B5EF4-FFF2-40B4-BE49-F238E27FC236}">
                <a16:creationId xmlns:a16="http://schemas.microsoft.com/office/drawing/2014/main" id="{690097B7-C3FD-420D-ABA0-E00A8051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14850"/>
            <a:ext cx="1009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按本轮变更和独立验收规范确定必验集合，缺失资产或证据形成明确缺口。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A98B7143-5A16-4FB1-A258-CA4D8B7D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1" name="准入结果绑定目标">
            <a:extLst xmlns:a="http://schemas.openxmlformats.org/drawingml/2006/main">
              <a:ext uri="{FF2B5EF4-FFF2-40B4-BE49-F238E27FC236}">
                <a16:creationId xmlns:a16="http://schemas.microsoft.com/office/drawing/2014/main" id="{8A9C872F-C294-49CE-9D60-3903CC70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911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准入结果绑定目标</a:t>
            </a:r>
          </a:p>
        </p:txBody>
      </p:sp>
      <p:sp>
        <p:nvSpPr>
          <p:cNvPr id="12" name="逐项核验目标构建、环境和执行批次，依据适用证据计算当前满足状">
            <a:extLst xmlns:a="http://schemas.openxmlformats.org/drawingml/2006/main">
              <a:ext uri="{FF2B5EF4-FFF2-40B4-BE49-F238E27FC236}">
                <a16:creationId xmlns:a16="http://schemas.microsoft.com/office/drawing/2014/main" id="{5C4CC146-3B57-4DBD-B402-DC1419C0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29250"/>
            <a:ext cx="1009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逐项核验目标构建、环境和执行批次，依据适用证据计算当前满足状态。</a:t>
            </a:r>
          </a:p>
        </p:txBody>
      </p:sp>
    </p:spTree>
    <p:extLst>
      <p:ext uri="{BB962C8B-B14F-4D97-AF65-F5344CB8AC3E}">
        <p14:creationId xmlns:p14="http://schemas.microsoft.com/office/powerpoint/2010/main" val="3297649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业务背景与技术问题">
            <a:extLst xmlns:a="http://schemas.openxmlformats.org/drawingml/2006/main">
              <a:ext uri="{FF2B5EF4-FFF2-40B4-BE49-F238E27FC236}">
                <a16:creationId xmlns:a16="http://schemas.microsoft.com/office/drawing/2014/main" id="{A2CFC30A-0209-4D52-B82B-B2F0A933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业务背景与技术问题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E3638AAB-80C4-4793-BEBF-1959953D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AI Coding 提高变更频率，跨模块认知、集成验证和上线">
            <a:extLst xmlns:a="http://schemas.openxmlformats.org/drawingml/2006/main">
              <a:ext uri="{FF2B5EF4-FFF2-40B4-BE49-F238E27FC236}">
                <a16:creationId xmlns:a16="http://schemas.microsoft.com/office/drawing/2014/main" id="{4F114BBE-9B15-48EE-8CB3-88CAF0B3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AI Coding 提高变更频率，跨模块认知、集成验证和上线判断需要同步更新。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9D182-92EF-423A-98DE-937FA36AC484}"/>
              </a:ext>
            </a:extLst>
          </p:cNvPr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114800"/>
                <a:gridCol w="4000500"/>
              </a:tblGrid>
              <a:tr h="4953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场景变化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技术问题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直接后果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</a:tr>
              <a:tr h="8382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代码、需求连续演进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历史关系与判断依据失效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旧画像继续指导新版本测试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新增文件和异步链路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只追踪已有命中或调用关系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跨模块影响与空召回遗漏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8382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测试生成受预算限制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检索截取或去重丢失约束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必验条件缺失却显示高覆盖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多构建并行验证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脚本复用与旧通过结论混用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错误证据支撑新版本放行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5" name="目标是在持续变更下减少重复分析，同时保持必验范围与准入证据的">
            <a:extLst xmlns:a="http://schemas.openxmlformats.org/drawingml/2006/main">
              <a:ext uri="{FF2B5EF4-FFF2-40B4-BE49-F238E27FC236}">
                <a16:creationId xmlns:a16="http://schemas.microsoft.com/office/drawing/2014/main" id="{6C6797B8-1EB6-4145-A23F-9D2D201D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目标是在持续变更下减少重复分析，同时保持必验范围与准入证据的可核对性。</a:t>
            </a:r>
          </a:p>
        </p:txBody>
      </p:sp>
    </p:spTree>
    <p:extLst>
      <p:ext uri="{BB962C8B-B14F-4D97-AF65-F5344CB8AC3E}">
        <p14:creationId xmlns:p14="http://schemas.microsoft.com/office/powerpoint/2010/main" val="1919179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现有技术已覆盖滚动建图与影响选测">
            <a:extLst xmlns:a="http://schemas.openxmlformats.org/drawingml/2006/main">
              <a:ext uri="{FF2B5EF4-FFF2-40B4-BE49-F238E27FC236}">
                <a16:creationId xmlns:a16="http://schemas.microsoft.com/office/drawing/2014/main" id="{988A60E5-A889-44C2-A4E4-F9CA4951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现有技术已覆盖滚动建图与影响选测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8FA64A6D-A4F7-4193-AFA5-F430E7D9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449B3-95A0-42FC-A5ED-63CD0A6F7AD4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4953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公开方案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已披露的技术链路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</a:tr>
              <a:tr h="9334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CN121935166A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2026-04-28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多源动态知识图谱、增量影响分析、用例生成、执行反馈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CN121833513A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2026-04-10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根据变更更新业务图谱，推导场景和验证条件并自动执行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9334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US20260072811A1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2026-03-12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代码差异与依赖图结合，按历史覆盖选择回归子集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CN121455447A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2026-02-03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版本化知识基线、图谱差分、依赖传播与测试清单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广义闭环已有公开基础，保护主题需要体现具体数据约束和状态转换">
            <a:extLst xmlns:a="http://schemas.openxmlformats.org/drawingml/2006/main">
              <a:ext uri="{FF2B5EF4-FFF2-40B4-BE49-F238E27FC236}">
                <a16:creationId xmlns:a16="http://schemas.microsoft.com/office/drawing/2014/main" id="{22FFC604-D6DE-41DC-B040-7C99A593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广义闭环已有公开基础，保护主题需要体现具体数据约束和状态转换。</a:t>
            </a:r>
          </a:p>
        </p:txBody>
      </p:sp>
    </p:spTree>
    <p:extLst>
      <p:ext uri="{BB962C8B-B14F-4D97-AF65-F5344CB8AC3E}">
        <p14:creationId xmlns:p14="http://schemas.microsoft.com/office/powerpoint/2010/main" val="15491636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核心技术差异落在三项机制的联动">
            <a:extLst xmlns:a="http://schemas.openxmlformats.org/drawingml/2006/main">
              <a:ext uri="{FF2B5EF4-FFF2-40B4-BE49-F238E27FC236}">
                <a16:creationId xmlns:a16="http://schemas.microsoft.com/office/drawing/2014/main" id="{C4630C95-F72A-4E4E-B95C-DCE0075D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核心技术差异落在三项机制的联动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6F57AAA1-60D8-4CE1-B967-AD122409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E90593ED-7AE2-476D-9BF0-8203F1AF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查询范围依赖参与失效">
            <a:extLst xmlns:a="http://schemas.openxmlformats.org/drawingml/2006/main">
              <a:ext uri="{FF2B5EF4-FFF2-40B4-BE49-F238E27FC236}">
                <a16:creationId xmlns:a16="http://schemas.microsoft.com/office/drawing/2014/main" id="{26E3C980-8E9B-48C4-BAAC-A1740BB0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621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查询范围依赖参与失效</a:t>
            </a:r>
          </a:p>
        </p:txBody>
      </p:sp>
      <p:sp>
        <p:nvSpPr>
          <p:cNvPr id="5" name="命中与空查询都登记来源范围依赖。范围内新增资料或修订变化可触">
            <a:extLst xmlns:a="http://schemas.openxmlformats.org/drawingml/2006/main">
              <a:ext uri="{FF2B5EF4-FFF2-40B4-BE49-F238E27FC236}">
                <a16:creationId xmlns:a16="http://schemas.microsoft.com/office/drawing/2014/main" id="{2CB3034C-908C-4369-8BDF-4043E03D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命中与空查询都登记来源范围依赖。范围内新增资料或修订变化可触发重评估。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DFCDC9B2-C16B-4B09-8723-9F14248D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7" name="失效不静默删除仍适用的义务">
            <a:extLst xmlns:a="http://schemas.openxmlformats.org/drawingml/2006/main">
              <a:ext uri="{FF2B5EF4-FFF2-40B4-BE49-F238E27FC236}">
                <a16:creationId xmlns:a16="http://schemas.microsoft.com/office/drawing/2014/main" id="{A1B27E2A-5D9B-4050-8659-1B66813E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432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失效不静默删除仍适用的义务</a:t>
            </a:r>
          </a:p>
        </p:txBody>
      </p:sp>
      <p:sp>
        <p:nvSpPr>
          <p:cNvPr id="8" name="重算当前满足状态。有效证据未完整满足固定判据时保留补验缺口，">
            <a:extLst xmlns:a="http://schemas.openxmlformats.org/drawingml/2006/main">
              <a:ext uri="{FF2B5EF4-FFF2-40B4-BE49-F238E27FC236}">
                <a16:creationId xmlns:a16="http://schemas.microsoft.com/office/drawing/2014/main" id="{B4DC2A22-301A-462E-8DC6-E67AF64E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81375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重算当前满足状态。有效证据未完整满足固定判据时保留补验缺口，必验分母保持不变。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1669EA47-F2FD-4476-B819-B1C06731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0" name="满足状态依据目标证据恢复">
            <a:extLst xmlns:a="http://schemas.openxmlformats.org/drawingml/2006/main">
              <a:ext uri="{FF2B5EF4-FFF2-40B4-BE49-F238E27FC236}">
                <a16:creationId xmlns:a16="http://schemas.microsoft.com/office/drawing/2014/main" id="{D5A06494-A413-4758-9D10-9E88D534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243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满足状态依据目标证据恢复</a:t>
            </a:r>
          </a:p>
        </p:txBody>
      </p:sp>
      <p:sp>
        <p:nvSpPr>
          <p:cNvPr id="11" name="对固定判据核验目标构建及执行批次的证据，关闭对应缺口，历史内">
            <a:extLst xmlns:a="http://schemas.openxmlformats.org/drawingml/2006/main">
              <a:ext uri="{FF2B5EF4-FFF2-40B4-BE49-F238E27FC236}">
                <a16:creationId xmlns:a16="http://schemas.microsoft.com/office/drawing/2014/main" id="{B12B2BF2-D474-40E3-98CA-78A86257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625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对固定判据核验目标构建及执行批次的证据，关闭对应缺口，历史内容保持不变。</a:t>
            </a:r>
          </a:p>
        </p:txBody>
      </p:sp>
      <p:sp>
        <p:nvSpPr>
          <p:cNvPr id="12" name="这是待论证的保护组合，尚不能据此认定新颖性、创造性或可授权性">
            <a:extLst xmlns:a="http://schemas.openxmlformats.org/drawingml/2006/main">
              <a:ext uri="{FF2B5EF4-FFF2-40B4-BE49-F238E27FC236}">
                <a16:creationId xmlns:a16="http://schemas.microsoft.com/office/drawing/2014/main" id="{9DC4372F-5296-4A18-BCF9-91CCA89F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这是待论证的保护组合，尚不能据此认定新颖性、创造性或可授权性。</a:t>
            </a:r>
          </a:p>
        </p:txBody>
      </p:sp>
    </p:spTree>
    <p:extLst>
      <p:ext uri="{BB962C8B-B14F-4D97-AF65-F5344CB8AC3E}">
        <p14:creationId xmlns:p14="http://schemas.microsoft.com/office/powerpoint/2010/main" val="940970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总体方案：八步形成持续验证闭环">
            <a:extLst xmlns:a="http://schemas.openxmlformats.org/drawingml/2006/main">
              <a:ext uri="{FF2B5EF4-FFF2-40B4-BE49-F238E27FC236}">
                <a16:creationId xmlns:a16="http://schemas.microsoft.com/office/drawing/2014/main" id="{502C46B4-78B1-4532-B7F3-05722591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总体方案：八步形成持续验证闭环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357091C0-DC17-436C-BD66-DA70DB3B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EBFE9-AB84-4EC8-9092-FF9AFF8C61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3b71de5e14ca1"/>
          <a:stretch xmlns:a="http://schemas.openxmlformats.org/drawingml/2006/main"/>
        </p:blipFill>
        <p:spPr>
          <a:xfrm xmlns:a="http://schemas.openxmlformats.org/drawingml/2006/main">
            <a:off x="609600" y="1364456"/>
            <a:ext cx="7715250" cy="5014913"/>
          </a:xfrm>
          <a:prstGeom xmlns:a="http://schemas.openxmlformats.org/drawingml/2006/main" prst="rect">
            <a:avLst/>
          </a:prstGeom>
        </p:spPr>
      </p:pic>
      <p:sp>
        <p:nvSpPr>
          <p:cNvPr id="4" name="画像层">
            <a:extLst xmlns:a="http://schemas.openxmlformats.org/drawingml/2006/main">
              <a:ext uri="{FF2B5EF4-FFF2-40B4-BE49-F238E27FC236}">
                <a16:creationId xmlns:a16="http://schemas.microsoft.com/office/drawing/2014/main" id="{2AAFB30D-BF24-47A7-A9FB-DE3BA31A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62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画像层</a:t>
            </a:r>
          </a:p>
        </p:txBody>
      </p:sp>
      <p:sp>
        <p:nvSpPr>
          <p:cNvPr id="5" name="固定基线、双修订差异&#10;影响传播与当前失效">
            <a:extLst xmlns:a="http://schemas.openxmlformats.org/drawingml/2006/main">
              <a:ext uri="{FF2B5EF4-FFF2-40B4-BE49-F238E27FC236}">
                <a16:creationId xmlns:a16="http://schemas.microsoft.com/office/drawing/2014/main" id="{9BFA090D-6A49-4576-ABE8-8146B197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28825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固定基线、双修订差异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影响传播与当前失效</a:t>
            </a:r>
          </a:p>
        </p:txBody>
      </p:sp>
      <p:sp>
        <p:nvSpPr>
          <p:cNvPr id="6" name="验证层">
            <a:extLst xmlns:a="http://schemas.openxmlformats.org/drawingml/2006/main">
              <a:ext uri="{FF2B5EF4-FFF2-40B4-BE49-F238E27FC236}">
                <a16:creationId xmlns:a16="http://schemas.microsoft.com/office/drawing/2014/main" id="{868F583D-7A1F-4F0E-8CFE-F378BC4A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1337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验证层</a:t>
            </a:r>
          </a:p>
        </p:txBody>
      </p:sp>
      <p:sp>
        <p:nvSpPr>
          <p:cNvPr id="7" name="确定本轮必验集合&#10;复用资产并补充生成">
            <a:extLst xmlns:a="http://schemas.openxmlformats.org/drawingml/2006/main">
              <a:ext uri="{FF2B5EF4-FFF2-40B4-BE49-F238E27FC236}">
                <a16:creationId xmlns:a16="http://schemas.microsoft.com/office/drawing/2014/main" id="{C432502C-4974-4121-9C5C-63F243BA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004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确定本轮必验集合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复用资产并补充生成</a:t>
            </a:r>
          </a:p>
        </p:txBody>
      </p:sp>
      <p:sp>
        <p:nvSpPr>
          <p:cNvPr id="8" name="准入与回流">
            <a:extLst xmlns:a="http://schemas.openxmlformats.org/drawingml/2006/main">
              <a:ext uri="{FF2B5EF4-FFF2-40B4-BE49-F238E27FC236}">
                <a16:creationId xmlns:a16="http://schemas.microsoft.com/office/drawing/2014/main" id="{6CB6206B-5AF8-4DFB-9DC8-578DAFD7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6958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准入与回流</a:t>
            </a:r>
          </a:p>
        </p:txBody>
      </p:sp>
      <p:sp>
        <p:nvSpPr>
          <p:cNvPr id="9" name="固定计划执行与取证&#10;准入判断、治理后回流">
            <a:extLst xmlns:a="http://schemas.openxmlformats.org/drawingml/2006/main">
              <a:ext uri="{FF2B5EF4-FFF2-40B4-BE49-F238E27FC236}">
                <a16:creationId xmlns:a16="http://schemas.microsoft.com/office/drawing/2014/main" id="{44293328-9B83-4848-B5EB-7CC5D94E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1625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固定计划执行与取证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准入判断、治理后回流</a:t>
            </a:r>
          </a:p>
        </p:txBody>
      </p:sp>
    </p:spTree>
    <p:extLst>
      <p:ext uri="{BB962C8B-B14F-4D97-AF65-F5344CB8AC3E}">
        <p14:creationId xmlns:p14="http://schemas.microsoft.com/office/powerpoint/2010/main" val="452535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八组核心对象固定版本与状态">
            <a:extLst xmlns:a="http://schemas.openxmlformats.org/drawingml/2006/main">
              <a:ext uri="{FF2B5EF4-FFF2-40B4-BE49-F238E27FC236}">
                <a16:creationId xmlns:a16="http://schemas.microsoft.com/office/drawing/2014/main" id="{BB787BC4-A6A8-4E58-B82A-F41E10B1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八组核心对象固定版本与状态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9EDA4891-8AEE-4A14-B82D-5520A742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671E1-AA77-40F7-9157-3F9F3A805BC8}"/>
              </a:ext>
            </a:extLst>
          </p:cNvPr>
          <p:cNvGraphicFramePr/>
          <p:nvPr/>
        </p:nvGraphicFramePr>
        <p:xfrm>
          <a:off xmlns:a="http://schemas.openxmlformats.org/drawingml/2006/main" x="609600" y="1314450"/>
          <a:ext xmlns:a="http://schemas.openxmlformats.org/drawingml/2006/main" cx="109728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3100"/>
                <a:gridCol w="5334000"/>
                <a:gridCol w="3695700"/>
              </a:tblGrid>
              <a:tr h="466725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对象组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决定性字段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作用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</a:tr>
              <a:tr h="542925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来源与画像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binding / revision / inventory / image_id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固定来源范围与不可变画像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变化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base / target / delta / unresolved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区分真实变化与观察缺失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542925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影响与失效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hit_refs / query_scope / image_status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确定派生依据的当前适用性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验收与义务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approval_rev / oracle / row_id / O_digest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保留独立预期和本轮必验分母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542925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验证资产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case_rev / script_rev / row_mapping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复用资产并记录未满足项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执行计划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image / O / build / env / fixture / batch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固定本轮执行的完整目标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542925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执行证据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case / step / oracle / claim / outcome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区分原始观察、未知与有效通过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准入与反馈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evidence_refs / recheck / decision_rev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绑定判断依据与后续治理记录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字段为统一方案表达，当前代码中的对象命名和完整贯通程度见实现">
            <a:extLst xmlns:a="http://schemas.openxmlformats.org/drawingml/2006/main">
              <a:ext uri="{FF2B5EF4-FFF2-40B4-BE49-F238E27FC236}">
                <a16:creationId xmlns:a16="http://schemas.microsoft.com/office/drawing/2014/main" id="{D0C8F1B8-26F0-4B43-A1E1-442F9AFB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字段为统一方案表达，当前代码中的对象命名和完整贯通程度见实现状态。</a:t>
            </a:r>
          </a:p>
        </p:txBody>
      </p:sp>
    </p:spTree>
    <p:extLst>
      <p:ext uri="{BB962C8B-B14F-4D97-AF65-F5344CB8AC3E}">
        <p14:creationId xmlns:p14="http://schemas.microsoft.com/office/powerpoint/2010/main" val="5671697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算法一：变化识别与派生依据失效">
            <a:extLst xmlns:a="http://schemas.openxmlformats.org/drawingml/2006/main">
              <a:ext uri="{FF2B5EF4-FFF2-40B4-BE49-F238E27FC236}">
                <a16:creationId xmlns:a16="http://schemas.microsoft.com/office/drawing/2014/main" id="{34AD3EC5-B628-4197-A0DE-8B302B45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算法一：变化识别与派生依据失效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B514F64D-B98A-44BE-BC46-74909CE9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81E40-5DC0-4418-975C-1F11DE508098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4076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4953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判断条件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处理规则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</a:tr>
              <a:tr h="8953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同来源绑定、可比较的双修订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比较固定成员与修订，输出新增、移除、变化及未决项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采集范围完整且可比较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才把缺失认定为真实删除，否则记录未观察到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8953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命中证据或查询范围发生变化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重评估依赖该范围的派生依据，空召回也保留依赖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依赖不明或分析超过边界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保守扩大失效范围或阻断，历史内容继续保留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当前算法采用有界分析和保守失效，尚未实现全项目精确影响分析。">
            <a:extLst xmlns:a="http://schemas.openxmlformats.org/drawingml/2006/main">
              <a:ext uri="{FF2B5EF4-FFF2-40B4-BE49-F238E27FC236}">
                <a16:creationId xmlns:a16="http://schemas.microsoft.com/office/drawing/2014/main" id="{BB03A2B3-655E-40DF-9D1B-02C9D3BE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当前算法采用有界分析和保守失效，尚未实现全项目精确影响分析。</a:t>
            </a:r>
          </a:p>
        </p:txBody>
      </p:sp>
    </p:spTree>
    <p:extLst>
      <p:ext uri="{BB962C8B-B14F-4D97-AF65-F5344CB8AC3E}">
        <p14:creationId xmlns:p14="http://schemas.microsoft.com/office/powerpoint/2010/main" val="8195090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法二：编译本轮完整验证义务">
            <a:extLst xmlns:a="http://schemas.openxmlformats.org/drawingml/2006/main">
              <a:ext uri="{FF2B5EF4-FFF2-40B4-BE49-F238E27FC236}">
                <a16:creationId xmlns:a16="http://schemas.microsoft.com/office/drawing/2014/main" id="{AEE168FD-4F7A-438A-9CDF-21AE756D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算法二：编译本轮完整验证义务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68B02813-4399-4CC9-AA44-53EB036C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O = 新增行为 + 直接影响 + 风险政策间接影响 + 历">
            <a:extLst xmlns:a="http://schemas.openxmlformats.org/drawingml/2006/main">
              <a:ext uri="{FF2B5EF4-FFF2-40B4-BE49-F238E27FC236}">
                <a16:creationId xmlns:a16="http://schemas.microsoft.com/office/drawing/2014/main" id="{7A3E26DB-6B40-4651-91FE-8DA6C880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O = 新增行为 + 直接影响 + 风险政策间接影响 + 历史故障保护项 + 全局规则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1AC26BFD-E133-4BEA-AA5A-A700EA85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5" name="逐项绑定独立验收判据">
            <a:extLst xmlns:a="http://schemas.openxmlformats.org/drawingml/2006/main">
              <a:ext uri="{FF2B5EF4-FFF2-40B4-BE49-F238E27FC236}">
                <a16:creationId xmlns:a16="http://schemas.microsoft.com/office/drawing/2014/main" id="{CF4C6422-FEDB-40A9-9555-22D9B462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098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逐项绑定独立验收判据</a:t>
            </a:r>
          </a:p>
        </p:txBody>
      </p:sp>
      <p:sp>
        <p:nvSpPr>
          <p:cNvPr id="6" name="前置条件、操作、观察对象、预期结果及批准修订共同确定稳定义务">
            <a:extLst xmlns:a="http://schemas.openxmlformats.org/drawingml/2006/main">
              <a:ext uri="{FF2B5EF4-FFF2-40B4-BE49-F238E27FC236}">
                <a16:creationId xmlns:a16="http://schemas.microsoft.com/office/drawing/2014/main" id="{FE435E49-54C6-4002-95B1-3B7A8286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48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前置条件、操作、观察对象、预期结果及批准修订共同确定稳定义务身份。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E4410D1B-6721-42A0-B1B8-8D12984E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保留适用义务与明确缺口">
            <a:extLst xmlns:a="http://schemas.openxmlformats.org/drawingml/2006/main">
              <a:ext uri="{FF2B5EF4-FFF2-40B4-BE49-F238E27FC236}">
                <a16:creationId xmlns:a16="http://schemas.microsoft.com/office/drawing/2014/main" id="{22A410A6-6710-47CE-BB30-84F46A98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052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保留适用义务与明确缺口</a:t>
            </a:r>
          </a:p>
        </p:txBody>
      </p:sp>
      <p:sp>
        <p:nvSpPr>
          <p:cNvPr id="9" name="依赖不足先扩大范围或阻断。复用可用资产，对没有资产的义务补充">
            <a:extLst xmlns:a="http://schemas.openxmlformats.org/drawingml/2006/main">
              <a:ext uri="{FF2B5EF4-FFF2-40B4-BE49-F238E27FC236}">
                <a16:creationId xmlns:a16="http://schemas.microsoft.com/office/drawing/2014/main" id="{612D60A3-9FDD-40E0-AE10-BFC0AEAB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43375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依赖不足先扩大范围或阻断。复用可用资产，对没有资产的义务补充生成。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41256896-AAA2-48D5-A5E2-D7D9E391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1" name="完整分包后再加入可选材料">
            <a:extLst xmlns:a="http://schemas.openxmlformats.org/drawingml/2006/main">
              <a:ext uri="{FF2B5EF4-FFF2-40B4-BE49-F238E27FC236}">
                <a16:creationId xmlns:a16="http://schemas.microsoft.com/office/drawing/2014/main" id="{59ECD204-95C8-4817-A6BA-7E45FDB3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006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完整分包后再加入可选材料</a:t>
            </a:r>
          </a:p>
        </p:txBody>
      </p:sp>
      <p:sp>
        <p:nvSpPr>
          <p:cNvPr id="12" name="每条验收条件完整进入子包，每包继承全局规则。强制内容装不下则">
            <a:extLst xmlns:a="http://schemas.openxmlformats.org/drawingml/2006/main">
              <a:ext uri="{FF2B5EF4-FFF2-40B4-BE49-F238E27FC236}">
                <a16:creationId xmlns:a16="http://schemas.microsoft.com/office/drawing/2014/main" id="{8F7928A5-4796-49F4-8828-6C73BB96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387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每条验收条件完整进入子包，每包继承全局规则。强制内容装不下则阻断。</a:t>
            </a:r>
          </a:p>
        </p:txBody>
      </p:sp>
      <p:sp>
        <p:nvSpPr>
          <p:cNvPr id="13" name="O 是本轮确定的必验集合。需求新修订可改变 O，预算或证据缺">
            <a:extLst xmlns:a="http://schemas.openxmlformats.org/drawingml/2006/main">
              <a:ext uri="{FF2B5EF4-FFF2-40B4-BE49-F238E27FC236}">
                <a16:creationId xmlns:a16="http://schemas.microsoft.com/office/drawing/2014/main" id="{4DEE3261-CE29-4527-ACB9-C8EC44A8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O 是本轮确定的必验集合。需求新修订可改变 O，预算或证据缺失不能静默删减 O。</a:t>
            </a:r>
          </a:p>
        </p:txBody>
      </p:sp>
    </p:spTree>
    <p:extLst>
      <p:ext uri="{BB962C8B-B14F-4D97-AF65-F5344CB8AC3E}">
        <p14:creationId xmlns:p14="http://schemas.microsoft.com/office/powerpoint/2010/main" val="4716928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生成结果按固定义务逐项核对">
            <a:extLst xmlns:a="http://schemas.openxmlformats.org/drawingml/2006/main">
              <a:ext uri="{FF2B5EF4-FFF2-40B4-BE49-F238E27FC236}">
                <a16:creationId xmlns:a16="http://schemas.microsoft.com/office/drawing/2014/main" id="{214EBC03-1EDF-4F42-BABF-A4009ED9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生成结果按固定义务逐项核对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AE858D99-C23D-4F25-8AD8-E1DCF1C7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DBB6F-7A1C-441C-95B1-3FFEA72684D6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4953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校验内容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明确处理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</a:tr>
              <a:tr h="8382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判据正文、摘要与批准修订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改写预期或使用过期批准时拒绝接纳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义务、用例、步骤与引用映射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每项义务必须有用例映射或明确缺口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8382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完整条件与全局业务规则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局部子包不能省略必验条件或全局规则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重复用例与无效资产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按义务身份统计覆盖，重复生成不能增加分母或通过数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计划覆盖">
            <a:extLst xmlns:a="http://schemas.openxmlformats.org/drawingml/2006/main">
              <a:ext uri="{FF2B5EF4-FFF2-40B4-BE49-F238E27FC236}">
                <a16:creationId xmlns:a16="http://schemas.microsoft.com/office/drawing/2014/main" id="{2EE89B4E-1A85-4743-8351-D47C76D4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计划覆盖</a:t>
            </a:r>
          </a:p>
        </p:txBody>
      </p:sp>
      <p:sp>
        <p:nvSpPr>
          <p:cNvPr id="5" name="执行观察">
            <a:extLst xmlns:a="http://schemas.openxmlformats.org/drawingml/2006/main">
              <a:ext uri="{FF2B5EF4-FFF2-40B4-BE49-F238E27FC236}">
                <a16:creationId xmlns:a16="http://schemas.microsoft.com/office/drawing/2014/main" id="{269BFADD-FB83-4788-B9BA-84BF6282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007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执行观察</a:t>
            </a:r>
          </a:p>
        </p:txBody>
      </p:sp>
      <p:sp>
        <p:nvSpPr>
          <p:cNvPr id="6" name="有效通过">
            <a:extLst xmlns:a="http://schemas.openxmlformats.org/drawingml/2006/main">
              <a:ext uri="{FF2B5EF4-FFF2-40B4-BE49-F238E27FC236}">
                <a16:creationId xmlns:a16="http://schemas.microsoft.com/office/drawing/2014/main" id="{28EAA26B-70BA-4BCF-A32D-E5702BA4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007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有效通过</a:t>
            </a:r>
          </a:p>
        </p:txBody>
      </p:sp>
      <p:sp>
        <p:nvSpPr>
          <p:cNvPr id="7" name="三类状态分别记录。字段与摘要一致只支持完整性核对，不能自动证">
            <a:extLst xmlns:a="http://schemas.openxmlformats.org/drawingml/2006/main">
              <a:ext uri="{FF2B5EF4-FFF2-40B4-BE49-F238E27FC236}">
                <a16:creationId xmlns:a16="http://schemas.microsoft.com/office/drawing/2014/main" id="{C8190399-FCAC-44CB-A312-83349356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三类状态分别记录。字段与摘要一致只支持完整性核对，不能自动证明业务语义正确。</a:t>
            </a:r>
          </a:p>
        </p:txBody>
      </p:sp>
    </p:spTree>
    <p:extLst>
      <p:ext uri="{BB962C8B-B14F-4D97-AF65-F5344CB8AC3E}">
        <p14:creationId xmlns:p14="http://schemas.microsoft.com/office/powerpoint/2010/main" val="678884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固定 RunPlan 并保留原始执行观察">
            <a:extLst xmlns:a="http://schemas.openxmlformats.org/drawingml/2006/main">
              <a:ext uri="{FF2B5EF4-FFF2-40B4-BE49-F238E27FC236}">
                <a16:creationId xmlns:a16="http://schemas.microsoft.com/office/drawing/2014/main" id="{73E76F67-6F57-4937-A797-54124193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固定 RunPlan 并保留原始执行观察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7B9793F9-2CA9-425B-B9D5-E6DB14F7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B9313-B94F-42C9-8F54-FF91626F3170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4953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绑定对象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执行与证据规则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</a:tr>
              <a:tr h="9334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画像、义务、用例与脚本修订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运行前冻结同一计划，脚本审批与执行授权分别核对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目标构建、环境与测试数据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核对源码及产物摘要、环境实例、隔离数据和受控身份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9334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用例、步骤、判据与执行批次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执行前持久记录 claim，执行后归档原始 outcome 并回读核验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失败、未执行与未知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未派发保持未执行，派发后无可信结果保持未知，不自动重发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复用历史用例和脚本时，仍需取得适用于本轮目标构建的执行证据。">
            <a:extLst xmlns:a="http://schemas.openxmlformats.org/drawingml/2006/main">
              <a:ext uri="{FF2B5EF4-FFF2-40B4-BE49-F238E27FC236}">
                <a16:creationId xmlns:a16="http://schemas.microsoft.com/office/drawing/2014/main" id="{5E79933D-039A-4740-82E3-601AD1A8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复用历史用例和脚本时，仍需取得适用于本轮目标构建的执行证据。</a:t>
            </a:r>
          </a:p>
        </p:txBody>
      </p:sp>
    </p:spTree>
    <p:extLst>
      <p:ext uri="{BB962C8B-B14F-4D97-AF65-F5344CB8AC3E}">
        <p14:creationId xmlns:p14="http://schemas.microsoft.com/office/powerpoint/2010/main" val="2613809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算法三：证据接纳与发布准入">
            <a:extLst xmlns:a="http://schemas.openxmlformats.org/drawingml/2006/main">
              <a:ext uri="{FF2B5EF4-FFF2-40B4-BE49-F238E27FC236}">
                <a16:creationId xmlns:a16="http://schemas.microsoft.com/office/drawing/2014/main" id="{80DC4AFE-3D58-4BEC-8941-9F6D3A38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算法三：证据接纳与发布准入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0AC2ED38-6445-4CA2-A31E-696402CA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40EA02D5-EB8A-474D-8AE5-053BF18C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接纳适用于当前目标的证据">
            <a:extLst xmlns:a="http://schemas.openxmlformats.org/drawingml/2006/main">
              <a:ext uri="{FF2B5EF4-FFF2-40B4-BE49-F238E27FC236}">
                <a16:creationId xmlns:a16="http://schemas.microsoft.com/office/drawing/2014/main" id="{ED06D9C6-3F50-4480-907F-51B6D39B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85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接纳适用于当前目标的证据</a:t>
            </a:r>
          </a:p>
        </p:txBody>
      </p:sp>
      <p:sp>
        <p:nvSpPr>
          <p:cNvPr id="5" name="核验计划、构建、环境、批次、判据和原始归档，拒绝版本不匹配及">
            <a:extLst xmlns:a="http://schemas.openxmlformats.org/drawingml/2006/main">
              <a:ext uri="{FF2B5EF4-FFF2-40B4-BE49-F238E27FC236}">
                <a16:creationId xmlns:a16="http://schemas.microsoft.com/office/drawing/2014/main" id="{E5D92AAE-3C28-4B64-8179-75F060EA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24050"/>
            <a:ext cx="1009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核验计划、构建、环境、批次、判据和原始归档，拒绝版本不匹配及损坏记录。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E638A304-DDBC-4DDE-B9A2-ADCEB744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7" name="按固定 O 计算逐项满足状态">
            <a:extLst xmlns:a="http://schemas.openxmlformats.org/drawingml/2006/main">
              <a:ext uri="{FF2B5EF4-FFF2-40B4-BE49-F238E27FC236}">
                <a16:creationId xmlns:a16="http://schemas.microsoft.com/office/drawing/2014/main" id="{F6740978-667E-4E62-8F91-FDD9BF59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52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按固定 O 计算逐项满足状态</a:t>
            </a:r>
          </a:p>
        </p:txBody>
      </p:sp>
      <p:sp>
        <p:nvSpPr>
          <p:cNvPr id="8" name="本轮必验存在失败、未知或证据缺失时阻断。单项旧依据失效后先核">
            <a:extLst xmlns:a="http://schemas.openxmlformats.org/drawingml/2006/main">
              <a:ext uri="{FF2B5EF4-FFF2-40B4-BE49-F238E27FC236}">
                <a16:creationId xmlns:a16="http://schemas.microsoft.com/office/drawing/2014/main" id="{59DA23D8-E167-4A14-B64F-A16CAE33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90850"/>
            <a:ext cx="1009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本轮必验存在失败、未知或证据缺失时阻断。单项旧依据失效后先核对其他有效支持。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26317FB8-8E24-4AC2-A321-E1DCEA94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0" name="提交前再次核验依赖">
            <a:extLst xmlns:a="http://schemas.openxmlformats.org/drawingml/2006/main">
              <a:ext uri="{FF2B5EF4-FFF2-40B4-BE49-F238E27FC236}">
                <a16:creationId xmlns:a16="http://schemas.microsoft.com/office/drawing/2014/main" id="{00FC9A85-4B0A-4E79-859D-B932574F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195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提交前再次核验依赖</a:t>
            </a:r>
          </a:p>
        </p:txBody>
      </p:sp>
      <p:sp>
        <p:nvSpPr>
          <p:cNvPr id="11" name="检查批准撤回、目标构建变化、画像失效和发布竞争，条件改变则重">
            <a:extLst xmlns:a="http://schemas.openxmlformats.org/drawingml/2006/main">
              <a:ext uri="{FF2B5EF4-FFF2-40B4-BE49-F238E27FC236}">
                <a16:creationId xmlns:a16="http://schemas.microsoft.com/office/drawing/2014/main" id="{82B6860D-5A59-4544-882A-F7B0E586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57650"/>
            <a:ext cx="1009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检查批准撤回、目标构建变化、画像失效和发布竞争，条件改变则重新计算。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EAFE889D-42D6-472F-A51A-70C3271B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3" name="质量通过后再检查操作审批">
            <a:extLst xmlns:a="http://schemas.openxmlformats.org/drawingml/2006/main">
              <a:ext uri="{FF2B5EF4-FFF2-40B4-BE49-F238E27FC236}">
                <a16:creationId xmlns:a16="http://schemas.microsoft.com/office/drawing/2014/main" id="{F763B3E7-DD2A-47A7-A1FC-62F7645F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863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质量通过后再检查操作审批</a:t>
            </a:r>
          </a:p>
        </p:txBody>
      </p:sp>
      <p:sp>
        <p:nvSpPr>
          <p:cNvPr id="14" name="审批不能覆盖关键质量缺口，准入结果保存本次有效证据和复核修订">
            <a:extLst xmlns:a="http://schemas.openxmlformats.org/drawingml/2006/main">
              <a:ext uri="{FF2B5EF4-FFF2-40B4-BE49-F238E27FC236}">
                <a16:creationId xmlns:a16="http://schemas.microsoft.com/office/drawing/2014/main" id="{1A79E9AE-3CE1-4EB2-9786-33F4B1F7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24450"/>
            <a:ext cx="1009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审批不能覆盖关键质量缺口，准入结果保存本次有效证据和复核修订。</a:t>
            </a:r>
          </a:p>
        </p:txBody>
      </p:sp>
      <p:sp>
        <p:nvSpPr>
          <p:cNvPr id="15" name="本页为完整准入设计。现有执行链与逐义务正式覆盖、业务发布门禁">
            <a:extLst xmlns:a="http://schemas.openxmlformats.org/drawingml/2006/main">
              <a:ext uri="{FF2B5EF4-FFF2-40B4-BE49-F238E27FC236}">
                <a16:creationId xmlns:a16="http://schemas.microsoft.com/office/drawing/2014/main" id="{CF53A3CD-B92C-44EB-B5E3-D4298104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本页为完整准入设计。现有执行链与逐义务正式覆盖、业务发布门禁尚未全部贯通。</a:t>
            </a:r>
          </a:p>
        </p:txBody>
      </p:sp>
    </p:spTree>
    <p:extLst>
      <p:ext uri="{BB962C8B-B14F-4D97-AF65-F5344CB8AC3E}">
        <p14:creationId xmlns:p14="http://schemas.microsoft.com/office/powerpoint/2010/main" val="5310244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关键技术难点与处理机制">
            <a:extLst xmlns:a="http://schemas.openxmlformats.org/drawingml/2006/main">
              <a:ext uri="{FF2B5EF4-FFF2-40B4-BE49-F238E27FC236}">
                <a16:creationId xmlns:a16="http://schemas.microsoft.com/office/drawing/2014/main" id="{1F3A1C2D-5117-4C3A-ADDA-93419BE0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关键技术难点与处理机制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1D696734-6DFC-4905-9F5A-022C7D7A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0674B-425C-4B1A-8823-675BC6E84D8D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4953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重难点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处理机制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</a:tr>
              <a:tr h="9906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采集缺失与真实删除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要求完整范围证明，保留 unresolved，不能从成员缺失直接推断文件删除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空召回、新文件与关系修订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保留查询范围依赖，按实体和端点修订核验关联，失效绑定原画像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9906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预算完整性与历史资产复用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先固定 O，再分包和选可选材料，资产适用与证据适用分别判断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异步未知、发布竞争与反馈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明确等待截止和未知状态，提交前重验，经治理后把反馈写入新画像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运行观察进入事实和风险记录，经审阅的规则与资产进入后续画像，">
            <a:extLst xmlns:a="http://schemas.openxmlformats.org/drawingml/2006/main">
              <a:ext uri="{FF2B5EF4-FFF2-40B4-BE49-F238E27FC236}">
                <a16:creationId xmlns:a16="http://schemas.microsoft.com/office/drawing/2014/main" id="{56004B98-600F-491E-A186-F8186144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运行观察进入事实和风险记录，经审阅的规则与资产进入后续画像，独立业务预期保持受控。</a:t>
            </a:r>
          </a:p>
        </p:txBody>
      </p:sp>
    </p:spTree>
    <p:extLst>
      <p:ext uri="{BB962C8B-B14F-4D97-AF65-F5344CB8AC3E}">
        <p14:creationId xmlns:p14="http://schemas.microsoft.com/office/powerpoint/2010/main" val="21159003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当前实现基础与完整目标">
            <a:extLst xmlns:a="http://schemas.openxmlformats.org/drawingml/2006/main">
              <a:ext uri="{FF2B5EF4-FFF2-40B4-BE49-F238E27FC236}">
                <a16:creationId xmlns:a16="http://schemas.microsoft.com/office/drawing/2014/main" id="{B4942858-7254-4CC5-9936-1FDEAE5B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当前实现基础与完整目标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34E3681D-2773-424A-8A42-1A4C0AA8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6F409-327C-4745-B290-3C52CC1DA587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591550"/>
              </a:tblGrid>
              <a:tr h="4953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已有依据与边界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</a:tr>
              <a:tr h="12573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已有组件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双修订比较与保守失效，完整条件分包及义务校验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独立用例审批、脚本审阅、RunPlan 绑定与原始执行观察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部分链路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有界影响分析、公共执行任务与取消恢复、已有发布评估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新执行链尚未提交正式业务覆盖，相关正式计数仍为 0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12573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完整目标设计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全项目自动增量、影响驱动必验编译、逐义务证据核验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业务发布准入与治理反馈组成的完整持续闭环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依据固定实现快照 50e82a9 只读核查。历史验证记录不表">
            <a:extLst xmlns:a="http://schemas.openxmlformats.org/drawingml/2006/main">
              <a:ext uri="{FF2B5EF4-FFF2-40B4-BE49-F238E27FC236}">
                <a16:creationId xmlns:a16="http://schemas.microsoft.com/office/drawing/2014/main" id="{722BFD2A-CD1A-431E-A4AE-612634E8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依据固定实现快照 50e82a9 只读核查。历史验证记录不表述为本轮重跑或端到端通过。</a:t>
            </a:r>
          </a:p>
        </p:txBody>
      </p:sp>
    </p:spTree>
    <p:extLst>
      <p:ext uri="{BB962C8B-B14F-4D97-AF65-F5344CB8AC3E}">
        <p14:creationId xmlns:p14="http://schemas.microsoft.com/office/powerpoint/2010/main" val="3208964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构造实施例一：全额退款扩展为部分退款">
            <a:extLst xmlns:a="http://schemas.openxmlformats.org/drawingml/2006/main">
              <a:ext uri="{FF2B5EF4-FFF2-40B4-BE49-F238E27FC236}">
                <a16:creationId xmlns:a16="http://schemas.microsoft.com/office/drawing/2014/main" id="{F4F9A361-A11E-40FC-9D57-76329D6F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构造实施例一：全额退款扩展为部分退款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ABDB109E-DA3C-4502-A5BC-A3F295E2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3" name="代码 C1、画像 I1、构建 B1、计划 RP1、批次 T1">
            <a:extLst xmlns:a="http://schemas.openxmlformats.org/drawingml/2006/main">
              <a:ext uri="{FF2B5EF4-FFF2-40B4-BE49-F238E27FC236}">
                <a16:creationId xmlns:a16="http://schemas.microsoft.com/office/drawing/2014/main" id="{18AEEF52-6170-4719-B518-31281F5B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75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75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75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75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75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75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75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75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75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代码 C1、画像 I1、构建 B1、计划 RP1、批次 T1。本轮 O1 含 6 项。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A149B-1207-45E4-992F-3DE2EFE8D6C2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782050"/>
              </a:tblGrid>
              <a:tr h="4572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义务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输入与固定预期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</a:tr>
              <a:tr h="6096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R1 正常退款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已支付 100 元，依次退 60 元和 40 元，总额恰为 100 元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R2 额度边界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零、负数及超过剩余额度的请求拒绝，状态和账本无副作用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6096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R3 幂等保护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相同请求键重复提交仅生效一次，金额冲突明确拒绝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R4 权限限制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受控无权身份拒绝访问，不产生退款或账本变化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6096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R5 并发控制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并发两笔 80 元，恰一笔成功退 80 元，另一笔余额不足拒绝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支付与账本总额均为 80 元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R6 账本一致性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订单、支付模拟服务及只读账本核对金额与业务标识一致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5" name="使用隔离订单、支付模拟服务与受控身份。6 项均取得有效证据且">
            <a:extLst xmlns:a="http://schemas.openxmlformats.org/drawingml/2006/main">
              <a:ext uri="{FF2B5EF4-FFF2-40B4-BE49-F238E27FC236}">
                <a16:creationId xmlns:a16="http://schemas.microsoft.com/office/drawing/2014/main" id="{9E887E62-9C3B-41EE-84D2-A26655F8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使用隔离订单、支付模拟服务与受控身份。6 项均取得有效证据且治理满足后进入发布流程。</a:t>
            </a:r>
          </a:p>
        </p:txBody>
      </p:sp>
    </p:spTree>
    <p:extLst>
      <p:ext uri="{BB962C8B-B14F-4D97-AF65-F5344CB8AC3E}">
        <p14:creationId xmlns:p14="http://schemas.microsoft.com/office/powerpoint/2010/main" val="9408598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构造实施例二：异步回调引入重复记账">
            <a:extLst xmlns:a="http://schemas.openxmlformats.org/drawingml/2006/main">
              <a:ext uri="{FF2B5EF4-FFF2-40B4-BE49-F238E27FC236}">
                <a16:creationId xmlns:a16="http://schemas.microsoft.com/office/drawing/2014/main" id="{A69297B0-E861-4073-AD11-44735CE7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构造实施例二：异步回调引入重复记账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F6DB9820-1DAF-4073-97F6-9AAE88E4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3" name="支付退款 60 元">
            <a:extLst xmlns:a="http://schemas.openxmlformats.org/drawingml/2006/main">
              <a:ext uri="{FF2B5EF4-FFF2-40B4-BE49-F238E27FC236}">
                <a16:creationId xmlns:a16="http://schemas.microsoft.com/office/drawing/2014/main" id="{230D2B4B-5E7D-4B79-84FC-027EC5E4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85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85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85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85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85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85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85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85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85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支付退款 60 元</a:t>
            </a:r>
          </a:p>
        </p:txBody>
      </p:sp>
      <p:sp>
        <p:nvSpPr>
          <p:cNvPr id="4" name="账本累计 120 元">
            <a:extLst xmlns:a="http://schemas.openxmlformats.org/drawingml/2006/main">
              <a:ext uri="{FF2B5EF4-FFF2-40B4-BE49-F238E27FC236}">
                <a16:creationId xmlns:a16="http://schemas.microsoft.com/office/drawing/2014/main" id="{38A48478-A377-4E12-A360-C2A7B2A3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430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850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850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850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850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850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850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850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850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850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rPr>
              <a:t>账本累计 120 元</a:t>
            </a:r>
          </a:p>
        </p:txBody>
      </p:sp>
      <p:sp>
        <p:nvSpPr>
          <p:cNvPr id="5" name="重复回调命中固定判据，保留失败并阻断准入。">
            <a:extLst xmlns:a="http://schemas.openxmlformats.org/drawingml/2006/main">
              <a:ext uri="{FF2B5EF4-FFF2-40B4-BE49-F238E27FC236}">
                <a16:creationId xmlns:a16="http://schemas.microsoft.com/office/drawing/2014/main" id="{8C2F1AD3-0320-4C69-8E29-CAF87322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AD3A3A"/>
                </a:solidFill>
                <a:latin typeface="Arial Unicode MS"/>
                <a:ea typeface="Arial Unicode MS"/>
                <a:cs typeface="Arial Unicode MS"/>
              </a:rPr>
              <a:t>重复回调命中固定判据，保留失败并阻断准入。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35222-93DB-484C-91B7-9E575F34CD20}"/>
              </a:ext>
            </a:extLst>
          </p:cNvPr>
          <p:cNvGraphicFramePr/>
          <p:nvPr/>
        </p:nvGraphicFramePr>
        <p:xfrm>
          <a:off xmlns:a="http://schemas.openxmlformats.org/drawingml/2006/main" x="609600" y="2724150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4572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义务与证据变化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</a:tr>
              <a:tr h="9525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 C2 / I2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B2 / RP2 / T2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新增回调文件触发范围重评估，重新判断原六项并增加重复回调、乱序回调，O2 共 8 项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执行发现重复记账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支付 60 元、账本两笔各 60 元。T2 保存失败，其余项按实际证据记录，不能虚构通过数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9525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修复 C2′ / I2′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B2′ / RP2′ / T2′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以新隔离数据和新批次重新验证，8 项全部取得适用证据后才可准入，原历史记录保留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异步等待有明确截止条件，观察不完整记为未知并阻断。B1 历史">
            <a:extLst xmlns:a="http://schemas.openxmlformats.org/drawingml/2006/main">
              <a:ext uri="{FF2B5EF4-FFF2-40B4-BE49-F238E27FC236}">
                <a16:creationId xmlns:a16="http://schemas.microsoft.com/office/drawing/2014/main" id="{B0C884D9-849D-422D-82A6-F5A81D93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异步等待有明确截止条件，观察不完整记为未知并阻断。B1 历史通过不能充当 B2 当前通过。</a:t>
            </a:r>
          </a:p>
        </p:txBody>
      </p:sp>
    </p:spTree>
    <p:extLst>
      <p:ext uri="{BB962C8B-B14F-4D97-AF65-F5344CB8AC3E}">
        <p14:creationId xmlns:p14="http://schemas.microsoft.com/office/powerpoint/2010/main" val="15921420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0 核心技术保护组合">
            <a:extLst xmlns:a="http://schemas.openxmlformats.org/drawingml/2006/main">
              <a:ext uri="{FF2B5EF4-FFF2-40B4-BE49-F238E27FC236}">
                <a16:creationId xmlns:a16="http://schemas.microsoft.com/office/drawing/2014/main" id="{7305C17F-69FA-4987-9107-D323A435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P0 核心技术保护组合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04B55C80-F99C-44D4-8FA3-84814D01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3" name="画像依据失效与必验满足状态关联，&#10;准入结果由目标证据约束。">
            <a:extLst xmlns:a="http://schemas.openxmlformats.org/drawingml/2006/main">
              <a:ext uri="{FF2B5EF4-FFF2-40B4-BE49-F238E27FC236}">
                <a16:creationId xmlns:a16="http://schemas.microsoft.com/office/drawing/2014/main" id="{2648E094-51BA-477D-A18B-F5DAC78C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0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0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0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0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0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0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0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0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0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画像依据失效与必验满足状态关联，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87F89"/>
                </a:solidFill>
                <a:latin typeface="Arial Unicode MS"/>
                <a:ea typeface="Arial Unicode MS"/>
                <a:cs typeface="Arial Unicode MS"/>
              </a:rPr>
              <a:t>准入结果由目标证据约束。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88E1B-F41C-4F66-8EBD-94C5D15E5F34}"/>
              </a:ext>
            </a:extLst>
          </p:cNvPr>
          <p:cNvGraphicFramePr/>
          <p:nvPr/>
        </p:nvGraphicFramePr>
        <p:xfrm>
          <a:off xmlns:a="http://schemas.openxmlformats.org/drawingml/2006/main" x="609600" y="2695575"/>
          <a:ext xmlns:a="http://schemas.openxmlformats.org/drawingml/2006/main" cx="109728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4572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约束关系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具体技术限定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</a:tr>
              <a:tr h="6667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画像修订与派生依据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固定命中证据和查询范围，变化后确定当前适用性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派生依据与本轮义务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仍适用义务保持完整，缺少有效支持形成补验缺口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6667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目标证据与满足状态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按固定判据接纳目标构建证据，逐项核对义务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满足状态与准入结果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必验缺口阻断，提交前重验依赖并绑定判断证据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5" name="对应 S101—S108 的组合约束，保护对象为数据绑定与状">
            <a:extLst xmlns:a="http://schemas.openxmlformats.org/drawingml/2006/main">
              <a:ext uri="{FF2B5EF4-FFF2-40B4-BE49-F238E27FC236}">
                <a16:creationId xmlns:a16="http://schemas.microsoft.com/office/drawing/2014/main" id="{200C613F-503D-44D7-91FC-73FC51BF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对应 S101—S108 的组合约束，保护对象为数据绑定与状态转换的具体处理方法。</a:t>
            </a:r>
          </a:p>
        </p:txBody>
      </p:sp>
    </p:spTree>
    <p:extLst>
      <p:ext uri="{BB962C8B-B14F-4D97-AF65-F5344CB8AC3E}">
        <p14:creationId xmlns:p14="http://schemas.microsoft.com/office/powerpoint/2010/main" val="17301259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1—P4 画像构建与失效范围的保护点">
            <a:extLst xmlns:a="http://schemas.openxmlformats.org/drawingml/2006/main">
              <a:ext uri="{FF2B5EF4-FFF2-40B4-BE49-F238E27FC236}">
                <a16:creationId xmlns:a16="http://schemas.microsoft.com/office/drawing/2014/main" id="{61BE205D-1BC7-4589-BB54-53D7AB5A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P1—P4 画像构建与失效范围的保护点</a:t>
            </a: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B3992600-30CB-4C99-A870-CFFE1AA1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D9797-C2C3-46EC-911A-04AA9A783018}"/>
              </a:ext>
            </a:extLst>
          </p:cNvPr>
          <p:cNvGraphicFramePr/>
          <p:nvPr/>
        </p:nvGraphicFramePr>
        <p:xfrm>
          <a:off xmlns:a="http://schemas.openxmlformats.org/drawingml/2006/main" x="609600" y="1447800"/>
          <a:ext xmlns:a="http://schemas.openxmlformats.org/drawingml/2006/main" cx="10972800" cy="4533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47950"/>
                <a:gridCol w="4762500"/>
                <a:gridCol w="3562350"/>
              </a:tblGrid>
              <a:tr h="4953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保护点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技术限定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作用机制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</a:tr>
              <a:tr h="10096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P1 采集完整性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S102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同来源双修订结合完整采集范围证明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区分真实删除与未观察到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P2 查询范围依赖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S103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保存命中和空召回对应的来源范围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新增资料可触发派生依据重评估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10096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P3 关系修订适用性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S101 / S103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按实体及端点修订处理接受、否定与重审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避免旧关系决定新版本验证范围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P4 原画像当前失效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S103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失效状态绑定画像身份，历史内容单独保留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新上下文或预算参数不能绕过失效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78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5—P8 验证完整性与准入控制的保护点">
            <a:extLst xmlns:a="http://schemas.openxmlformats.org/drawingml/2006/main">
              <a:ext uri="{FF2B5EF4-FFF2-40B4-BE49-F238E27FC236}">
                <a16:creationId xmlns:a16="http://schemas.microsoft.com/office/drawing/2014/main" id="{1FBF3B8E-EC55-4936-8262-1A917612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P5—P8 验证完整性与准入控制的保护点</a:t>
            </a:r>
          </a:p>
        </p:txBody>
      </p:sp>
      <p:sp>
        <p:nvSpPr>
          <p:cNvPr id="2" name="19">
            <a:extLst xmlns:a="http://schemas.openxmlformats.org/drawingml/2006/main">
              <a:ext uri="{FF2B5EF4-FFF2-40B4-BE49-F238E27FC236}">
                <a16:creationId xmlns:a16="http://schemas.microsoft.com/office/drawing/2014/main" id="{9E7B3AF8-E27F-418E-B5F1-135498B2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2DBED-2E18-45F1-99F6-5FDCD829A66E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419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47950"/>
                <a:gridCol w="4762500"/>
                <a:gridCol w="3562350"/>
              </a:tblGrid>
              <a:tr h="4953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保护点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技术限定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作用机制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</a:tr>
              <a:tr h="981075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P5 必验集合保持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S104 / S105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完整条件分包、全局规则继承、逐项用例或缺口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避免预算截断造成遗漏和虚高覆盖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P6 目标证据接纳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S106 / S107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绑定构建、环境、数据和批次，分别记录执行状态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阻止旧证据或未知结果计入当前通过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981075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P7 准入前重验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S107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复核画像、批准和构建修订后条件提交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拦截批准撤回、构建变化及发布竞争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P8 历史与治理反馈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S108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保留历史结论，经治理的资产进入新画像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支持复核，避免观察直接改写预期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保护载体包括方法、实现该方法的系统、电子设备及计算机可读存储">
            <a:extLst xmlns:a="http://schemas.openxmlformats.org/drawingml/2006/main">
              <a:ext uri="{FF2B5EF4-FFF2-40B4-BE49-F238E27FC236}">
                <a16:creationId xmlns:a16="http://schemas.microsoft.com/office/drawing/2014/main" id="{2E042438-F522-47AC-B2BE-3CF4B1F2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保护载体包括方法、实现该方法的系统、电子设备及计算机可读存储介质。</a:t>
            </a:r>
          </a:p>
        </p:txBody>
      </p:sp>
    </p:spTree>
    <p:extLst>
      <p:ext uri="{BB962C8B-B14F-4D97-AF65-F5344CB8AC3E}">
        <p14:creationId xmlns:p14="http://schemas.microsoft.com/office/powerpoint/2010/main" val="4214008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技术效果与业务效果">
            <a:extLst xmlns:a="http://schemas.openxmlformats.org/drawingml/2006/main">
              <a:ext uri="{FF2B5EF4-FFF2-40B4-BE49-F238E27FC236}">
                <a16:creationId xmlns:a16="http://schemas.microsoft.com/office/drawing/2014/main" id="{2D91496A-6A72-4304-BBD2-BFA7B0E1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技术效果与业务效果</a:t>
            </a:r>
          </a:p>
        </p:txBody>
      </p:sp>
      <p:sp>
        <p:nvSpPr>
          <p:cNvPr id="2" name="20">
            <a:extLst xmlns:a="http://schemas.openxmlformats.org/drawingml/2006/main">
              <a:ext uri="{FF2B5EF4-FFF2-40B4-BE49-F238E27FC236}">
                <a16:creationId xmlns:a16="http://schemas.microsoft.com/office/drawing/2014/main" id="{9889E9BE-12DA-4D8A-8F28-5EDE4066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9E9E8-E2D4-4D86-983F-F535B5FB1AB9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048250"/>
                <a:gridCol w="3257550"/>
              </a:tblGrid>
              <a:tr h="4572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原有问题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技术机制与效果表现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评价指标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</a:tr>
              <a:tr h="6477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重复理解与全量重分析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固定画像与依赖复用，聚焦需要重评估的依据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变更至准入耗时，重分析比例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新增资料影响遗漏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查询范围依赖发现空召回和新增文件影响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必验遗漏率，缺陷检出率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6477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生成缺口难以发现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 O、完整分包及显式缺口保持可核对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义务覆盖一致率，遗漏数量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旧结果误用于新版本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目标证据接纳与逐项状态核验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错误证据接纳率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6477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竞态或未知引发放行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提交前重验，失败、未知和缺失阻断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错误准入率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历史结论无法复核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原始依赖与当前适用性分离保存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复核成功率，人工核对耗时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评价同时比较耗时、缺陷检出、遗漏与错误准入。当前没有端到端实">
            <a:extLst xmlns:a="http://schemas.openxmlformats.org/drawingml/2006/main">
              <a:ext uri="{FF2B5EF4-FFF2-40B4-BE49-F238E27FC236}">
                <a16:creationId xmlns:a16="http://schemas.microsoft.com/office/drawing/2014/main" id="{044A3694-16F2-4023-B1DB-1B74E6D7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评价同时比较耗时、缺陷检出、遗漏与错误准入。当前没有端到端实测收益比例。</a:t>
            </a:r>
          </a:p>
        </p:txBody>
      </p:sp>
    </p:spTree>
    <p:extLst>
      <p:ext uri="{BB962C8B-B14F-4D97-AF65-F5344CB8AC3E}">
        <p14:creationId xmlns:p14="http://schemas.microsoft.com/office/powerpoint/2010/main" val="13580852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主要参考资料">
            <a:extLst xmlns:a="http://schemas.openxmlformats.org/drawingml/2006/main">
              <a:ext uri="{FF2B5EF4-FFF2-40B4-BE49-F238E27FC236}">
                <a16:creationId xmlns:a16="http://schemas.microsoft.com/office/drawing/2014/main" id="{EBE8290B-CB0E-43DA-81F5-5D69A6C2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044"/>
                </a:solidFill>
                <a:latin typeface="Arial Unicode MS"/>
                <a:ea typeface="Arial Unicode MS"/>
                <a:cs typeface="Arial Unicode MS"/>
              </a:rPr>
              <a:t>主要参考资料</a:t>
            </a:r>
          </a:p>
        </p:txBody>
      </p:sp>
      <p:sp>
        <p:nvSpPr>
          <p:cNvPr id="2" name="21">
            <a:extLst xmlns:a="http://schemas.openxmlformats.org/drawingml/2006/main">
              <a:ext uri="{FF2B5EF4-FFF2-40B4-BE49-F238E27FC236}">
                <a16:creationId xmlns:a16="http://schemas.microsoft.com/office/drawing/2014/main" id="{C915E6D6-D2BB-4012-9B01-152E3AA9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5A5FB-48CB-4976-BE75-7B402D655C30}"/>
              </a:ext>
            </a:extLst>
          </p:cNvPr>
          <p:cNvGraphicFramePr/>
          <p:nvPr/>
        </p:nvGraphicFramePr>
        <p:xfrm>
          <a:off xmlns:a="http://schemas.openxmlformats.org/drawingml/2006/main" x="609600" y="1409700"/>
          <a:ext xmlns:a="http://schemas.openxmlformats.org/drawingml/2006/main" cx="109728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86375"/>
                <a:gridCol w="5686425"/>
              </a:tblGrid>
              <a:tr h="4572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资料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关联技术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T w="5715">
                      <a:solidFill>
                        <a:srgbClr val="D6E0E5"/>
                      </a:solidFill>
                      <a:prstDash val="solid"/>
                    </a:lnT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183044"/>
                    </a:solidFill>
                  </a:tcPr>
                </a:tc>
              </a:tr>
              <a:tr h="6477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R1  CN121935166A，2026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动态知识图谱、增量影响、用例生成与执行反馈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R2  CN121833513A，2026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变更驱动业务图谱与自动化测试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6477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R3  US20260072811A1，2026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依赖图分析与选择性回归测试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R4  CN121455447A，2026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版本化需求知识、差分与测试清单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6477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R5  Predictive Test Selection，2018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利用历史信息选择测试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R6  in-toto，2019</a:t>
                      </a:r>
                    </a:p>
                  </a:txBody>
                  <a:tcPr marL="133350" marR="133350" marT="76200" marB="57150" anchor="ctr">
                    <a:lnL w="5715">
                      <a:solidFill>
                        <a:srgbClr val="D6E0E5"/>
                      </a:solidFill>
                      <a:prstDash val="solid"/>
                    </a:lnL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 lIns="133350" tIns="76200" rIns="133350" bIns="57150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304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软件供应链步骤与产物证据的完整性验证</a:t>
                      </a:r>
                    </a:p>
                  </a:txBody>
                  <a:tcPr marL="133350" marR="133350" marT="76200" marB="57150" anchor="ctr">
                    <a:lnR w="5715">
                      <a:solidFill>
                        <a:srgbClr val="D6E0E5"/>
                      </a:solidFill>
                      <a:prstDash val="solid"/>
                    </a:lnR>
                    <a:lnB w="5715">
                      <a:solidFill>
                        <a:srgbClr val="D6E0E5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资料截止 2026年10月27日。全文链接及对应实现依据见各">
            <a:extLst xmlns:a="http://schemas.openxmlformats.org/drawingml/2006/main">
              <a:ext uri="{FF2B5EF4-FFF2-40B4-BE49-F238E27FC236}">
                <a16:creationId xmlns:a16="http://schemas.microsoft.com/office/drawing/2014/main" id="{E0DDC971-4E17-4018-AEA0-96899237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B7B"/>
                </a:solidFill>
                <a:latin typeface="Arial Unicode MS"/>
                <a:ea typeface="Arial Unicode MS"/>
                <a:cs typeface="Arial Unicode MS"/>
              </a:rPr>
              <a:t>资料截止 2026年10月27日。全文链接及对应实现依据见各页演讲者备注。</a:t>
            </a:r>
          </a:p>
        </p:txBody>
      </p:sp>
    </p:spTree>
    <p:extLst>
      <p:ext uri="{BB962C8B-B14F-4D97-AF65-F5344CB8AC3E}">
        <p14:creationId xmlns:p14="http://schemas.microsoft.com/office/powerpoint/2010/main" val="2018828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2026-10-27T13:24:02.1020000Z</dcterms:created>
  <dcterms:modified xsi:type="dcterms:W3CDTF">2026-10-27T13:24:02.1020000Z</dcterms:modified>
</coreProperties>
</file>