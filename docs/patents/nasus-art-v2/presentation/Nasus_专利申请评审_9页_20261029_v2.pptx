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f87b7f17d943cf" /><Relationship Type="http://schemas.openxmlformats.org/officeDocument/2006/relationships/extended-properties" Target="/docProps/app.xml" Id="R905a4da793b7402c" /><Relationship Type="http://schemas.openxmlformats.org/officeDocument/2006/relationships/officeDocument" Target="/ppt/presentation.xml" Id="Rb5434c56a2134b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58a681655e4c96"/>
  </p:sldMasterIdLst>
  <p:notesMasterIdLst>
    <p:notesMasterId xmlns:r="http://schemas.openxmlformats.org/officeDocument/2006/relationships" r:id="Rc2daaf1162b24ffb"/>
  </p:notesMasterIdLst>
  <p:sldIdLst>
    <p:sldId xmlns:r="http://schemas.openxmlformats.org/officeDocument/2006/relationships" id="256" r:id="Rc98d32b870fa4bab"/>
    <p:sldId xmlns:r="http://schemas.openxmlformats.org/officeDocument/2006/relationships" id="257" r:id="R3ebd59c4851b483e"/>
    <p:sldId xmlns:r="http://schemas.openxmlformats.org/officeDocument/2006/relationships" id="258" r:id="Rd2aa51e3ee4a4428"/>
    <p:sldId xmlns:r="http://schemas.openxmlformats.org/officeDocument/2006/relationships" id="259" r:id="R5cf8e82f0591476d"/>
    <p:sldId xmlns:r="http://schemas.openxmlformats.org/officeDocument/2006/relationships" id="260" r:id="R88703f92ec274e9c"/>
    <p:sldId xmlns:r="http://schemas.openxmlformats.org/officeDocument/2006/relationships" id="261" r:id="Rc05c82e0ed0f4f53"/>
    <p:sldId xmlns:r="http://schemas.openxmlformats.org/officeDocument/2006/relationships" id="262" r:id="R60ca33ba91da4211"/>
    <p:sldId xmlns:r="http://schemas.openxmlformats.org/officeDocument/2006/relationships" id="263" r:id="R21a3ab4916644113"/>
    <p:sldId xmlns:r="http://schemas.openxmlformats.org/officeDocument/2006/relationships" id="264" r:id="R36086e886d6f483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3e960939e74efc" /><Relationship Type="http://schemas.openxmlformats.org/officeDocument/2006/relationships/slideMaster" Target="/ppt/slideMasters/slideMaster1.xml" Id="R7658a681655e4c96" /><Relationship Type="http://schemas.openxmlformats.org/officeDocument/2006/relationships/notesMaster" Target="/ppt/notesMasters/notesMaster1.xml" Id="Rc2daaf1162b24ffb" /><Relationship Type="http://schemas.openxmlformats.org/officeDocument/2006/relationships/presProps" Target="/ppt/presProps.xml" Id="Rfe3fa39e929e4483" /><Relationship Type="http://schemas.openxmlformats.org/officeDocument/2006/relationships/tableStyles" Target="/ppt/tableStyles.xml" Id="Rb17922c05f6b430a" /><Relationship Type="http://schemas.openxmlformats.org/officeDocument/2006/relationships/slide" Target="/ppt/slides/slide1.xml" Id="Rc98d32b870fa4bab" /><Relationship Type="http://schemas.openxmlformats.org/officeDocument/2006/relationships/slide" Target="/ppt/slides/slide2.xml" Id="R3ebd59c4851b483e" /><Relationship Type="http://schemas.openxmlformats.org/officeDocument/2006/relationships/slide" Target="/ppt/slides/slide3.xml" Id="Rd2aa51e3ee4a4428" /><Relationship Type="http://schemas.openxmlformats.org/officeDocument/2006/relationships/slide" Target="/ppt/slides/slide4.xml" Id="R5cf8e82f0591476d" /><Relationship Type="http://schemas.openxmlformats.org/officeDocument/2006/relationships/slide" Target="/ppt/slides/slide5.xml" Id="R88703f92ec274e9c" /><Relationship Type="http://schemas.openxmlformats.org/officeDocument/2006/relationships/slide" Target="/ppt/slides/slide6.xml" Id="Rc05c82e0ed0f4f53" /><Relationship Type="http://schemas.openxmlformats.org/officeDocument/2006/relationships/slide" Target="/ppt/slides/slide7.xml" Id="R60ca33ba91da4211" /><Relationship Type="http://schemas.openxmlformats.org/officeDocument/2006/relationships/slide" Target="/ppt/slides/slide8.xml" Id="R21a3ab4916644113" /><Relationship Type="http://schemas.openxmlformats.org/officeDocument/2006/relationships/slide" Target="/ppt/slides/slide9.xml" Id="R36086e886d6f48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c230ce75f748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828e50808c40d1" /><Relationship Type="http://schemas.openxmlformats.org/officeDocument/2006/relationships/notesMaster" Target="/ppt/notesMasters/notesMaster1.xml" Id="R035f1f790d5642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ffeab994a9483d" /><Relationship Type="http://schemas.openxmlformats.org/officeDocument/2006/relationships/notesMaster" Target="/ppt/notesMasters/notesMaster1.xml" Id="R8d1eb7a9759741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11b4e8385f46c7" /><Relationship Type="http://schemas.openxmlformats.org/officeDocument/2006/relationships/notesMaster" Target="/ppt/notesMasters/notesMaster1.xml" Id="R4d531e1232fe45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5e933d62db48e3" /><Relationship Type="http://schemas.openxmlformats.org/officeDocument/2006/relationships/notesMaster" Target="/ppt/notesMasters/notesMaster1.xml" Id="Rbb382151ddf744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86f3888a5643b2" /><Relationship Type="http://schemas.openxmlformats.org/officeDocument/2006/relationships/notesMaster" Target="/ppt/notesMasters/notesMaster1.xml" Id="Rd7030828f9a54d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7f228dcee47ba" /><Relationship Type="http://schemas.openxmlformats.org/officeDocument/2006/relationships/notesMaster" Target="/ppt/notesMasters/notesMaster1.xml" Id="Rae1703dc43f34b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d2f55b91ba4bbc" /><Relationship Type="http://schemas.openxmlformats.org/officeDocument/2006/relationships/notesMaster" Target="/ppt/notesMasters/notesMaster1.xml" Id="Rd2ac2275449344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7d6d807a4c426f" /><Relationship Type="http://schemas.openxmlformats.org/officeDocument/2006/relationships/notesMaster" Target="/ppt/notesMasters/notesMaster1.xml" Id="R4325d80c40534f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63a04d7a304a3b" /><Relationship Type="http://schemas.openxmlformats.org/officeDocument/2006/relationships/notesMaster" Target="/ppt/notesMasters/notesMaster1.xml" Id="R824f65a695064e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业务背景是本项目面向AI Coding及人工连续变更的设计场景，并非行业发生率调查。目标是建立能定位影响、识别验证缺口、组织集成验证并支撑目标构建准入的持续画像。</a:t>
            </a:r>
          </a:p>
          <a:p xmlns:a="http://schemas.openxmlformats.org/drawingml/2006/main">
            <a:r>
              <a:t>本稿描述最终态技术方案。当前实现仍有未贯通环节，详见第8页。三项保护点是候选技术组合，不表示已确认新颖性或创造性。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/Users/uben/.codex/worktrees/nasus-patent-v2/Nasus/docs/patents/nasus-art-v2/closed-loop-invention-design-2026-10-29.md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R1权147、148、156、157、163。R2 A权1—3、6—7及B权1。R3权1、2、5—7，说明书S105—S107、S201—S203。R4权1、4—10。</a:t>
            </a:r>
          </a:p>
          <a:p xmlns:a="http://schemas.openxmlformats.org/drawingml/2006/main">
            <a:r>
              <a:t>局限性为工程失效情形和比较维度，不是对各文献全部技术内容的否定。不能从摘要未提及某机制推断全文没有披露。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https://patents.google.com/patent/US20260072811A1/en</a:t>
            </a:r>
          </a:p>
          <a:p xmlns:a="http://schemas.openxmlformats.org/drawingml/2006/main">
            <a:r>
              <a:t>https://patents.google.com/patent/CN121935166A/zh</a:t>
            </a:r>
          </a:p>
          <a:p xmlns:a="http://schemas.openxmlformats.org/drawingml/2006/main">
            <a:r>
              <a:t>https://patents.google.com/patent/CN121935166B/zh</a:t>
            </a:r>
          </a:p>
          <a:p xmlns:a="http://schemas.openxmlformats.org/drawingml/2006/main">
            <a:r>
              <a:t>https://patents.google.com/patent/CN121996618A/zh</a:t>
            </a:r>
          </a:p>
          <a:p xmlns:a="http://schemas.openxmlformats.org/drawingml/2006/main">
            <a:r>
              <a:t>https://patents.google.com/patent/CN122044758A/zh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态技术方案。S101—S108是本演示稿的处理链编号，四行按相邻步骤归并。固定对象pin至少包含project、object_id、revision与artifact_digest。画像成员绑定确切实体和关系修订，原图只读保留。采集不完整只得到未观察到，不能推断源文件删除。</a:t>
            </a:r>
          </a:p>
          <a:p xmlns:a="http://schemas.openxmlformats.org/drawingml/2006/main">
            <a:r>
              <a:t>数据绑定构成整体候选保护组合，通用图谱、大模型、向量召回和审批不单独主张创新。正式验收Spec须包含前置条件、操作、观察对象、预期表达式、窗口和评估器修订，批准摘要覆盖其完整内容。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/Users/uben/.codex/worktrees/nasus-patent-v2/Nasus/docs/patents/nasus-art-v2/closed-loop-invention-design-2026-10-29.md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候选组合：有证据与适用性的版本化关系、前后画像隔离传播、命中与查询范围双依赖、验证槽位驱动的画像补全。并不把AST、调用图或多源图谱单独视为创新。</a:t>
            </a:r>
          </a:p>
          <a:p xmlns:a="http://schemas.openxmlformats.org/drawingml/2006/main">
            <a:r>
              <a:t>大模型输出支持/反驳/无关/未知及引用，置信分数不是成立概率。历史决定绑定实体及端点修订，新建上下文ID不能绕过仍适用的否定。</a:t>
            </a:r>
          </a:p>
          <a:p xmlns:a="http://schemas.openxmlformats.org/drawingml/2006/main">
            <a:r>
              <a:t>先独立枚举批准验收、风险和历史保护义务，缺少路径映射只生成Gap。访问键允许规则状态与字段范围不同的再次访问。循环可经visited/SCC处理，展示路径截取不能删掉受影响集合。图遍历完成仅证明登记范围内处理完成，不证明现实依赖全部采集。</a:t>
            </a:r>
          </a:p>
          <a:p xmlns:a="http://schemas.openxmlformats.org/drawingml/2006/main">
            <a:r>
              <a:t>构造例：I1下RefundCompleted订阅查询为空，仍登记来源范围。I2增加refund_callback.py使scope epoch变化，重新召回契约和消费者。表级解析不足时保守扩大到相关读者。触发、预期、观察与隔离四槽对应Trigger、Oracle、Observation、Isolation。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https://patents.google.com/patent/US20260072811A1/en</a:t>
            </a:r>
          </a:p>
          <a:p xmlns:a="http://schemas.openxmlformats.org/drawingml/2006/main">
            <a:r>
              <a:t>https://patents.google.com/patent/CN121935166A/zh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最终态自主行动设计。目标预算绑定AgentGoal，修订Contract、替换脚本或修复构建不重置预算。动作提案包含type、gap lineage、input pins、工具、完成条件、幂等键及成本预留，动作完成不代表业务通过。无进展签名使用实质依赖、证据和缺口状态，新建ID不算进展。</a:t>
            </a:r>
          </a:p>
          <a:p xmlns:a="http://schemas.openxmlformats.org/drawingml/2006/main">
            <a:r>
              <a:t>当前上下文使用字节预算，模型输入另用相应tokenizer预算。完整单元加全局规则超过任一硬预算时阻断，不能静默截断。全局规则每包可见但在M中仅计一次。输出去重不删除原义务，结构引用与摘要校验不能证明业务语义正确。</a:t>
            </a:r>
          </a:p>
          <a:p xmlns:a="http://schemas.openxmlformats.org/drawingml/2006/main">
            <a:r>
              <a:t>构造例前置：批准规范已明确退款60元且同事件一次记账。缺口是观察映射，不是缺失正式预期。受控身份、隔离订单、支付模拟服务与只读账本查询共同组成fixture。用例与脚本分别经历适用的审阅，新增代码修复仅在目标已有授权和隔离范围执行。</a:t>
            </a:r>
          </a:p>
          <a:p xmlns:a="http://schemas.openxmlformats.org/drawingml/2006/main">
            <a:r>
              <a:t>向量近似检索存在召回损失，允许迭代或精确回退，不能取消项目/版本/权限过滤。模型上下文Top-K仅约束辅助材料。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https://github.com/pgvector/pgvector#filtering</a:t>
            </a:r>
          </a:p>
          <a:p xmlns:a="http://schemas.openxmlformats.org/drawingml/2006/main">
            <a:r>
              <a:t>https://patents.google.com/patent/CN121996618A/zh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执行到准入与双增量自动回流尚未全部贯通，本页描述可实施目标态。Verdict保留判据叶子实测值、聚合树、证据pins、资格原因和依赖代际。必测场景默认all_of，any_of仅用于事先批准的替代证据。Q=100×加权有效通过/固定总权重，仅表示证据满足度，阈值、权重及必验性在执行前经政策固定。仅填写声称的构建ID不足，需要校验实际服务实例与目标绑定。</a:t>
            </a:r>
          </a:p>
          <a:p xmlns:a="http://schemas.openxmlformats.org/drawingml/2006/main">
            <a:r>
              <a:t>服务端完整库存包含运行、重试、claim及outcome，未完成/失联/缺证据保持未知。调用者证据pins不缩小枚举范围，换Contract不能隐藏同目标和判据范围的有效反例。不同尝试局部成功不能随意拼成联合成功。</a:t>
            </a:r>
          </a:p>
          <a:p xmlns:a="http://schemas.openxmlformats.org/drawingml/2006/main">
            <a:r>
              <a:t>Patch模式为no_op、journal_only、future_image_only、current_dependency_changed。仅后者要求新Contract，运行观察追加仍可触发判定撤销。来源/authority head与scope epoch屏障同步提交，后续派生登记、资格判断和许可消费使用同一guard。失效闭包分页处理时屏障保持。完整工件先归档回读，数据库条件事务提交引用及事实，外部调用不放在数据库事务中。</a:t>
            </a:r>
          </a:p>
          <a:p xmlns:a="http://schemas.openxmlformats.org/drawingml/2006/main">
            <a:r>
              <a:t>操作授权与质量判断分别检查。许可签发及消费重验条件，持久幂等派发记录支持未知状态恢复，不宣称跨系统exactly-once。失败先记录与诊断，业务规则及关系变更需治理，错误运行结果不能自动成为正式预期。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https://patents.google.com/patent/CN122044758A/zh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例是技术规则的构造推演，所有B1/B2/B3观察均不代表真实业务测试。O1—O7是本例逻辑义务标签，正式系统中保留稳定沿革并以修订区分变化。第一轮需求明确允许60元部分退款，第二轮同一event_id重复回调只允许一次记账。</a:t>
            </a:r>
          </a:p>
          <a:p xmlns:a="http://schemas.openxmlformats.org/drawingml/2006/main">
            <a:r>
              <a:t>O5包含金额和状态一致性，O7包含同事件幂等性，两个不同义务可共享适用证据但不能混为重复分母。示例假定同fixture、相同业务键的完整只读查询已经覆盖两次完成回调后的固定窗口，所以重复记账构成反例。仅收到两次HTTP成功不证明处理完成。</a:t>
            </a:r>
          </a:p>
          <a:p xmlns:a="http://schemas.openxmlformats.org/drawingml/2006/main">
            <a:r>
              <a:t>修复构建必须有新实际目标绑定、新RunPlan及完整证据，沿用原目标预算与失败历史。用例和脚本是否可复用取决于其依赖适用性。回流只有经过治理的关系、风险及保护项进入下一画像，运行结果不改正式预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/Users/uben/.codex/worktrees/nasus-patent-v2/Nasus/docs/patents/nasus-art-v2/closed-loop-invention-design-2026-10-29.md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基线为nasus_snapshot_v1@38e123c89fdb1dc8602a10f56f45fbdfdeb86e86，提交时间2026-10-27 21:06:26+08:00。既有验证记录属于各自历史批次。</a:t>
            </a:r>
          </a:p>
          <a:p xmlns:a="http://schemas.openxmlformats.org/drawingml/2006/main">
            <a:r>
              <a:t>现有接点：apps/api/app/domain/quality_loop/test_design_generation.py:130，generation_batches.py:12，apps/api/app/domain/system_image/semantic_applicability.py:46，apps/api/app/application/quality_loop/run_plan_case_execution.py:169。当前新执行链business_coverage_verified=false，原始观察不会自动增加正式通过计数。</a:t>
            </a:r>
          </a:p>
          <a:p xmlns:a="http://schemas.openxmlformats.org/drawingml/2006/main">
            <a:r>
              <a:t>分母为独立标注或受控变更/缺陷参照集，指标按变更类型、规模、扇出、深度、并发分层。分母为0时记N/A。过度选测同时报告，不能用隐藏遗漏换速度。误接纳率为本页定义的无效证据接纳比例，另可统计有效证据误拒绝。消融包含去范围依赖、Top-K决定义务、只采用最新成功、去提交前重验。</a:t>
            </a:r>
          </a:p>
          <a:p xmlns:a="http://schemas.openxmlformats.org/drawingml/2006/main">
            <a:r>
              <a:t>数据库承载方案：实体/关系修订、画像成员及snapshot_edge投影，正反向邻接索引，全文和pgvector，MinIO/S3原始工件。复合索引按查询计划验证。图数据库可作为按版本可重建的查询副本，读前核验画像和代际完成状态。现有关系表和有界内存传播不是完整最终态，也不存在规模或p95性能承诺。</a:t>
            </a:r>
          </a:p>
          <a:p xmlns:a="http://schemas.openxmlformats.org/drawingml/2006/main">
            <a:r>
              <a:t>字段与摘要校验只证明结构绑定，不能证明业务语义。业务收益路径是减少重复理解、资产生成和版本人工核对，暂无量化收益。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/Users/uben/.codex/worktrees/nasus-patent-v2/Nasus/docs/patents/nasus-art-v2/technical-implementation-2026-10-29.md</a:t>
            </a:r>
          </a:p>
          <a:p xmlns:a="http://schemas.openxmlformats.org/drawingml/2006/main">
            <a:r>
              <a:t>/Users/uben/.codex/worktrees/nasus-patent-v2/Nasus/docs/patents/nasus-art-v2/closed-loop-invention-design-2026-10-29.md</a:t>
            </a:r>
          </a:p>
          <a:p xmlns:a="http://schemas.openxmlformats.org/drawingml/2006/main">
            <a:r>
              <a:t>https://www.postgresql.org/docs/18/queries-with.html</a:t>
            </a:r>
          </a:p>
          <a:p xmlns:a="http://schemas.openxmlformats.org/drawingml/2006/main">
            <a:r>
              <a:t>https://github.com/pgvector/pgvector#filtering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定向核查方法：2026年10月29日按四组公开号读取Google Patents所载原始公开文本，核对公开日、权利要求位置及A/B差异。不是穷尽检索，没有FTO或可授权性结论。</a:t>
            </a:r>
          </a:p>
          <a:p xmlns:a="http://schemas.openxmlformats.org/drawingml/2006/main">
            <a:r>
              <a:t>R1完整名称：Optimized regression testing through dependency graph analysis and selective test execution。公开日2026-03-12。位置：权147、148、156、157、163。</a:t>
            </a:r>
          </a:p>
          <a:p xmlns:a="http://schemas.openxmlformats.org/drawingml/2006/main">
            <a:r>
              <a:t>R2完整名称：一种基于动态知识图谱的测试用例智能生成方法及系统。A首次公开2026-04-28，权1—3、6—7。B授权公告2026-07-21，权1增加版本钩子、AST/控制与数据流、覆盖/缺陷奖励和路径优化等具体限定。不推断审查员的授权原因。</a:t>
            </a:r>
          </a:p>
          <a:p xmlns:a="http://schemas.openxmlformats.org/drawingml/2006/main">
            <a:r>
              <a:t>R3完整名称：一种面向软件V字开发流程的RAG检索方法及系统。公开日2026-05-08，权1、2、5—7，说明书S105—S107、S201—S203。</a:t>
            </a:r>
          </a:p>
          <a:p xmlns:a="http://schemas.openxmlformats.org/drawingml/2006/main">
            <a:r>
              <a:t>R4完整名称：人工智能集群交付事件的管理方法、装置、设备和介质。公开日2026-05-15，权1、4—10。</a:t>
            </a:r>
          </a:p>
          <a:p xmlns:a="http://schemas.openxmlformats.org/drawingml/2006/main">
            <a:r>
              <a:t>本方案对比项是需逐项论证的具体技术联系，不能仅因某文献未集中出现全部特征就认定具有创造性。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资料与依据</a:t>
            </a:r>
          </a:p>
          <a:p xmlns:a="http://schemas.openxmlformats.org/drawingml/2006/main">
            <a:r>
              <a:t>https://patents.google.com/patent/US20260072811A1/en</a:t>
            </a:r>
          </a:p>
          <a:p xmlns:a="http://schemas.openxmlformats.org/drawingml/2006/main">
            <a:r>
              <a:t>https://patents.google.com/patent/CN121935166A/zh</a:t>
            </a:r>
          </a:p>
          <a:p xmlns:a="http://schemas.openxmlformats.org/drawingml/2006/main">
            <a:r>
              <a:t>https://patents.google.com/patent/CN121935166B/zh</a:t>
            </a:r>
          </a:p>
          <a:p xmlns:a="http://schemas.openxmlformats.org/drawingml/2006/main">
            <a:r>
              <a:t>https://patents.google.com/patent/CN121996618A/zh</a:t>
            </a:r>
          </a:p>
          <a:p xmlns:a="http://schemas.openxmlformats.org/drawingml/2006/main">
            <a:r>
              <a:t>https://patents.google.com/patent/CN122044758A/zh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0c7ac24d54a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4117d2849848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53922648a645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38a9d35ae4d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7d1e842d604e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b75290f18447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22C410-397D-4540-B67C-C4F87266B9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EAD2499-74C7-49A0-9A39-FB727C48FEC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2D33FFD-5A5E-4648-940B-F1532DC5E8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CFBB0B-CC1B-4E80-BCE4-71A86B4261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5B1B92-A451-4EB1-A2F7-5878EE6FEA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BBE6EDE-9DB4-45CC-9D0A-3110C65541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93BA72-14ED-4462-A73A-F11A105375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6EF19E-8A1D-455D-B129-A09DA33B11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33DC01-4CB2-4CCD-82D9-A7846E470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A6E302-9747-4BB9-8E2A-49F02A596A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66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047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428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09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190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571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952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333750" indent="-285750" algn="l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abe6b1bcc9467f" /><Relationship Type="http://schemas.openxmlformats.org/officeDocument/2006/relationships/slideLayout" Target="/ppt/slideLayouts/slideLayout1.xml" Id="R92ed4c1e4d994350" /><Relationship Type="http://schemas.openxmlformats.org/officeDocument/2006/relationships/slideLayout" Target="/ppt/slideLayouts/slideLayout2.xml" Id="Rfdf89e6f14a54b85" /><Relationship Type="http://schemas.openxmlformats.org/officeDocument/2006/relationships/slideLayout" Target="/ppt/slideLayouts/slideLayout3.xml" Id="R62bfc1a26cc34216" /><Relationship Type="http://schemas.openxmlformats.org/officeDocument/2006/relationships/slideLayout" Target="/ppt/slideLayouts/slideLayout4.xml" Id="R45da150fa51a4207" /><Relationship Type="http://schemas.openxmlformats.org/officeDocument/2006/relationships/slideLayout" Target="/ppt/slideLayouts/slideLayout5.xml" Id="R87683ce3d6734de9" /><Relationship Type="http://schemas.openxmlformats.org/officeDocument/2006/relationships/slideLayout" Target="/ppt/slideLayouts/slideLayout6.xml" Id="Ree68cd00faca4c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ed4c1e4d994350"/>
    <p:sldLayoutId xmlns:r="http://schemas.openxmlformats.org/officeDocument/2006/relationships" id="2147483650" r:id="Rfdf89e6f14a54b85"/>
    <p:sldLayoutId xmlns:r="http://schemas.openxmlformats.org/officeDocument/2006/relationships" id="2147483651" r:id="R62bfc1a26cc34216"/>
    <p:sldLayoutId xmlns:r="http://schemas.openxmlformats.org/officeDocument/2006/relationships" id="2147483652" r:id="R45da150fa51a4207"/>
    <p:sldLayoutId xmlns:r="http://schemas.openxmlformats.org/officeDocument/2006/relationships" id="2147483653" r:id="R87683ce3d6734de9"/>
    <p:sldLayoutId xmlns:r="http://schemas.openxmlformats.org/officeDocument/2006/relationships" id="2147483654" r:id="Ree68cd00faca4c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c4a1f146af46cd" /><Relationship Type="http://schemas.openxmlformats.org/officeDocument/2006/relationships/notesSlide" Target="/ppt/notesSlides/notesSlide1.xml" Id="Rcae3c887c8a24a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d1a5e8f8ee4162" /><Relationship Type="http://schemas.openxmlformats.org/officeDocument/2006/relationships/notesSlide" Target="/ppt/notesSlides/notesSlide2.xml" Id="R4d1b4a001a954e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3ed1e359d64df8" /><Relationship Type="http://schemas.openxmlformats.org/officeDocument/2006/relationships/notesSlide" Target="/ppt/notesSlides/notesSlide3.xml" Id="Rb644f6defecc4e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e598f2449e4c94" /><Relationship Type="http://schemas.openxmlformats.org/officeDocument/2006/relationships/notesSlide" Target="/ppt/notesSlides/notesSlide4.xml" Id="R1d418cf81df447f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b8c8c38bd34c97" /><Relationship Type="http://schemas.openxmlformats.org/officeDocument/2006/relationships/notesSlide" Target="/ppt/notesSlides/notesSlide5.xml" Id="Re42fdea529794e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21b751d1b74777" /><Relationship Type="http://schemas.openxmlformats.org/officeDocument/2006/relationships/notesSlide" Target="/ppt/notesSlides/notesSlide6.xml" Id="R013c44bf675446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901b9850fe4c11" /><Relationship Type="http://schemas.openxmlformats.org/officeDocument/2006/relationships/notesSlide" Target="/ppt/notesSlides/notesSlide7.xml" Id="R42d2becc2ea840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8bcd34f9624d98" /><Relationship Type="http://schemas.openxmlformats.org/officeDocument/2006/relationships/notesSlide" Target="/ppt/notesSlides/notesSlide8.xml" Id="R01683c4b272a41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dddcb43617482b" /><Relationship Type="http://schemas.openxmlformats.org/officeDocument/2006/relationships/hyperlink" Target="https://patents.google.com/patent/US20260072811A1/en" TargetMode="External" Id="R30c4846165d84883" /><Relationship Type="http://schemas.openxmlformats.org/officeDocument/2006/relationships/hyperlink" Target="https://patents.google.com/patent/US20260072811A1/en" TargetMode="External" Id="Rc5be7275915a4464" /><Relationship Type="http://schemas.openxmlformats.org/officeDocument/2006/relationships/hyperlink" Target="https://patents.google.com/patent/US20260072811A1/en" TargetMode="External" Id="R6c9bd00a5c894cd5" /><Relationship Type="http://schemas.openxmlformats.org/officeDocument/2006/relationships/hyperlink" Target="https://patents.google.com/patent/CN121935166A/zh" TargetMode="External" Id="Reddd4adb158241a5" /><Relationship Type="http://schemas.openxmlformats.org/officeDocument/2006/relationships/hyperlink" Target="https://patents.google.com/patent/CN121935166A/zh" TargetMode="External" Id="R3b6f83060a0f4814" /><Relationship Type="http://schemas.openxmlformats.org/officeDocument/2006/relationships/hyperlink" Target="https://patents.google.com/patent/CN121935166A/zh" TargetMode="External" Id="Rb19b1129708845e2" /><Relationship Type="http://schemas.openxmlformats.org/officeDocument/2006/relationships/hyperlink" Target="https://patents.google.com/patent/CN121996618A/zh" TargetMode="External" Id="R8abc5713781c48cd" /><Relationship Type="http://schemas.openxmlformats.org/officeDocument/2006/relationships/hyperlink" Target="https://patents.google.com/patent/CN121996618A/zh" TargetMode="External" Id="R5d4cd510e1084d1c" /><Relationship Type="http://schemas.openxmlformats.org/officeDocument/2006/relationships/hyperlink" Target="https://patents.google.com/patent/CN121996618A/zh" TargetMode="External" Id="Rf714124403224a35" /><Relationship Type="http://schemas.openxmlformats.org/officeDocument/2006/relationships/hyperlink" Target="https://patents.google.com/patent/CN122044758A/zh" TargetMode="External" Id="R614594fa96144878" /><Relationship Type="http://schemas.openxmlformats.org/officeDocument/2006/relationships/hyperlink" Target="https://patents.google.com/patent/CN122044758A/zh" TargetMode="External" Id="R5d44267b924c40a8" /><Relationship Type="http://schemas.openxmlformats.org/officeDocument/2006/relationships/hyperlink" Target="https://patents.google.com/patent/CN122044758A/zh" TargetMode="External" Id="R75254a88bfe54bcc" /><Relationship Type="http://schemas.openxmlformats.org/officeDocument/2006/relationships/notesSlide" Target="/ppt/notesSlides/notesSlide9.xml" Id="Reeed1ac1cd4d41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y90nupkv-0">
            <a:extLst xmlns:a="http://schemas.openxmlformats.org/drawingml/2006/main">
              <a:ext uri="{FF2B5EF4-FFF2-40B4-BE49-F238E27FC236}">
                <a16:creationId xmlns:a16="http://schemas.microsoft.com/office/drawing/2014/main" id="{BA164FCB-CDA2-4AF3-B14C-CE5F8C73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业务背景</a:t>
            </a:r>
          </a:p>
        </p:txBody>
      </p:sp>
      <p:sp>
        <p:nvSpPr>
          <p:cNvPr id="2" name="text-y90nupkv-1">
            <a:extLst xmlns:a="http://schemas.openxmlformats.org/drawingml/2006/main">
              <a:ext uri="{FF2B5EF4-FFF2-40B4-BE49-F238E27FC236}">
                <a16:creationId xmlns:a16="http://schemas.microsoft.com/office/drawing/2014/main" id="{9EBE41D8-EA3F-409C-A8FC-B790BD5A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85850"/>
            <a:ext cx="1390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一种基于持续演进系统画像的</a:t>
            </a:r>
          </a:p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变更驱动集成验证与发布准入方法</a:t>
            </a:r>
          </a:p>
        </p:txBody>
      </p:sp>
      <p:sp>
        <p:nvSpPr>
          <p:cNvPr id="3" name="text-y90nupkv-2">
            <a:extLst xmlns:a="http://schemas.openxmlformats.org/drawingml/2006/main">
              <a:ext uri="{FF2B5EF4-FFF2-40B4-BE49-F238E27FC236}">
                <a16:creationId xmlns:a16="http://schemas.microsoft.com/office/drawing/2014/main" id="{17304CB2-B3BE-4829-8C14-B9C56CA2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3668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AI Coding 下的连续变更，要求系统认知、集成验证与上线判断同步更新。</a:t>
            </a:r>
          </a:p>
        </p:txBody>
      </p:sp>
      <p:sp>
        <p:nvSpPr>
          <p:cNvPr id="4" name="text-y90nupkv-3">
            <a:extLst xmlns:a="http://schemas.openxmlformats.org/drawingml/2006/main">
              <a:ext uri="{FF2B5EF4-FFF2-40B4-BE49-F238E27FC236}">
                <a16:creationId xmlns:a16="http://schemas.microsoft.com/office/drawing/2014/main" id="{93F64BA9-DAB8-4A74-A284-A7B88A57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243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5" name="text-y90nupkv-4">
            <a:extLst xmlns:a="http://schemas.openxmlformats.org/drawingml/2006/main">
              <a:ext uri="{FF2B5EF4-FFF2-40B4-BE49-F238E27FC236}">
                <a16:creationId xmlns:a16="http://schemas.microsoft.com/office/drawing/2014/main" id="{98DCD8AB-484E-480C-97CE-E67C0DC4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338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系统认知滞后</a:t>
            </a:r>
          </a:p>
        </p:txBody>
      </p:sp>
      <p:sp>
        <p:nvSpPr>
          <p:cNvPr id="6" name="text-y90nupkv-5">
            <a:extLst xmlns:a="http://schemas.openxmlformats.org/drawingml/2006/main">
              <a:ext uri="{FF2B5EF4-FFF2-40B4-BE49-F238E27FC236}">
                <a16:creationId xmlns:a16="http://schemas.microsoft.com/office/drawing/2014/main" id="{8F40700B-8E62-4ED1-B60E-CB4BA111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243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代码、需求、接口与测试资产分别演进。</a:t>
            </a:r>
          </a:p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旧关联难以准确解释当前构建。</a:t>
            </a:r>
          </a:p>
        </p:txBody>
      </p:sp>
      <p:sp>
        <p:nvSpPr>
          <p:cNvPr id="7" name="text-y90nupkv-6">
            <a:extLst xmlns:a="http://schemas.openxmlformats.org/drawingml/2006/main">
              <a:ext uri="{FF2B5EF4-FFF2-40B4-BE49-F238E27FC236}">
                <a16:creationId xmlns:a16="http://schemas.microsoft.com/office/drawing/2014/main" id="{4F4F0E22-E655-486C-9715-AA5D7753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8" name="text-y90nupkv-7">
            <a:extLst xmlns:a="http://schemas.openxmlformats.org/drawingml/2006/main">
              <a:ext uri="{FF2B5EF4-FFF2-40B4-BE49-F238E27FC236}">
                <a16:creationId xmlns:a16="http://schemas.microsoft.com/office/drawing/2014/main" id="{17F969A6-5C82-452E-82C4-BCA62716F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006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集成影响遗漏</a:t>
            </a:r>
          </a:p>
        </p:txBody>
      </p:sp>
      <p:sp>
        <p:nvSpPr>
          <p:cNvPr id="9" name="text-y90nupkv-8">
            <a:extLst xmlns:a="http://schemas.openxmlformats.org/drawingml/2006/main">
              <a:ext uri="{FF2B5EF4-FFF2-40B4-BE49-F238E27FC236}">
                <a16:creationId xmlns:a16="http://schemas.microsoft.com/office/drawing/2014/main" id="{F925762F-10B2-4C4F-919D-81266B68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911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一个函数的变化可能经调用、事件和字段依赖，</a:t>
            </a:r>
          </a:p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影响其他服务及业务不变量。</a:t>
            </a:r>
          </a:p>
        </p:txBody>
      </p:sp>
      <p:sp>
        <p:nvSpPr>
          <p:cNvPr id="10" name="text-y90nupkv-9">
            <a:extLst xmlns:a="http://schemas.openxmlformats.org/drawingml/2006/main">
              <a:ext uri="{FF2B5EF4-FFF2-40B4-BE49-F238E27FC236}">
                <a16:creationId xmlns:a16="http://schemas.microsoft.com/office/drawing/2014/main" id="{2D5A9551-05CC-4050-8B16-55717747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579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75" b="1">
                <a:solidFill>
                  <a:srgbClr val="81D9D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1" name="text-y90nupkv-10">
            <a:extLst xmlns:a="http://schemas.openxmlformats.org/drawingml/2006/main">
              <a:ext uri="{FF2B5EF4-FFF2-40B4-BE49-F238E27FC236}">
                <a16:creationId xmlns:a16="http://schemas.microsoft.com/office/drawing/2014/main" id="{D87D26D5-A7DB-481C-B7FD-21392B30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0674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验证与准入脱节</a:t>
            </a:r>
          </a:p>
        </p:txBody>
      </p:sp>
      <p:sp>
        <p:nvSpPr>
          <p:cNvPr id="12" name="text-y90nupkv-11">
            <a:extLst xmlns:a="http://schemas.openxmlformats.org/drawingml/2006/main">
              <a:ext uri="{FF2B5EF4-FFF2-40B4-BE49-F238E27FC236}">
                <a16:creationId xmlns:a16="http://schemas.microsoft.com/office/drawing/2014/main" id="{86D8BF43-D6D8-459E-BF0D-ADFFA119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05790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已有用例不等于判据完整，历史成功也不能</a:t>
            </a:r>
          </a:p>
          <a:p xmlns:a="http://schemas.openxmlformats.org/drawingml/2006/main">
            <a:pPr algn="l">
              <a:def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DCEAF1"/>
                </a:solidFill>
                <a:latin typeface="Arial Unicode MS"/>
                <a:ea typeface="Arial Unicode MS"/>
                <a:cs typeface="Arial Unicode MS"/>
              </a:rPr>
              <a:t>直接支撑新构建放行。</a:t>
            </a:r>
          </a:p>
        </p:txBody>
      </p:sp>
      <p:sp>
        <p:nvSpPr>
          <p:cNvPr id="13" name="text-y90nupkv-12">
            <a:extLst xmlns:a="http://schemas.openxmlformats.org/drawingml/2006/main">
              <a:ext uri="{FF2B5EF4-FFF2-40B4-BE49-F238E27FC236}">
                <a16:creationId xmlns:a16="http://schemas.microsoft.com/office/drawing/2014/main" id="{14703223-833F-4622-89A4-4CACF6FA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096250"/>
            <a:ext cx="1181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rPr>
              <a:t>面向内部技术与知识产权评审    2026.10.29</a:t>
            </a:r>
          </a:p>
        </p:txBody>
      </p:sp>
      <p:sp>
        <p:nvSpPr>
          <p:cNvPr id="14" name="text-y90nupkv-13">
            <a:extLst xmlns:a="http://schemas.openxmlformats.org/drawingml/2006/main">
              <a:ext uri="{FF2B5EF4-FFF2-40B4-BE49-F238E27FC236}">
                <a16:creationId xmlns:a16="http://schemas.microsoft.com/office/drawing/2014/main" id="{4F812832-4437-48AF-8899-29418FCF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0962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AFC6D4"/>
                </a:solidFill>
                <a:latin typeface="Arial Unicode MS"/>
                <a:ea typeface="Arial Unicode MS"/>
                <a:cs typeface="Arial Unicode MS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10341878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hwbqtkby-14">
            <a:extLst xmlns:a="http://schemas.openxmlformats.org/drawingml/2006/main">
              <a:ext uri="{FF2B5EF4-FFF2-40B4-BE49-F238E27FC236}">
                <a16:creationId xmlns:a16="http://schemas.microsoft.com/office/drawing/2014/main" id="{0666556A-EB40-4344-BFD1-148D0A33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现有技术与本方案针对的失效情形</a:t>
            </a:r>
          </a:p>
        </p:txBody>
      </p:sp>
      <p:sp>
        <p:nvSpPr>
          <p:cNvPr id="2" name="text-hwbqtkby-15">
            <a:extLst xmlns:a="http://schemas.openxmlformats.org/drawingml/2006/main">
              <a:ext uri="{FF2B5EF4-FFF2-40B4-BE49-F238E27FC236}">
                <a16:creationId xmlns:a16="http://schemas.microsoft.com/office/drawing/2014/main" id="{04FC9CA2-D0A8-4E02-BF88-FD8C3CB3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多源建图、影响选测、混合检索及门禁已有公开。比较重点是各阶段之间的具体约束。</a:t>
            </a:r>
          </a:p>
        </p:txBody>
      </p:sp>
      <p:sp>
        <p:nvSpPr>
          <p:cNvPr id="3" name="text-hwbqtkby-16">
            <a:extLst xmlns:a="http://schemas.openxmlformats.org/drawingml/2006/main">
              <a:ext uri="{FF2B5EF4-FFF2-40B4-BE49-F238E27FC236}">
                <a16:creationId xmlns:a16="http://schemas.microsoft.com/office/drawing/2014/main" id="{998F0C4D-76AE-4A75-ADEA-4875C91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hwbqtkby-17">
            <a:extLst xmlns:a="http://schemas.openxmlformats.org/drawingml/2006/main">
              <a:ext uri="{FF2B5EF4-FFF2-40B4-BE49-F238E27FC236}">
                <a16:creationId xmlns:a16="http://schemas.microsoft.com/office/drawing/2014/main" id="{83CB28C3-7DB2-41A1-A2E1-4BA1F82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02 / 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28950-05F3-4C63-9D57-D1A4926153D9}"/>
              </a:ext>
            </a:extLst>
          </p:cNvPr>
          <p:cNvGraphicFramePr/>
          <p:nvPr/>
        </p:nvGraphicFramePr>
        <p:xfrm>
          <a:off xmlns:a="http://schemas.openxmlformats.org/drawingml/2006/main" x="666750" y="2095500"/>
          <a:ext xmlns:a="http://schemas.openxmlformats.org/drawingml/2006/main" cx="13906500" cy="5334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810000"/>
                <a:gridCol w="4381500"/>
                <a:gridCol w="5715000"/>
              </a:tblGrid>
              <a:tr h="5715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已有机制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能够解决的范围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需要进一步处理的失效情形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190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依赖图与历史覆盖选测  [R1]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将代码差异映射为受影响元素，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选择已有回归测试。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仅依据历史覆盖时，未建用例的新行为和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缺失业务断言可能无法进入验证。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190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动态图谱与反馈选路径  [R2]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多源关系、控制/数据流影响，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风险和覆盖驱动路径选择。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关系更新后，仍需明确哪些义务、旧证据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及准入结论必须重新判断。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190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图谱与向量混合检索  [R3]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实体、链路及版本对齐，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形成证据包并约束生成。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Top-K 和上下文预算下，需要保持完整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必验集合，并记录空召回范围依赖。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190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事件驱动质量门禁  [R4]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按门禁等级组织测试，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环境快照、阈值判断及重测。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放行依据还需与画像、逐项义务、确切构建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及原始观察建立可复核绑定。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hwbqtkby-18">
            <a:extLst xmlns:a="http://schemas.openxmlformats.org/drawingml/2006/main">
              <a:ext uri="{FF2B5EF4-FFF2-40B4-BE49-F238E27FC236}">
                <a16:creationId xmlns:a16="http://schemas.microsoft.com/office/drawing/2014/main" id="{007FB979-041C-4AF1-BA78-367B4FF7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7667625"/>
            <a:ext cx="1376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本页列出本方案处理的问题，不推断上述文献均未披露相应措施。文献编号和权项见第9页。</a:t>
            </a:r>
          </a:p>
        </p:txBody>
      </p:sp>
    </p:spTree>
    <p:extLst>
      <p:ext uri="{BB962C8B-B14F-4D97-AF65-F5344CB8AC3E}">
        <p14:creationId xmlns:p14="http://schemas.microsoft.com/office/powerpoint/2010/main" val="12200737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ofy9wn61-19">
            <a:extLst xmlns:a="http://schemas.openxmlformats.org/drawingml/2006/main">
              <a:ext uri="{FF2B5EF4-FFF2-40B4-BE49-F238E27FC236}">
                <a16:creationId xmlns:a16="http://schemas.microsoft.com/office/drawing/2014/main" id="{A1BBA0B7-9780-4FE1-9AFE-A2616453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总体发明方案与版本绑定</a:t>
            </a:r>
          </a:p>
        </p:txBody>
      </p:sp>
      <p:sp>
        <p:nvSpPr>
          <p:cNvPr id="2" name="text-ofy9wn61-20">
            <a:extLst xmlns:a="http://schemas.openxmlformats.org/drawingml/2006/main">
              <a:ext uri="{FF2B5EF4-FFF2-40B4-BE49-F238E27FC236}">
                <a16:creationId xmlns:a16="http://schemas.microsoft.com/office/drawing/2014/main" id="{92A8C31C-5405-4F17-9ED0-E571D338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验证义务贯穿画像、测试行动和准入。每次迭代固定输入，变化通过新修订进入下一轮。</a:t>
            </a:r>
          </a:p>
        </p:txBody>
      </p:sp>
      <p:sp>
        <p:nvSpPr>
          <p:cNvPr id="3" name="text-ofy9wn61-21">
            <a:extLst xmlns:a="http://schemas.openxmlformats.org/drawingml/2006/main">
              <a:ext uri="{FF2B5EF4-FFF2-40B4-BE49-F238E27FC236}">
                <a16:creationId xmlns:a16="http://schemas.microsoft.com/office/drawing/2014/main" id="{718DB798-C551-4AA8-85B2-4F02A310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ofy9wn61-22">
            <a:extLst xmlns:a="http://schemas.openxmlformats.org/drawingml/2006/main">
              <a:ext uri="{FF2B5EF4-FFF2-40B4-BE49-F238E27FC236}">
                <a16:creationId xmlns:a16="http://schemas.microsoft.com/office/drawing/2014/main" id="{6D144A70-D64D-42B0-A471-DCB311C9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03 / 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B9F0C-CB92-4746-AB4F-B8CDDB490628}"/>
              </a:ext>
            </a:extLst>
          </p:cNvPr>
          <p:cNvGraphicFramePr/>
          <p:nvPr/>
        </p:nvGraphicFramePr>
        <p:xfrm>
          <a:off xmlns:a="http://schemas.openxmlformats.org/drawingml/2006/main" x="666750" y="2000250"/>
          <a:ext xmlns:a="http://schemas.openxmlformats.org/drawingml/2006/main" cx="13906500" cy="45243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19375"/>
                <a:gridCol w="6429375"/>
                <a:gridCol w="4857750"/>
              </a:tblGrid>
              <a:tr h="523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处理链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处理机制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输出及版本绑定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S101—S102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基准与新修订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采集代码、需求、接口和测试资产。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对比同来源双修订，完整采集才认定删除。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Image：来源清单、实体/关系修订、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独立验收条件、查询范围依赖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S103—S104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影响与必验集合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前后画像分别传播调用与字段影响。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合并批准条件、风险要求和历史保护项。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Impact：解释路径、未解析边界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M：完整必验集合及判据修订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S105—S106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补齐资产并执行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根据缺口复用、调查或生成。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锁定计划后，在受控目标执行并归档原观察。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RunPlan：画像、M、脚本、构建、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环境、数据、执行批次和观察窗口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S107—S108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准入与增量回流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逐义务核验证据，发布前重验依赖。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来源差异与运行反馈经治理形成画像补丁。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Verdict：逐项判定及证据资格</a:t>
                      </a:r>
                    </a:p>
                    <a:p>
                      <a:r>
                        <a:rPr sz="187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Patch：父画像、变更及失效闭包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ofy9wn61-23">
            <a:extLst xmlns:a="http://schemas.openxmlformats.org/drawingml/2006/main">
              <a:ext uri="{FF2B5EF4-FFF2-40B4-BE49-F238E27FC236}">
                <a16:creationId xmlns:a16="http://schemas.microsoft.com/office/drawing/2014/main" id="{242A5FCE-9EF3-4CE6-96C7-4784B461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705600"/>
            <a:ext cx="1381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三个相互约束的候选保护点</a:t>
            </a:r>
          </a:p>
        </p:txBody>
      </p:sp>
      <p:sp>
        <p:nvSpPr>
          <p:cNvPr id="7" name="text-ofy9wn61-24">
            <a:extLst xmlns:a="http://schemas.openxmlformats.org/drawingml/2006/main">
              <a:ext uri="{FF2B5EF4-FFF2-40B4-BE49-F238E27FC236}">
                <a16:creationId xmlns:a16="http://schemas.microsoft.com/office/drawing/2014/main" id="{F8246869-6F6C-47E0-8B96-EA0AC5D0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162800"/>
            <a:ext cx="1381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① 验证目标反向完善关联画像     ② 完整义务与缺口驱动自主行动     ③ 目标证据与双增量回流</a:t>
            </a:r>
          </a:p>
        </p:txBody>
      </p:sp>
      <p:sp>
        <p:nvSpPr>
          <p:cNvPr id="8" name="text-ofy9wn61-25">
            <a:extLst xmlns:a="http://schemas.openxmlformats.org/drawingml/2006/main">
              <a:ext uri="{FF2B5EF4-FFF2-40B4-BE49-F238E27FC236}">
                <a16:creationId xmlns:a16="http://schemas.microsoft.com/office/drawing/2014/main" id="{920C8C28-901D-4130-B16D-890DFC71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77150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正式预期来自批准需求或契约。模型提出关联、行动和用例，规则校验决定其接纳与状态转换。</a:t>
            </a:r>
          </a:p>
        </p:txBody>
      </p:sp>
    </p:spTree>
    <p:extLst>
      <p:ext uri="{BB962C8B-B14F-4D97-AF65-F5344CB8AC3E}">
        <p14:creationId xmlns:p14="http://schemas.microsoft.com/office/powerpoint/2010/main" val="1561235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jyx0ra1s-26">
            <a:extLst xmlns:a="http://schemas.openxmlformats.org/drawingml/2006/main">
              <a:ext uri="{FF2B5EF4-FFF2-40B4-BE49-F238E27FC236}">
                <a16:creationId xmlns:a16="http://schemas.microsoft.com/office/drawing/2014/main" id="{7E57FF25-F02E-4D41-8F73-5A04E74C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保护点1：验证目标驱动的关联画像构建</a:t>
            </a:r>
          </a:p>
        </p:txBody>
      </p:sp>
      <p:sp>
        <p:nvSpPr>
          <p:cNvPr id="2" name="text-jyx0ra1s-27">
            <a:extLst xmlns:a="http://schemas.openxmlformats.org/drawingml/2006/main">
              <a:ext uri="{FF2B5EF4-FFF2-40B4-BE49-F238E27FC236}">
                <a16:creationId xmlns:a16="http://schemas.microsoft.com/office/drawing/2014/main" id="{47EDCF4C-7D8A-4EFD-B907-0336DA09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技术限定：关系具有版本和证据，变化按关系类型传播，验证缺口反向决定需要补充的画像内容。</a:t>
            </a:r>
          </a:p>
        </p:txBody>
      </p:sp>
      <p:sp>
        <p:nvSpPr>
          <p:cNvPr id="3" name="text-jyx0ra1s-28">
            <a:extLst xmlns:a="http://schemas.openxmlformats.org/drawingml/2006/main">
              <a:ext uri="{FF2B5EF4-FFF2-40B4-BE49-F238E27FC236}">
                <a16:creationId xmlns:a16="http://schemas.microsoft.com/office/drawing/2014/main" id="{753F8E4C-DCC1-4723-83B8-A906136F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jyx0ra1s-29">
            <a:extLst xmlns:a="http://schemas.openxmlformats.org/drawingml/2006/main">
              <a:ext uri="{FF2B5EF4-FFF2-40B4-BE49-F238E27FC236}">
                <a16:creationId xmlns:a16="http://schemas.microsoft.com/office/drawing/2014/main" id="{0D62D6E0-1ED5-4C01-B777-12E1494E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04 / 09</a:t>
            </a:r>
          </a:p>
        </p:txBody>
      </p:sp>
      <p:sp>
        <p:nvSpPr>
          <p:cNvPr id="5" name="text-jyx0ra1s-30">
            <a:extLst xmlns:a="http://schemas.openxmlformats.org/drawingml/2006/main">
              <a:ext uri="{FF2B5EF4-FFF2-40B4-BE49-F238E27FC236}">
                <a16:creationId xmlns:a16="http://schemas.microsoft.com/office/drawing/2014/main" id="{893E9FB3-1046-4A2C-8C47-04D9079C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关系对象与版本边界</a:t>
            </a:r>
          </a:p>
        </p:txBody>
      </p:sp>
      <p:sp>
        <p:nvSpPr>
          <p:cNvPr id="6" name="text-jyx0ra1s-31">
            <a:extLst xmlns:a="http://schemas.openxmlformats.org/drawingml/2006/main">
              <a:ext uri="{FF2B5EF4-FFF2-40B4-BE49-F238E27FC236}">
                <a16:creationId xmlns:a16="http://schemas.microsoft.com/office/drawing/2014/main" id="{467B7048-9C8F-4047-AF31-CE41B42E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38400"/>
            <a:ext cx="6762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节点：实体身份、类型、来源、修订。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关系：两端修订、类型、方向、字段/调用点、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适用条件、支持/反证、接纳状态。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画像：固定来源清单与节点、关系成员。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字段身份绑定服务、表或消息类型，避免同名误连。</a:t>
            </a:r>
          </a:p>
        </p:txBody>
      </p:sp>
      <p:sp>
        <p:nvSpPr>
          <p:cNvPr id="7" name="text-jyx0ra1s-32">
            <a:extLst xmlns:a="http://schemas.openxmlformats.org/drawingml/2006/main">
              <a:ext uri="{FF2B5EF4-FFF2-40B4-BE49-F238E27FC236}">
                <a16:creationId xmlns:a16="http://schemas.microsoft.com/office/drawing/2014/main" id="{6DAE1929-B2AE-4FCC-B80B-BF879F95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14825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构建及反向完善</a:t>
            </a:r>
          </a:p>
        </p:txBody>
      </p:sp>
      <p:sp>
        <p:nvSpPr>
          <p:cNvPr id="8" name="text-jyx0ra1s-33">
            <a:extLst xmlns:a="http://schemas.openxmlformats.org/drawingml/2006/main">
              <a:ext uri="{FF2B5EF4-FFF2-40B4-BE49-F238E27FC236}">
                <a16:creationId xmlns:a16="http://schemas.microsoft.com/office/drawing/2014/main" id="{1A105530-501E-4B82-86E1-82E4B128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43450"/>
            <a:ext cx="6762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AST 和契约解析提取调用、读写、接口及事件。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精确标识、全文/向量与邻接检索提出候选。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模型补充跨源关联，引用双方原文依据。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校验身份、端点修订、关系类型和否定记录，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按政策接纳。端点变化使原接受/拒绝重新评估。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4. 对业务路径检查触发、独立预期、观察、隔离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四个槽位。缺槽产生调查任务，补充后重新编译。</a:t>
            </a:r>
          </a:p>
        </p:txBody>
      </p:sp>
      <p:sp>
        <p:nvSpPr>
          <p:cNvPr id="9" name="text-jyx0ra1s-34">
            <a:extLst xmlns:a="http://schemas.openxmlformats.org/drawingml/2006/main">
              <a:ext uri="{FF2B5EF4-FFF2-40B4-BE49-F238E27FC236}">
                <a16:creationId xmlns:a16="http://schemas.microsoft.com/office/drawing/2014/main" id="{A7F95907-D10A-4E0A-B9C9-7D362B41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002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差异与影响传播算法</a:t>
            </a:r>
          </a:p>
        </p:txBody>
      </p:sp>
      <p:sp>
        <p:nvSpPr>
          <p:cNvPr id="10" name="text-jyx0ra1s-35">
            <a:extLst xmlns:a="http://schemas.openxmlformats.org/drawingml/2006/main">
              <a:ext uri="{FF2B5EF4-FFF2-40B4-BE49-F238E27FC236}">
                <a16:creationId xmlns:a16="http://schemas.microsoft.com/office/drawing/2014/main" id="{A9DDA61F-0676-4E9F-A4EF-2A2AC302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38400"/>
            <a:ext cx="666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比较双修订，完整采集才认定新增/删除。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前后画像分别遍历，按变化选择传播规则：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函数沿反向 CALLS 查调用者。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字段沿 WRITES、转换、READS 查消费者。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接口/事件沿契约与发布/订阅连接服务。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访问键含画像、实体修订、规则和字段范围，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去重后按沿革合并影响，不混接新旧路径。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4. 空召回登记查询范围。新增文件使该范围重评。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动态边界、采集缺失或截断则扩大验证或阻断。</a:t>
            </a:r>
          </a:p>
        </p:txBody>
      </p:sp>
      <p:sp>
        <p:nvSpPr>
          <p:cNvPr id="11" name="text-jyx0ra1s-36">
            <a:extLst xmlns:a="http://schemas.openxmlformats.org/drawingml/2006/main">
              <a:ext uri="{FF2B5EF4-FFF2-40B4-BE49-F238E27FC236}">
                <a16:creationId xmlns:a16="http://schemas.microsoft.com/office/drawing/2014/main" id="{A0A03545-28D2-4294-A42C-DBF1EA39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816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退款构造输出</a:t>
            </a:r>
          </a:p>
        </p:txBody>
      </p:sp>
      <p:sp>
        <p:nvSpPr>
          <p:cNvPr id="12" name="text-jyx0ra1s-37">
            <a:extLst xmlns:a="http://schemas.openxmlformats.org/drawingml/2006/main">
              <a:ext uri="{FF2B5EF4-FFF2-40B4-BE49-F238E27FC236}">
                <a16:creationId xmlns:a16="http://schemas.microsoft.com/office/drawing/2014/main" id="{7337ECD9-DACA-4310-9A96-0393C0DB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019800"/>
            <a:ext cx="666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新增回调文件命中原空查询，关联支付、订单、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账本与对账。输出重复回调、累计额度和状态一致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性义务。若 event_id 与账本业务键映射缺失，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先调查该映射，义务继续保留。</a:t>
            </a:r>
          </a:p>
        </p:txBody>
      </p:sp>
      <p:sp>
        <p:nvSpPr>
          <p:cNvPr id="13" name="text-jyx0ra1s-38">
            <a:extLst xmlns:a="http://schemas.openxmlformats.org/drawingml/2006/main">
              <a:ext uri="{FF2B5EF4-FFF2-40B4-BE49-F238E27FC236}">
                <a16:creationId xmlns:a16="http://schemas.microsoft.com/office/drawing/2014/main" id="{6FDFFDA4-A5A7-4A96-87B1-6275D8AF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572375"/>
            <a:ext cx="1381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作用机制：局部重解析与批量邻接减少重复工作，版本和范围依赖控制误连、旧关联及新增消费者遗漏。</a:t>
            </a:r>
          </a:p>
        </p:txBody>
      </p:sp>
    </p:spTree>
    <p:extLst>
      <p:ext uri="{BB962C8B-B14F-4D97-AF65-F5344CB8AC3E}">
        <p14:creationId xmlns:p14="http://schemas.microsoft.com/office/powerpoint/2010/main" val="14605886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i107q5of-39">
            <a:extLst xmlns:a="http://schemas.openxmlformats.org/drawingml/2006/main">
              <a:ext uri="{FF2B5EF4-FFF2-40B4-BE49-F238E27FC236}">
                <a16:creationId xmlns:a16="http://schemas.microsoft.com/office/drawing/2014/main" id="{FBC4CCBE-2F73-4486-AEF7-15406AB5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保护点2：完整义务与缺口驱动自主行动</a:t>
            </a:r>
          </a:p>
        </p:txBody>
      </p:sp>
      <p:sp>
        <p:nvSpPr>
          <p:cNvPr id="2" name="text-i107q5of-40">
            <a:extLst xmlns:a="http://schemas.openxmlformats.org/drawingml/2006/main">
              <a:ext uri="{FF2B5EF4-FFF2-40B4-BE49-F238E27FC236}">
                <a16:creationId xmlns:a16="http://schemas.microsoft.com/office/drawing/2014/main" id="{092989E0-46FB-421B-9B9C-321355E5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技术限定：检索、预算和资产淘汰都不能删除必验责任，Agent 围绕缺口持续调查、生成和执行。</a:t>
            </a:r>
          </a:p>
        </p:txBody>
      </p:sp>
      <p:sp>
        <p:nvSpPr>
          <p:cNvPr id="3" name="text-i107q5of-41">
            <a:extLst xmlns:a="http://schemas.openxmlformats.org/drawingml/2006/main">
              <a:ext uri="{FF2B5EF4-FFF2-40B4-BE49-F238E27FC236}">
                <a16:creationId xmlns:a16="http://schemas.microsoft.com/office/drawing/2014/main" id="{6E17EFF7-0931-454D-B1AD-8EFA23A1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i107q5of-42">
            <a:extLst xmlns:a="http://schemas.openxmlformats.org/drawingml/2006/main">
              <a:ext uri="{FF2B5EF4-FFF2-40B4-BE49-F238E27FC236}">
                <a16:creationId xmlns:a16="http://schemas.microsoft.com/office/drawing/2014/main" id="{7208DB76-85B3-4B1E-8229-8A57ABE3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05 / 09</a:t>
            </a:r>
          </a:p>
        </p:txBody>
      </p:sp>
      <p:sp>
        <p:nvSpPr>
          <p:cNvPr id="5" name="text-i107q5of-43">
            <a:extLst xmlns:a="http://schemas.openxmlformats.org/drawingml/2006/main">
              <a:ext uri="{FF2B5EF4-FFF2-40B4-BE49-F238E27FC236}">
                <a16:creationId xmlns:a16="http://schemas.microsoft.com/office/drawing/2014/main" id="{F7A08C10-F670-4054-A6B7-C4004169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固定输入与缺口对象</a:t>
            </a:r>
          </a:p>
        </p:txBody>
      </p:sp>
      <p:sp>
        <p:nvSpPr>
          <p:cNvPr id="6" name="text-i107q5of-44">
            <a:extLst xmlns:a="http://schemas.openxmlformats.org/drawingml/2006/main">
              <a:ext uri="{FF2B5EF4-FFF2-40B4-BE49-F238E27FC236}">
                <a16:creationId xmlns:a16="http://schemas.microsoft.com/office/drawing/2014/main" id="{6B46D2A0-7143-4901-8ABE-23FB1715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38400"/>
            <a:ext cx="67627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Contract 固定画像、范围、完整义务摘要、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目标构建和政策。Gap 保存义务ID、缺失槽位、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关闭条件及已尝试动作。GenerationEnvelope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包含义务、原预期、路径、观察点和复用资产。</a:t>
            </a:r>
          </a:p>
        </p:txBody>
      </p:sp>
      <p:sp>
        <p:nvSpPr>
          <p:cNvPr id="7" name="text-i107q5of-45">
            <a:extLst xmlns:a="http://schemas.openxmlformats.org/drawingml/2006/main">
              <a:ext uri="{FF2B5EF4-FFF2-40B4-BE49-F238E27FC236}">
                <a16:creationId xmlns:a16="http://schemas.microsoft.com/office/drawing/2014/main" id="{492AAEFC-516A-4381-9A9C-CF456722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33825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完整义务编译与生成算法</a:t>
            </a:r>
          </a:p>
        </p:txBody>
      </p:sp>
      <p:sp>
        <p:nvSpPr>
          <p:cNvPr id="8" name="text-i107q5of-46">
            <a:extLst xmlns:a="http://schemas.openxmlformats.org/drawingml/2006/main">
              <a:ext uri="{FF2B5EF4-FFF2-40B4-BE49-F238E27FC236}">
                <a16:creationId xmlns:a16="http://schemas.microsoft.com/office/drawing/2014/main" id="{2EADB8FF-FF60-4CE7-93C8-FB6F0EC3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62450"/>
            <a:ext cx="67627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M = 批准条件 ∪ 风险项 ∪ 历史保护 ∪ 全局规则。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图谱缺边或没有用例，均保留对应义务。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精确、全文、向量和邻接检索只补充辅助材料，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先按版本、权限及关系适用性筛选，再排序截取。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联合条件形成不可分单元，全局规则进入每包。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先放必需内容，再放可选材料。超限明确阻断。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4. 校验原预期、引用及用例/步骤/断言映射。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每项义务必须得到用例或明确缺口，重复映射去重。</a:t>
            </a:r>
          </a:p>
        </p:txBody>
      </p:sp>
      <p:sp>
        <p:nvSpPr>
          <p:cNvPr id="9" name="text-i107q5of-47">
            <a:extLst xmlns:a="http://schemas.openxmlformats.org/drawingml/2006/main">
              <a:ext uri="{FF2B5EF4-FFF2-40B4-BE49-F238E27FC236}">
                <a16:creationId xmlns:a16="http://schemas.microsoft.com/office/drawing/2014/main" id="{BC2D3388-8F03-4148-9F3E-F59F6FD1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002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缺口调度与状态转换</a:t>
            </a:r>
          </a:p>
        </p:txBody>
      </p:sp>
      <p:sp>
        <p:nvSpPr>
          <p:cNvPr id="10" name="text-i107q5of-48">
            <a:extLst xmlns:a="http://schemas.openxmlformats.org/drawingml/2006/main">
              <a:ext uri="{FF2B5EF4-FFF2-40B4-BE49-F238E27FC236}">
                <a16:creationId xmlns:a16="http://schemas.microsoft.com/office/drawing/2014/main" id="{F4BB5F4C-71B6-4083-BD33-05030C53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38400"/>
            <a:ext cx="666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关系/观察未知：定向读源、查询和诊断。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预期缺失：等待权威输入，不从代码自造预期。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缺资产：复用适用步骤，补充用例与脚本。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缺目标证据：固定 RunPlan 后执行。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调用前预留模型及工具预算，持久保存派发身份。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原始结果满足关闭条件，才推进缺口状态。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4. 派发未知先恢复原结果，避免重复业务请求。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预算耗尽或无有效进展暂停，保留未兑现义务。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新契约和修复构建沿用原目标预算及失败历史。</a:t>
            </a:r>
          </a:p>
        </p:txBody>
      </p:sp>
      <p:sp>
        <p:nvSpPr>
          <p:cNvPr id="11" name="text-i107q5of-49">
            <a:extLst xmlns:a="http://schemas.openxmlformats.org/drawingml/2006/main">
              <a:ext uri="{FF2B5EF4-FFF2-40B4-BE49-F238E27FC236}">
                <a16:creationId xmlns:a16="http://schemas.microsoft.com/office/drawing/2014/main" id="{08FD777C-673F-4D5B-9A5C-F4E9D9E8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816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退款构造输出</a:t>
            </a:r>
          </a:p>
        </p:txBody>
      </p:sp>
      <p:sp>
        <p:nvSpPr>
          <p:cNvPr id="12" name="text-i107q5of-50">
            <a:extLst xmlns:a="http://schemas.openxmlformats.org/drawingml/2006/main">
              <a:ext uri="{FF2B5EF4-FFF2-40B4-BE49-F238E27FC236}">
                <a16:creationId xmlns:a16="http://schemas.microsoft.com/office/drawing/2014/main" id="{28504A6F-8AD9-44F9-A714-2D4369FB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019800"/>
            <a:ext cx="666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O7：同一事件双回调只记账一次。调查确认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事件与退款业务键，生成双回调及完整账本查询。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待审阅断言：记录数=1，金额合计=6000分。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每条断言绑定 O7、原预期及对应执行步骤。</a:t>
            </a:r>
          </a:p>
        </p:txBody>
      </p:sp>
      <p:sp>
        <p:nvSpPr>
          <p:cNvPr id="13" name="text-i107q5of-51">
            <a:extLst xmlns:a="http://schemas.openxmlformats.org/drawingml/2006/main">
              <a:ext uri="{FF2B5EF4-FFF2-40B4-BE49-F238E27FC236}">
                <a16:creationId xmlns:a16="http://schemas.microsoft.com/office/drawing/2014/main" id="{B7C44149-BDED-4C71-AFA1-043D096B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572375"/>
            <a:ext cx="1381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作用机制：义务分母跨检索和生成保持完整，具体缺口限定下一步动作，减少遗漏与无目标的重复生成。</a:t>
            </a:r>
          </a:p>
        </p:txBody>
      </p:sp>
    </p:spTree>
    <p:extLst>
      <p:ext uri="{BB962C8B-B14F-4D97-AF65-F5344CB8AC3E}">
        <p14:creationId xmlns:p14="http://schemas.microsoft.com/office/powerpoint/2010/main" val="1838297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x8f69ofe-52">
            <a:extLst xmlns:a="http://schemas.openxmlformats.org/drawingml/2006/main">
              <a:ext uri="{FF2B5EF4-FFF2-40B4-BE49-F238E27FC236}">
                <a16:creationId xmlns:a16="http://schemas.microsoft.com/office/drawing/2014/main" id="{9941E624-A9B7-4BDE-89E8-F33FDA2D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保护点3：目标证据准入与双增量回流</a:t>
            </a:r>
          </a:p>
        </p:txBody>
      </p:sp>
      <p:sp>
        <p:nvSpPr>
          <p:cNvPr id="2" name="text-x8f69ofe-53">
            <a:extLst xmlns:a="http://schemas.openxmlformats.org/drawingml/2006/main">
              <a:ext uri="{FF2B5EF4-FFF2-40B4-BE49-F238E27FC236}">
                <a16:creationId xmlns:a16="http://schemas.microsoft.com/office/drawing/2014/main" id="{403A7663-887D-4513-8E0D-4A27EB69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技术限定：原始观察满足固定义务才形成有效通过，来源变化与运行反例共同更新画像和结论适用性。</a:t>
            </a:r>
          </a:p>
        </p:txBody>
      </p:sp>
      <p:sp>
        <p:nvSpPr>
          <p:cNvPr id="3" name="text-x8f69ofe-54">
            <a:extLst xmlns:a="http://schemas.openxmlformats.org/drawingml/2006/main">
              <a:ext uri="{FF2B5EF4-FFF2-40B4-BE49-F238E27FC236}">
                <a16:creationId xmlns:a16="http://schemas.microsoft.com/office/drawing/2014/main" id="{20768944-811D-4CD2-9813-8A68168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x8f69ofe-55">
            <a:extLst xmlns:a="http://schemas.openxmlformats.org/drawingml/2006/main">
              <a:ext uri="{FF2B5EF4-FFF2-40B4-BE49-F238E27FC236}">
                <a16:creationId xmlns:a16="http://schemas.microsoft.com/office/drawing/2014/main" id="{CBE340F9-BE24-4146-88E8-7CF08619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06 / 09</a:t>
            </a:r>
          </a:p>
        </p:txBody>
      </p:sp>
      <p:sp>
        <p:nvSpPr>
          <p:cNvPr id="5" name="text-x8f69ofe-56">
            <a:extLst xmlns:a="http://schemas.openxmlformats.org/drawingml/2006/main">
              <a:ext uri="{FF2B5EF4-FFF2-40B4-BE49-F238E27FC236}">
                <a16:creationId xmlns:a16="http://schemas.microsoft.com/office/drawing/2014/main" id="{23337A8F-9B38-4C43-9756-19863E28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025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执行绑定与证据接纳</a:t>
            </a:r>
          </a:p>
        </p:txBody>
      </p:sp>
      <p:sp>
        <p:nvSpPr>
          <p:cNvPr id="6" name="text-x8f69ofe-57">
            <a:extLst xmlns:a="http://schemas.openxmlformats.org/drawingml/2006/main">
              <a:ext uri="{FF2B5EF4-FFF2-40B4-BE49-F238E27FC236}">
                <a16:creationId xmlns:a16="http://schemas.microsoft.com/office/drawing/2014/main" id="{32B8AE0F-D2D9-4A65-8959-51BEFB94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38400"/>
            <a:ext cx="6762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RunPlan 固定画像、M、脚本、目标构建、环境、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数据、执行批次和判据。Evidence 保留实际服务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实例、业务键、时间窗、原始响应及查询完整性。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服务端枚举全部 run/attempt/claim/outcome，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固定库存代际，调用者不能只送审成功记录。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核验实际构建、环境及前置状态，再从原观察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重算 count/sum/eq/eventually 等判据。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联合条件使用同一业务键和观察窗口。完整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观察证明超期判失败，缺失观察保持未知。</a:t>
            </a:r>
          </a:p>
        </p:txBody>
      </p:sp>
      <p:sp>
        <p:nvSpPr>
          <p:cNvPr id="7" name="text-x8f69ofe-58">
            <a:extLst xmlns:a="http://schemas.openxmlformats.org/drawingml/2006/main">
              <a:ext uri="{FF2B5EF4-FFF2-40B4-BE49-F238E27FC236}">
                <a16:creationId xmlns:a16="http://schemas.microsoft.com/office/drawing/2014/main" id="{3C3A8714-0B4B-4B1B-B331-EC1B230D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81650"/>
            <a:ext cx="676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准入条件与提交重验</a:t>
            </a:r>
          </a:p>
        </p:txBody>
      </p:sp>
      <p:sp>
        <p:nvSpPr>
          <p:cNvPr id="8" name="text-x8f69ofe-59">
            <a:extLst xmlns:a="http://schemas.openxmlformats.org/drawingml/2006/main">
              <a:ext uri="{FF2B5EF4-FFF2-40B4-BE49-F238E27FC236}">
                <a16:creationId xmlns:a16="http://schemas.microsoft.com/office/drawing/2014/main" id="{F116CBC3-0E4E-41DD-BF48-8B6B0A6C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19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质量门禁要求 M 全部有效通过、发布风险已分类，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无未决执行/关键冲突，且Q达到固定政策阈值。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证据满足度Q按固定权重计算，高分不抵消必验缺口。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签发和消费许可时重验构建、批准与依赖代际，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在同一条件状态转换中检查操作授权。</a:t>
            </a:r>
          </a:p>
        </p:txBody>
      </p:sp>
      <p:sp>
        <p:nvSpPr>
          <p:cNvPr id="9" name="text-x8f69ofe-60">
            <a:extLst xmlns:a="http://schemas.openxmlformats.org/drawingml/2006/main">
              <a:ext uri="{FF2B5EF4-FFF2-40B4-BE49-F238E27FC236}">
                <a16:creationId xmlns:a16="http://schemas.microsoft.com/office/drawing/2014/main" id="{8E1734F5-8BA9-4671-951C-4C6D68DF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002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双增量更新算法</a:t>
            </a:r>
          </a:p>
        </p:txBody>
      </p:sp>
      <p:sp>
        <p:nvSpPr>
          <p:cNvPr id="10" name="text-x8f69ofe-61">
            <a:extLst xmlns:a="http://schemas.openxmlformats.org/drawingml/2006/main">
              <a:ext uri="{FF2B5EF4-FFF2-40B4-BE49-F238E27FC236}">
                <a16:creationId xmlns:a16="http://schemas.microsoft.com/office/drawing/2014/main" id="{A98203D9-9AC9-42B2-98B2-83666CA9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38400"/>
            <a:ext cx="6667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1. 输入来源双修订差异和新增运行反例。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来源头变化同步建立失效屏障，再沿关系、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义务、计划、判定和许可传播失效。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2. Patch 绑定父画像、变更依据、受影响义务及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旧证据资格撤销项。校验端点和权威修订后提交。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3. 比较预期画像头、来源/批准和库存代际，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条件提交新画像、依赖和失效记录。竞争则重评。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4. 只追加观察可撤销判定，不自动重建契约。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   实际依赖变化才生成新契约，运行结果不改预期。</a:t>
            </a:r>
          </a:p>
        </p:txBody>
      </p:sp>
      <p:sp>
        <p:nvSpPr>
          <p:cNvPr id="11" name="text-x8f69ofe-62">
            <a:extLst xmlns:a="http://schemas.openxmlformats.org/drawingml/2006/main">
              <a:ext uri="{FF2B5EF4-FFF2-40B4-BE49-F238E27FC236}">
                <a16:creationId xmlns:a16="http://schemas.microsoft.com/office/drawing/2014/main" id="{847E1B68-03D7-4CCC-94D6-6FED4D1C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816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退款构造输出</a:t>
            </a:r>
          </a:p>
        </p:txBody>
      </p:sp>
      <p:sp>
        <p:nvSpPr>
          <p:cNvPr id="12" name="text-x8f69ofe-63">
            <a:extLst xmlns:a="http://schemas.openxmlformats.org/drawingml/2006/main">
              <a:ext uri="{FF2B5EF4-FFF2-40B4-BE49-F238E27FC236}">
                <a16:creationId xmlns:a16="http://schemas.microsoft.com/office/drawing/2014/main" id="{AF3ABB32-FE62-4769-BB37-1E5043A3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019800"/>
            <a:ext cx="666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B2 同事件产生两笔各6000分记账，O5/O7失败。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同构建后来的成功不能掩盖该有效反例。修复 B3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须用新计划与新证据重判，历史失败保留。</a:t>
            </a:r>
          </a:p>
          <a:p xmlns:a="http://schemas.openxmlformats.org/drawingml/2006/main">
            <a:pPr algn="l">
              <a:def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失效传播截断则维持屏障，阻止带缺口放行。</a:t>
            </a:r>
          </a:p>
        </p:txBody>
      </p:sp>
      <p:sp>
        <p:nvSpPr>
          <p:cNvPr id="13" name="text-x8f69ofe-64">
            <a:extLst xmlns:a="http://schemas.openxmlformats.org/drawingml/2006/main">
              <a:ext uri="{FF2B5EF4-FFF2-40B4-BE49-F238E27FC236}">
                <a16:creationId xmlns:a16="http://schemas.microsoft.com/office/drawing/2014/main" id="{2AF2347B-D392-4E02-9BB1-3389D4AC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572375"/>
            <a:ext cx="1381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作用机制：证据资格随目标和依赖变化失效，准入重验处理发布竞争，历史结论与当前可用性分别保存。</a:t>
            </a:r>
          </a:p>
        </p:txBody>
      </p:sp>
    </p:spTree>
    <p:extLst>
      <p:ext uri="{BB962C8B-B14F-4D97-AF65-F5344CB8AC3E}">
        <p14:creationId xmlns:p14="http://schemas.microsoft.com/office/powerpoint/2010/main" val="876287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gnmp4jqx-65">
            <a:extLst xmlns:a="http://schemas.openxmlformats.org/drawingml/2006/main">
              <a:ext uri="{FF2B5EF4-FFF2-40B4-BE49-F238E27FC236}">
                <a16:creationId xmlns:a16="http://schemas.microsoft.com/office/drawing/2014/main" id="{1DBA78C3-DED0-48BF-A6F5-7E6B8977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两轮退款推演：三个保护点如何共同产生效果</a:t>
            </a:r>
          </a:p>
        </p:txBody>
      </p:sp>
      <p:sp>
        <p:nvSpPr>
          <p:cNvPr id="2" name="text-gnmp4jqx-66">
            <a:extLst xmlns:a="http://schemas.openxmlformats.org/drawingml/2006/main">
              <a:ext uri="{FF2B5EF4-FFF2-40B4-BE49-F238E27FC236}">
                <a16:creationId xmlns:a16="http://schemas.microsoft.com/office/drawing/2014/main" id="{FEB35270-94A9-4571-BF10-C74627A1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构造示例，非真实实验。隔离订单、支付模拟、受控身份和只读账本核对，观察窗口由批准判据固定。</a:t>
            </a:r>
          </a:p>
        </p:txBody>
      </p:sp>
      <p:sp>
        <p:nvSpPr>
          <p:cNvPr id="3" name="text-gnmp4jqx-67">
            <a:extLst xmlns:a="http://schemas.openxmlformats.org/drawingml/2006/main">
              <a:ext uri="{FF2B5EF4-FFF2-40B4-BE49-F238E27FC236}">
                <a16:creationId xmlns:a16="http://schemas.microsoft.com/office/drawing/2014/main" id="{1464A5D7-70DE-4303-A6D5-22FAF9FA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gnmp4jqx-68">
            <a:extLst xmlns:a="http://schemas.openxmlformats.org/drawingml/2006/main">
              <a:ext uri="{FF2B5EF4-FFF2-40B4-BE49-F238E27FC236}">
                <a16:creationId xmlns:a16="http://schemas.microsoft.com/office/drawing/2014/main" id="{D8C286F9-4522-43A8-BCEE-D2DB1884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07 / 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AC68D-699F-4DFB-A52F-7B22D219A183}"/>
              </a:ext>
            </a:extLst>
          </p:cNvPr>
          <p:cNvGraphicFramePr/>
          <p:nvPr/>
        </p:nvGraphicFramePr>
        <p:xfrm>
          <a:off xmlns:a="http://schemas.openxmlformats.org/drawingml/2006/main" x="666750" y="2038350"/>
          <a:ext xmlns:a="http://schemas.openxmlformats.org/drawingml/2006/main" cx="13906500" cy="53530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476500"/>
                <a:gridCol w="3524250"/>
                <a:gridCol w="4524375"/>
                <a:gridCol w="3381375"/>
              </a:tblGrid>
              <a:tr h="5524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阶段与固定输入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画像和必验集合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行动、观察与判定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体现的技术效果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504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第一轮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全额改为部分退款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 I1、目标 B1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O1部分退款，O2并发额度，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O3请求幂等，O4权限，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O5跨服务状态与账本一致。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复用原步骤，补充额度和账本断言。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原用例只有HTTP成功，仍记录缺口。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假设全部义务有效通过，固定政策、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授权及重验满足后才进入发布流程。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P1发现跨服务观察缺口。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P2保留旧用例缺失的义务，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按缺口补充，减少重复生成。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7907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第二轮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改为异步回调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 I2、目标 B2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新增文件触发原空范围重评。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承接适用的O1—O5，新增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O6异步收敛、O7回调幂等。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相同事件两次完成回调，同一退款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出现两笔各6000分记账。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期望count=1、sum=6000分，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观察count=2、sum=12000分。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P1捕获新增消费者影响。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P2生成双回调验证。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P3判O5/O7失败并阻断，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HTTP成功仍需核验账本。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5049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修复与下一轮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新构建 B3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新计划、新证据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义务保留并重验依赖，按实际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变化创建契约及画像修订。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B2失败记录继续保留。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重新执行适用于B3的全部必验项。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仅当证据完整且所有义务有效通过，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再检查风险政策、授权及发布竞争。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未完成观察为未知，继续阻断。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P3隔离旧成功与当前资格，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反例经治理成为回归保护项。</a:t>
                      </a:r>
                    </a:p>
                    <a:p>
                      <a:r>
                        <a:rPr sz="1800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复用资产，重新获取证据。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gnmp4jqx-69">
            <a:extLst xmlns:a="http://schemas.openxmlformats.org/drawingml/2006/main">
              <a:ext uri="{FF2B5EF4-FFF2-40B4-BE49-F238E27FC236}">
                <a16:creationId xmlns:a16="http://schemas.microsoft.com/office/drawing/2014/main" id="{3640E58B-B317-43A4-BBB8-1F1945D6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58100"/>
            <a:ext cx="1381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每项判定都能追溯到：义务及批准修订、用例步骤、RunPlan、目标实例、原始观察和评估器修订。</a:t>
            </a:r>
          </a:p>
        </p:txBody>
      </p:sp>
    </p:spTree>
    <p:extLst>
      <p:ext uri="{BB962C8B-B14F-4D97-AF65-F5344CB8AC3E}">
        <p14:creationId xmlns:p14="http://schemas.microsoft.com/office/powerpoint/2010/main" val="9267904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fu1gfa1s-70">
            <a:extLst xmlns:a="http://schemas.openxmlformats.org/drawingml/2006/main">
              <a:ext uri="{FF2B5EF4-FFF2-40B4-BE49-F238E27FC236}">
                <a16:creationId xmlns:a16="http://schemas.microsoft.com/office/drawing/2014/main" id="{D1DF7A00-D319-4C4C-8C60-D64E4BFB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技术效果、评价指标与实现边界</a:t>
            </a:r>
          </a:p>
        </p:txBody>
      </p:sp>
      <p:sp>
        <p:nvSpPr>
          <p:cNvPr id="2" name="text-fu1gfa1s-71">
            <a:extLst xmlns:a="http://schemas.openxmlformats.org/drawingml/2006/main">
              <a:ext uri="{FF2B5EF4-FFF2-40B4-BE49-F238E27FC236}">
                <a16:creationId xmlns:a16="http://schemas.microsoft.com/office/drawing/2014/main" id="{94008C92-955D-4DAF-937D-5C30A86F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效果来自具体约束机制。当前没有完整闭环的端到端实测收益，不填写效率提升或准确率百分比。</a:t>
            </a:r>
          </a:p>
        </p:txBody>
      </p:sp>
      <p:sp>
        <p:nvSpPr>
          <p:cNvPr id="3" name="text-fu1gfa1s-72">
            <a:extLst xmlns:a="http://schemas.openxmlformats.org/drawingml/2006/main">
              <a:ext uri="{FF2B5EF4-FFF2-40B4-BE49-F238E27FC236}">
                <a16:creationId xmlns:a16="http://schemas.microsoft.com/office/drawing/2014/main" id="{7C9211BE-92CF-4C9A-BC73-1CFDE9E0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fu1gfa1s-73">
            <a:extLst xmlns:a="http://schemas.openxmlformats.org/drawingml/2006/main">
              <a:ext uri="{FF2B5EF4-FFF2-40B4-BE49-F238E27FC236}">
                <a16:creationId xmlns:a16="http://schemas.microsoft.com/office/drawing/2014/main" id="{59A5173E-120B-4BB7-8B7A-9F231A21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08 / 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0F0A1-430B-4376-AC89-379769A8851A}"/>
              </a:ext>
            </a:extLst>
          </p:cNvPr>
          <p:cNvGraphicFramePr/>
          <p:nvPr/>
        </p:nvGraphicFramePr>
        <p:xfrm>
          <a:off xmlns:a="http://schemas.openxmlformats.org/drawingml/2006/main" x="666750" y="2000250"/>
          <a:ext xmlns:a="http://schemas.openxmlformats.org/drawingml/2006/main" cx="13906500" cy="40862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048000"/>
                <a:gridCol w="6000750"/>
                <a:gridCol w="4857750"/>
              </a:tblGrid>
              <a:tr h="504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原有问题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技术机制与效果表现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评价指标及口径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重复理解、重分析成本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局部重解析、版本资产复用、批量邻接查询，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按缺口补充材料，减少重复分析与生成。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变更到准入结论的p95耗时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重解析对象数、扫描边数、tokens及查询p95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新增影响和必验条件遗漏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范围依赖捕获新增消费者，完整义务跨阶段保留，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缺边和预算不足显式暴露，控制漏选。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影响漏选率=漏选应选测试/全部应选测试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同时报告过度选测与缺陷检出率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无效证据或旧成功支撑放行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完整执行库存、实际构建绑定、判据重算和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提交重验，阻止缺证据及版本混用准入。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误接纳率=接纳的无效证据/送审无效证据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错误准入率=错误放行轮次/应阻断轮次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953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画像更新后旧结论仍可用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来源及观察双增量联动证据资格，保留历史内容，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减少人工核对依赖和重新解释旧结果。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失效识别及重评时延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历史复核一致性、关键路径缺口识别率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fu1gfa1s-74">
            <a:extLst xmlns:a="http://schemas.openxmlformats.org/drawingml/2006/main">
              <a:ext uri="{FF2B5EF4-FFF2-40B4-BE49-F238E27FC236}">
                <a16:creationId xmlns:a16="http://schemas.microsoft.com/office/drawing/2014/main" id="{EA09658E-AEC9-42E8-9BBC-975F53B7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286500"/>
            <a:ext cx="190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评价口径</a:t>
            </a:r>
          </a:p>
        </p:txBody>
      </p:sp>
      <p:sp>
        <p:nvSpPr>
          <p:cNvPr id="7" name="text-fu1gfa1s-75">
            <a:extLst xmlns:a="http://schemas.openxmlformats.org/drawingml/2006/main">
              <a:ext uri="{FF2B5EF4-FFF2-40B4-BE49-F238E27FC236}">
                <a16:creationId xmlns:a16="http://schemas.microsoft.com/office/drawing/2014/main" id="{DE1D8E4D-70D3-4851-B1E4-AD442955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296025"/>
            <a:ext cx="11763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相同变更和独立标注下，对照全量回归、常规影响选测、本方案及机制消融，同时报告耗时与质量。</a:t>
            </a:r>
          </a:p>
        </p:txBody>
      </p:sp>
      <p:sp>
        <p:nvSpPr>
          <p:cNvPr id="8" name="text-fu1gfa1s-76">
            <a:extLst xmlns:a="http://schemas.openxmlformats.org/drawingml/2006/main">
              <a:ext uri="{FF2B5EF4-FFF2-40B4-BE49-F238E27FC236}">
                <a16:creationId xmlns:a16="http://schemas.microsoft.com/office/drawing/2014/main" id="{2E3620D8-BCDE-478A-B48B-022495E0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86575"/>
            <a:ext cx="190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007F83"/>
                </a:solidFill>
                <a:latin typeface="Arial Unicode MS"/>
                <a:ea typeface="Arial Unicode MS"/>
                <a:cs typeface="Arial Unicode MS"/>
              </a:rPr>
              <a:t>实现边界</a:t>
            </a:r>
          </a:p>
        </p:txBody>
      </p:sp>
      <p:sp>
        <p:nvSpPr>
          <p:cNvPr id="9" name="text-fu1gfa1s-77">
            <a:extLst xmlns:a="http://schemas.openxmlformats.org/drawingml/2006/main">
              <a:ext uri="{FF2B5EF4-FFF2-40B4-BE49-F238E27FC236}">
                <a16:creationId xmlns:a16="http://schemas.microsoft.com/office/drawing/2014/main" id="{B6F6795E-0F1D-44C6-9C8A-9FE2278A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877050"/>
            <a:ext cx="1176337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已有来源修订、关系适用性、完整分包、生成校验及HTTP原始观察归档。</a:t>
            </a:r>
          </a:p>
          <a:p xmlns:a="http://schemas.openxmlformats.org/drawingml/2006/main">
            <a:pPr algn="l">
              <a:def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203849"/>
                </a:solidFill>
                <a:latin typeface="Arial Unicode MS"/>
                <a:ea typeface="Arial Unicode MS"/>
                <a:cs typeface="Arial Unicode MS"/>
              </a:rPr>
              <a:t>跨服务义务编译、自主补证、正式目标判定、准入与双增量回流尚未全部贯通。</a:t>
            </a:r>
          </a:p>
        </p:txBody>
      </p:sp>
      <p:sp>
        <p:nvSpPr>
          <p:cNvPr id="10" name="text-fu1gfa1s-78">
            <a:extLst xmlns:a="http://schemas.openxmlformats.org/drawingml/2006/main">
              <a:ext uri="{FF2B5EF4-FFF2-40B4-BE49-F238E27FC236}">
                <a16:creationId xmlns:a16="http://schemas.microsoft.com/office/drawing/2014/main" id="{CC3814FF-DAEC-45FA-A90B-5F3E64CF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67625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存储方案：PostgreSQL关系表和批量遍历。图数据库可按压测引入查询投影，目前无最终性能结论。</a:t>
            </a:r>
          </a:p>
        </p:txBody>
      </p:sp>
    </p:spTree>
    <p:extLst>
      <p:ext uri="{BB962C8B-B14F-4D97-AF65-F5344CB8AC3E}">
        <p14:creationId xmlns:p14="http://schemas.microsoft.com/office/powerpoint/2010/main" val="12724356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udsvah03-79">
            <a:extLst xmlns:a="http://schemas.openxmlformats.org/drawingml/2006/main">
              <a:ext uri="{FF2B5EF4-FFF2-40B4-BE49-F238E27FC236}">
                <a16:creationId xmlns:a16="http://schemas.microsoft.com/office/drawing/2014/main" id="{E51566D4-94D3-43DB-9ED0-B5E18260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3944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102C43"/>
                </a:solidFill>
                <a:latin typeface="Arial Unicode MS"/>
                <a:ea typeface="Arial Unicode MS"/>
                <a:cs typeface="Arial Unicode MS"/>
              </a:rPr>
              <a:t>相关专利检索与逐项对照</a:t>
            </a:r>
          </a:p>
        </p:txBody>
      </p:sp>
      <p:sp>
        <p:nvSpPr>
          <p:cNvPr id="2" name="text-udsvah03-80">
            <a:extLst xmlns:a="http://schemas.openxmlformats.org/drawingml/2006/main">
              <a:ext uri="{FF2B5EF4-FFF2-40B4-BE49-F238E27FC236}">
                <a16:creationId xmlns:a16="http://schemas.microsoft.com/office/drawing/2014/main" id="{6A6A22D0-4BDA-4AC0-B72A-C9E3662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3887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核查日 2026.10.29。按公开号定向回查公开文本，核对日期、权项及 A/B 文本差异。</a:t>
            </a:r>
          </a:p>
        </p:txBody>
      </p:sp>
      <p:sp>
        <p:nvSpPr>
          <p:cNvPr id="3" name="text-udsvah03-81">
            <a:extLst xmlns:a="http://schemas.openxmlformats.org/drawingml/2006/main">
              <a:ext uri="{FF2B5EF4-FFF2-40B4-BE49-F238E27FC236}">
                <a16:creationId xmlns:a16="http://schemas.microsoft.com/office/drawing/2014/main" id="{62553C4B-1A72-4FE9-B5ED-82CFFA44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34350"/>
            <a:ext cx="1200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Nasus 专利申请评审稿    2026.10.29</a:t>
            </a:r>
          </a:p>
        </p:txBody>
      </p:sp>
      <p:sp>
        <p:nvSpPr>
          <p:cNvPr id="4" name="text-udsvah03-82">
            <a:extLst xmlns:a="http://schemas.openxmlformats.org/drawingml/2006/main">
              <a:ext uri="{FF2B5EF4-FFF2-40B4-BE49-F238E27FC236}">
                <a16:creationId xmlns:a16="http://schemas.microsoft.com/office/drawing/2014/main" id="{4FD3F0C0-C12D-42E9-A7EB-963C861F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81057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09 / 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48B9C-C029-4707-B9EF-3B50EF0CEB8C}"/>
              </a:ext>
            </a:extLst>
          </p:cNvPr>
          <p:cNvGraphicFramePr/>
          <p:nvPr/>
        </p:nvGraphicFramePr>
        <p:xfrm>
          <a:off xmlns:a="http://schemas.openxmlformats.org/drawingml/2006/main" x="666750" y="2038350"/>
          <a:ext xmlns:a="http://schemas.openxmlformats.org/drawingml/2006/main" cx="13906500" cy="4933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3143250"/>
                <a:gridCol w="4191000"/>
                <a:gridCol w="3333750"/>
              </a:tblGrid>
              <a:tr h="5524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编号、日期与位置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已公开机制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本方案比较的具体限定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来源地址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T w="6668">
                      <a:solidFill>
                        <a:srgbClr val="DCE4E9"/>
                      </a:solidFill>
                      <a:prstDash val="solid"/>
                    </a:lnT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102C43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30c4846165d84883"/>
                        </a:rPr>
                        <a:t>US20260072811A1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2026-03-12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权147—148、156—157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代码差异、依赖图与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历史覆盖选测。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继续编译业务验证义务，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识别未建用例、断言及证据缺口。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c5be7275915a4464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6c9bd00a5c894cd5"/>
                        </a:rPr>
                        <a:t>US20260072811A1/en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eddd4adb158241a5"/>
                        </a:rPr>
                        <a:t>CN121935166A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2026-04-28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权1—3、6—7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动态图谱、控制/数据流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影响、风险选路径及反馈。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完整义务跨阶段保持，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关系更新联动证据资格及准入。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3b6f83060a0f4814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b19b1129708845e2"/>
                        </a:rPr>
                        <a:t>CN121935166A/zh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8abc5713781c48cd"/>
                        </a:rPr>
                        <a:t>CN121996618A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2026-05-08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权1、2、5—7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向量与图邻域检索，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版本对齐、证据包与复核。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Top-K不删必验项，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空召回及范围变化触发重分析。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5d4cd510e1084d1c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f714124403224a35"/>
                        </a:rPr>
                        <a:t>CN121996618A/zh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9537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614594fa96144878"/>
                        </a:rPr>
                        <a:t>CN122044758A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2026-05-15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权1、4—10</a:t>
                      </a:r>
                    </a:p>
                  </a:txBody>
                  <a:tcPr marL="161925" marR="161925" marT="123825" marB="85725" anchor="t">
                    <a:lnL w="6668">
                      <a:solidFill>
                        <a:srgbClr val="DCE4E9"/>
                      </a:solidFill>
                      <a:prstDash val="solid"/>
                    </a:lnL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事件驱动门禁、环境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快照、阈值放行及重测。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同一画像与义务绑定目标证据，</a:t>
                      </a:r>
                    </a:p>
                    <a:p>
                      <a:r>
                        <a:rPr sz="1725" b="0">
                          <a:solidFill>
                            <a:srgbClr val="203849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双增量补丁联动结论适用性。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5d44267b924c40a8"/>
                        </a:rPr>
                        <a:t>patents.google.com/patent/</a:t>
                      </a:r>
                    </a:p>
                    <a:p>
                      <a:r>
                        <a:rPr sz="1500" b="0">
                          <a:solidFill>
                            <a:srgbClr val="007F83"/>
                          </a:solidFill>
                          <a:latin typeface="Arial Unicode MS"/>
                          <a:ea typeface="Arial Unicode MS"/>
                          <a:cs typeface="Arial Unicode MS"/>
                          <a:hlinkClick xmlns:r="http://schemas.openxmlformats.org/officeDocument/2006/relationships" r:id="R75254a88bfe54bcc"/>
                        </a:rPr>
                        <a:t>CN122044758A/zh</a:t>
                      </a:r>
                    </a:p>
                  </a:txBody>
                  <a:tcPr marL="161925" marR="161925" marT="123825" marB="85725" anchor="t">
                    <a:lnR w="6668">
                      <a:solidFill>
                        <a:srgbClr val="DCE4E9"/>
                      </a:solidFill>
                      <a:prstDash val="solid"/>
                    </a:lnR>
                    <a:lnB w="6668">
                      <a:solidFill>
                        <a:srgbClr val="DCE4E9"/>
                      </a:solidFill>
                      <a:prstDash val="solid"/>
                    </a:lnB>
                    <a:solidFill>
                      <a:srgbClr val="EDF4F6"/>
                    </a:solidFill>
                  </a:tcPr>
                </a:tc>
              </a:tr>
            </a:tbl>
          </a:graphicData>
        </a:graphic>
      </p:graphicFrame>
      <p:sp>
        <p:nvSpPr>
          <p:cNvPr id="6" name="text-udsvah03-83">
            <a:extLst xmlns:a="http://schemas.openxmlformats.org/drawingml/2006/main">
              <a:ext uri="{FF2B5EF4-FFF2-40B4-BE49-F238E27FC236}">
                <a16:creationId xmlns:a16="http://schemas.microsoft.com/office/drawing/2014/main" id="{B6725BAF-8394-4B19-87C4-05ED418F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172325"/>
            <a:ext cx="1381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0">
                <a:solidFill>
                  <a:srgbClr val="566B79"/>
                </a:solidFill>
                <a:latin typeface="Arial Unicode MS"/>
                <a:ea typeface="Arial Unicode MS"/>
                <a:cs typeface="Arial Unicode MS"/>
              </a:rPr>
              <a:t>CN121935166B 授权公告：2026-07-21，权1增加具体限定；首次公开日期采用 A 文本。</a:t>
            </a:r>
          </a:p>
        </p:txBody>
      </p:sp>
      <p:sp>
        <p:nvSpPr>
          <p:cNvPr id="7" name="text-udsvah03-84">
            <a:extLst xmlns:a="http://schemas.openxmlformats.org/drawingml/2006/main">
              <a:ext uri="{FF2B5EF4-FFF2-40B4-BE49-F238E27FC236}">
                <a16:creationId xmlns:a16="http://schemas.microsoft.com/office/drawing/2014/main" id="{42CCA824-6383-429F-8DA7-E2795AB1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7667625"/>
            <a:ext cx="1381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defPPr>
            <a:lvl1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1pPr>
            <a:lvl2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2pPr>
            <a:lvl3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3pPr>
            <a:lvl4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4pPr>
            <a:lvl5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5pPr>
            <a:lvl6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6pPr>
            <a:lvl7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7pPr>
            <a:lvl8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8pPr>
            <a:lvl9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A35220"/>
                </a:solidFill>
                <a:latin typeface="Arial Unicode MS"/>
                <a:ea typeface="Arial Unicode MS"/>
                <a:cs typeface="Arial Unicode MS"/>
              </a:rPr>
              <a:t>已有公开覆盖多项基础机制。本页为候选组合的技术对照，未覆盖全部同族与审查档案，不据此认定可授权。</a:t>
            </a:r>
          </a:p>
        </p:txBody>
      </p:sp>
    </p:spTree>
    <p:extLst>
      <p:ext uri="{BB962C8B-B14F-4D97-AF65-F5344CB8AC3E}">
        <p14:creationId xmlns:p14="http://schemas.microsoft.com/office/powerpoint/2010/main" val="1051981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2026-10-29T01:29:44.5270000Z</dcterms:created>
  <dcterms:modified xsi:type="dcterms:W3CDTF">2026-10-29T01:29:44.5270000Z</dcterms:modified>
</coreProperties>
</file>