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png" ContentType="image/png"/>
  <Default Extension="svg" ContentType="image/svg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ca8ba9c9cd4a5c" /><Relationship Type="http://schemas.openxmlformats.org/officeDocument/2006/relationships/extended-properties" Target="/docProps/app.xml" Id="Rbe3348f2b4fb42d4" /><Relationship Type="http://schemas.openxmlformats.org/officeDocument/2006/relationships/officeDocument" Target="/ppt/presentation.xml" Id="Rb37bfb99644342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baf6ee19144de"/>
  </p:sldMasterIdLst>
  <p:notesMasterIdLst>
    <p:notesMasterId xmlns:r="http://schemas.openxmlformats.org/officeDocument/2006/relationships" r:id="R7d1e22aaf27c47d4"/>
  </p:notesMasterIdLst>
  <p:sldIdLst>
    <p:sldId xmlns:r="http://schemas.openxmlformats.org/officeDocument/2006/relationships" id="256" r:id="R705bfdbe6572452a"/>
    <p:sldId xmlns:r="http://schemas.openxmlformats.org/officeDocument/2006/relationships" id="257" r:id="Rdebdddc7480c4a1f"/>
    <p:sldId xmlns:r="http://schemas.openxmlformats.org/officeDocument/2006/relationships" id="258" r:id="R0663371c38584ead"/>
    <p:sldId xmlns:r="http://schemas.openxmlformats.org/officeDocument/2006/relationships" id="259" r:id="R4e270f291f4545e8"/>
    <p:sldId xmlns:r="http://schemas.openxmlformats.org/officeDocument/2006/relationships" id="260" r:id="Rc6ecf204896b4af2"/>
    <p:sldId xmlns:r="http://schemas.openxmlformats.org/officeDocument/2006/relationships" id="264" r:id="R123cb35d908044f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8023b0841d664e4b"/><Relationship Type="http://schemas.openxmlformats.org/officeDocument/2006/relationships/slideMaster" Target="/ppt/slideMasters/slideMaster1.xml" Id="Rbc9baf6ee19144de"/><Relationship Type="http://schemas.openxmlformats.org/officeDocument/2006/relationships/notesMaster" Target="/ppt/notesMasters/notesMaster1.xml" Id="R7d1e22aaf27c47d4"/><Relationship Type="http://schemas.openxmlformats.org/officeDocument/2006/relationships/presProps" Target="/ppt/presProps.xml" Id="R3566f1121c864c19"/><Relationship Type="http://schemas.openxmlformats.org/officeDocument/2006/relationships/tableStyles" Target="/ppt/tableStyles.xml" Id="Rcaca2783ef124c72"/><Relationship Type="http://schemas.openxmlformats.org/officeDocument/2006/relationships/slide" Target="/ppt/slides/slide1.xml" Id="R705bfdbe6572452a"/><Relationship Type="http://schemas.openxmlformats.org/officeDocument/2006/relationships/slide" Target="/ppt/slides/slide2.xml" Id="Rdebdddc7480c4a1f"/><Relationship Type="http://schemas.openxmlformats.org/officeDocument/2006/relationships/slide" Target="/ppt/slides/slide3.xml" Id="R0663371c38584ead"/><Relationship Type="http://schemas.openxmlformats.org/officeDocument/2006/relationships/slide" Target="/ppt/slides/slide4.xml" Id="R4e270f291f4545e8"/><Relationship Type="http://schemas.openxmlformats.org/officeDocument/2006/relationships/slide" Target="/ppt/slides/slide5.xml" Id="Rc6ecf204896b4af2"/><Relationship Type="http://schemas.openxmlformats.org/officeDocument/2006/relationships/slide" Target="/ppt/slides/slide6.xml" Id="R123cb35d908044f7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58d957d2c4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5afa1debc45b6" /><Relationship Type="http://schemas.openxmlformats.org/officeDocument/2006/relationships/notesMaster" Target="/ppt/notesMasters/notesMaster1.xml" Id="R95d81ab8f9f143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1b8300fd2c4bed" /><Relationship Type="http://schemas.openxmlformats.org/officeDocument/2006/relationships/notesMaster" Target="/ppt/notesMasters/notesMaster1.xml" Id="R753c8db5d5a349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0a4acfe1584ca5" /><Relationship Type="http://schemas.openxmlformats.org/officeDocument/2006/relationships/notesMaster" Target="/ppt/notesMasters/notesMaster1.xml" Id="R87a6b9cf8a88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00c1dfcb6843ea" /><Relationship Type="http://schemas.openxmlformats.org/officeDocument/2006/relationships/notesMaster" Target="/ppt/notesMasters/notesMaster1.xml" Id="Reed8d1cd24604d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492728f2aa4f83" /><Relationship Type="http://schemas.openxmlformats.org/officeDocument/2006/relationships/notesMaster" Target="/ppt/notesMasters/notesMaster1.xml" Id="R8f063c9cd2134649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328de33bb34c426d"/><Relationship Type="http://schemas.openxmlformats.org/officeDocument/2006/relationships/notesMaster" Target="/ppt/notesMasters/notesMaster1.xml" Id="Rd58d5feb3e554dae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本页围绕本项目的目标场景说明背景，流程为示意，阶段可以并行或交叠，不表示所有团队都采用严格串行流程。</a:t>
            </a:r>
          </a:p>
          <a:p xmlns:a="http://schemas.openxmlformats.org/drawingml/2006/main">
            <a:r>
              <a:t>AI Coding 提高需求整理、编码和修改等局部任务的效率。AI 同样可以辅助测试设计、脚本生成和执行。瓶颈在于跨环节的系统上下文、资产维护、验证证据及版本适用性需要持续衔接，而非声称已有工具不能自动化。</a:t>
            </a:r>
          </a:p>
          <a:p xmlns:a="http://schemas.openxmlformats.org/drawingml/2006/main">
            <a:r>
              <a:t>测试设计需要确定受影响行为、边界与验收条件；评审确认范围及判据；执行前需要准备脚本、环境和测试数据；执行后需要解释失败或未知结果，并形成适用于目标构建的验证结论。</a:t>
            </a:r>
          </a:p>
          <a:p xmlns:a="http://schemas.openxmlformats.org/drawingml/2006/main">
            <a:r>
              <a:t>构造示例：第一轮把全额退款扩展为部分退款，AI 可加快编码，也可生成退款用例。下一轮改成异步回调后，仍需重新识别支付、账本和幂等影响，维护脚本与等待条件，并重新验证重复回调不会造成重复记账。前一轮通过不能直接支撑新构建上线。</a:t>
            </a:r>
          </a:p>
          <a:p xmlns:a="http://schemas.openxmlformats.org/drawingml/2006/main">
            <a:r>
              <a:t>本方案通过版本化画像关联需求、实现、测试和证据，按变化识别影响并复用或补齐测试，绑定独立验收预期及目标构建执行。新需求、代码、接口和运行反馈经来源校验、去重及冲突处理后触发画像更新。</a:t>
            </a:r>
          </a:p>
          <a:p xmlns:a="http://schemas.openxmlformats.org/drawingml/2006/main">
            <a:r>
              <a:t>失败及未知可作为可信观察采纳，不能直接改写正式业务预期。新画像不覆盖在途执行所固定的版本。</a:t>
            </a:r>
          </a:p>
          <a:p xmlns:a="http://schemas.openxmlformats.org/drawingml/2006/main">
            <a:r>
              <a:t>图中下半部分描述最终态设计及预期作用，完整自动闭环尚未全部贯通，效率和质量收益无端到端实测比例。</a:t>
            </a:r>
          </a:p>
          <a:p xmlns:a="http://schemas.openxmlformats.org/drawingml/2006/main">
            <a:r>
              <a:t>内容依据：本轮用户确认的业务背景与四模块方案；docs/patents/nasus-art-v2/technical-implementation-2026-10-29.md；docs/patents/nasus-art-v2/closed-loop-invention-design-2026-10-29.md。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本页仅介绍现有技术及其局限性，不包含本方案的处理机制、创新点或实现状态。局限性针对单项技术或缺少相应配套约束时的使用情形，不断言所有产品都存在这些问题。</a:t>
            </a:r>
          </a:p>
          <a:p xmlns:a="http://schemas.openxmlformats.org/drawingml/2006/main">
            <a:r>
              <a:t>1. 需求与测试追踪技术：维护需求、测试用例、缺陷、构建和结果之间的关联，用于覆盖追踪及变更审查。关联准确反映新实现需要持续维护；已有链接不自动说明新验收条件已得到测试覆盖。Azure Test Plans具备端到端追踪和自动结果关联能力。</a:t>
            </a:r>
          </a:p>
          <a:p xmlns:a="http://schemas.openxmlformats.org/drawingml/2006/main">
            <a:r>
              <a:t>2. 自动化测试与CI/CD：事件触发、任务编排、并行执行和结果归档可降低重复执行成本。仅执行既有脚本不自动补齐新增验收要求的用例或断言。本行没有断言流水线平台不能扩展集成测试生成。</a:t>
            </a:r>
          </a:p>
          <a:p xmlns:a="http://schemas.openxmlformats.org/drawingml/2006/main">
            <a:r>
              <a:t>3. 基于大模型与RAG的测试生成：利用需求、代码及检索材料生成用例或脚本，已有技术可利用构建、执行和覆盖反馈筛选结果。缺少约束时，上下文裁剪及生成仍可能遗漏已明确条件或偏离给定预期。TestGen-LLM是测试生成及过滤的例子，RAG原论文提供检索增强生成的机制依据。</a:t>
            </a:r>
          </a:p>
          <a:p xmlns:a="http://schemas.openxmlformats.org/drawingml/2006/main">
            <a:r>
              <a:t>4. 基于依赖分析的回归测试选择（RTS）：依据静态或动态依赖及历史运行覆盖，确定已有测试中哪些需要在变更后重新执行。关系或依赖需随版本更新；选择已有测试本身不负责生成尚不存在的用例。Ekstazi对没有历史依赖信息的新测试会执行，不应描述成新增测试一律被遗漏。</a:t>
            </a:r>
          </a:p>
          <a:p xmlns:a="http://schemas.openxmlformats.org/drawingml/2006/main">
            <a:r>
              <a:t>下列公开资料支持技术能力的说明。局限性是上述适用条件下的工程分析，不将其归结为来源资料或全部现有产品的统一结论。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公开资料（核查日期2026-10-29）</a:t>
            </a:r>
          </a:p>
          <a:p xmlns:a="http://schemas.openxmlformats.org/drawingml/2006/main">
            <a:r>
              <a:t>[M1] Microsoft Learn, What is Azure Test Plans? https://learn.microsoft.com/en-us/azure/devops/test/overview?view=azure-devops</a:t>
            </a:r>
          </a:p>
          <a:p xmlns:a="http://schemas.openxmlformats.org/drawingml/2006/main">
            <a:r>
              <a:t>[M2] Microsoft Learn, Set up automated testing with Azure Test Plans. https://learn.microsoft.com/en-us/azure/devops/test/automated-testing-overview?view=azure-devops</a:t>
            </a:r>
          </a:p>
          <a:p xmlns:a="http://schemas.openxmlformats.org/drawingml/2006/main">
            <a:r>
              <a:t>[M3] GitHub Docs, Understanding GitHub Actions. https://docs.github.com/en/actions/get-started/understand-github-actions</a:t>
            </a:r>
          </a:p>
          <a:p xmlns:a="http://schemas.openxmlformats.org/drawingml/2006/main">
            <a:r>
              <a:t>[M4] Alshahwan et al., Automated Unit Test Improvement using Large Language Models at Meta, 2024. https://arxiv.org/abs/2402.09171</a:t>
            </a:r>
          </a:p>
          <a:p xmlns:a="http://schemas.openxmlformats.org/drawingml/2006/main">
            <a:r>
              <a:t>[M5] Lewis et al., Retrieval-Augmented Generation for Knowledge-Intensive NLP Tasks, 2020. https://arxiv.org/abs/2005.11401</a:t>
            </a:r>
          </a:p>
          <a:p xmlns:a="http://schemas.openxmlformats.org/drawingml/2006/main">
            <a:r>
              <a:t>[M6] Gligoric, Regression Test Selection: Theory and Practice, 2015. https://users.ece.utexas.edu/~gligoric/papers/Gligoric15PhD.pdf</a:t>
            </a:r>
          </a:p>
          <a:p xmlns:a="http://schemas.openxmlformats.org/drawingml/2006/main">
            <a:r>
              <a:t>[M7] Ekstazi official repository. https://github.com/gliga/ekstazi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总体方案采用四模块闭环。创新重点1覆盖01与04，创新重点2覆盖01到02的画像使用及测试生成。03执行和回流是闭环组成，不在本页另立第三项创新。</ns0:t>
            </ns0:r>
          </ns0:p>
          <ns1:p xmlns:ns1="http://schemas.openxmlformats.org/drawingml/2006/main">
            <ns1:r>
              <ns1:t>输入包括需求、代码、接口及数据定义、已有测试资产。初始资料进入01，后续需求和代码变化进入04进行采纳与差异判断，并调用01的解析和关联构建能力形成下一版本画像。运行反馈不是唯一更新来源。</ns1:t>
            </ns1:r>
          </ns1:p>
          <ns2:p xmlns:ns2="http://schemas.openxmlformats.org/drawingml/2006/main">
            <ns2:r>
              <ns2:t>01系统画像构建：格式适配器、代码语法解析和显式引用提取基础实体与结构关系；大模型基于受限证据提出跨源语义关联。关系记录身份、端点修订、来源证据与适用状态。验收预期来自独立需求或契约，不能由当前代码观察替代。</ns2:t>
            </ns2:r>
          </ns2:p>
          <ns3:p xmlns:ns3="http://schemas.openxmlformats.org/drawingml/2006/main">
            <ns3:r>
              <ns3:t>02测试用例生成：以固定画像及需求/代码变化分析影响范围，结合明确验收条件和规则形成必测清单。召回支持材料，复用适用资产，为缺口补充生成用例和脚本。完整保留强制条件，逐项校验映射及既定预期。信息不足保留缺口或扩大验证，不因Top-K、预算或模型输出删除必测要求。</ns3:t>
            </ns3:r>
          </ns3:p>
          <ns4:p xmlns:ns4="http://schemas.openxmlformats.org/drawingml/2006/main">
            <ns4:r>
              <ns4:t>03测试执行：计划绑定画像、义务、脚本、目标构建、环境和测试数据。执行后采集实际观察，按独立判据评估。正式通过需要具备适用于目标构建的完整证据，并在使用前重验依赖。发布判断作为旁路输出，不以任务完成或计划覆盖替代验证通过；关键失败、未知或证据缺失阻断准入。图中“关键失败或未知阻断”省略的其他准入条件在技术细节中展开。</ns4:t>
            </ns4:r>
          </ns4:p>
          <ns5:p xmlns:ns5="http://schemas.openxmlformats.org/drawingml/2006/main">
            <ns5:r>
              <ns5:t>04有效数据采纳与滚动更新：接收新来源和通过、失败、未知等运行观察，检查来源、版本、重复与冲突，确定更新范围，触发关系重评和受影响画像重建。有效指可信、可追溯且适用，不指测试成功。未经治理的观察不能改写正式业务预期。</ns5:t>
            </ns5:r>
          </ns5:p>
          <ns6:p xmlns:ns6="http://schemas.openxmlformats.org/drawingml/2006/main">
            <ns6:r>
              <ns6:t>滚动更新生成下一版本，保留在途执行固定的原画像与历史记录，并重新判断旧关系、测试资产和结果的当前适用性。资产复用不等于继承旧版本通过结论。</ns6:t>
            </ns6:r>
          </ns6:p>
          <ns7:p xmlns:ns7="http://schemas.openxmlformats.org/drawingml/2006/main">
            <ns7:r>
              <ns7:t>两个创新点是当前方案的重点技术组合，不以通用大模型或知识图谱本身作为独立创新结论。本页是最终态设计。当前已有来源修订、关系适用性、保守失效、完整条件分包、生成校验和原始观察归档等组件，完整自动闭环尚未全部贯通，没有端到端实测收益比例。</ns7:t>
            </ns7:r>
          </ns7:p>
          <ns8:p xmlns:ns8="http://schemas.openxmlformats.org/drawingml/2006/main">
            <ns8:r>
              <ns8:t>技术依据：docs/patents/nasus-art-v2/technical-implementation-2026-10-29.md；docs/patents/nasus-art-v2/closed-loop-invention-design-2026-10-29.md；本轮确认的四模块与两个创新重点。</ns8:t>
            </ns8:r>
          </ns8:p>
          <ns9:p xmlns:ns9="http://schemas.openxmlformats.org/drawingml/2006/main">
            <ns9:r>
              <ns9:t>Agent 驱动画像构建与滚动更新</ns9:t>
            </ns9:r>
          </ns9:p>
          <ns10:p xmlns:ns10="http://schemas.openxmlformats.org/drawingml/2006/main">
            <ns10:r>
              <ns10:t>本轮明确画像构建和测试生成均由Agent承担目标任务。Agent接收构建目标、来源和约束，分解任务并选择解析与检索工具，依据返回的结构事实和原文证据推理关联，调用核验工具，并按未解决项定向补证或转待审。完成条件由工具和策略核验，Agent通过受控工具请求持久化及发布。来源变化后按对象、命中证据和查询范围依赖重新规划受影响任务。</ns10:t>
            </ns10:r>
          </ns10:p>
          <ns11:p xmlns:ns11="http://schemas.openxmlformats.org/drawingml/2006/main">
            <ns11:r>
              <ns11:t>工具负责确定性格式解析、身份绑定、类型与引用校验、事务写入、索引和发布并发控制。大模型承担目标规划、语义理解、关联推理和下一步行动选择，不能绕过核验或直接用置信度覆盖事实。画像构建、测试生成、验证与更新可以由同一Agent运行时承载多个目标任务，不要求多Agent或独立进程部署。</ns11:t>
            </ns11:r>
          </ns11:p>
          <ns12:p xmlns:ns12="http://schemas.openxmlformats.org/drawingml/2006/main">
            <ns12:r>
              <ns12:t>当前已有目标计划、工具编排与受控补证续接，结构提取和调查续接采用零模型调用约束。完整语义主动补全和自动滚动发布是目标设计，当前完成报告可能保持blocked、candidate_ready=False和goal_completed=False，不能用局部工具成功表述全目标完成。</ns12:t>
            </ns12:r>
          </ns12:p>
          <ns13:p xmlns:ns13="http://schemas.openxmlformats.org/drawingml/2006/main">
            <ns13:r>
              <ns13:t>实现核查依据：apps/api/app/application/agent/plans.py:25；apps/api/app/application/agent/planner.py:98；apps/api/app/application/agent/image_investigation_plans.py:37；apps/api/app/application/system_image/structure_builds.py:90；apps/api/app/domain/system_image/build_completion.py:12。核查日2026-10-30，未重跑产品测试。</ns13:t>
            </ns13:r>
          </ns1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创新点1：Agent 驱动系统画像构建与增量更新</ns0:t>
            </ns0:r>
          </ns0:p>
          <ns1:p xmlns:ns1="http://schemas.openxmlformats.org/drawingml/2006/main">
            <ns1:r>
              <ns1:t>本页为最终态技术设计，尚未完成全链路自动实现。上方为Agent构建控制循环。中排为Agent调用的解析、身份绑定与关系推理、核验、受控持久化能力，下排为版本化图、查询发布与变化驱动的重新规划。发布的画像供创新点2的Agent测试生成任务使用。矩形模块表示技术处理职责，箭头表示数据传递和更新回流。</ns1:t>
            </ns1:r>
          </ns1:p>
          <ns2:p xmlns:ns2="http://schemas.openxmlformats.org/drawingml/2006/main">
            <ns2:r>
              <ns2:t>01 多源解析及线索提取</ns2:t>
            </ns2:r>
          </ns2:p>
          <ns3:p xmlns:ns3="http://schemas.openxmlformats.org/drawingml/2006/main">
            <ns3:r>
              <ns3:t>代码由Tree-sitter抽取语法节点，再结合语言符号、类型和导入解析函数定义及调用点，框架适配器解析路由/控制器绑定。SQLGlot结合数据库schema和ORM映射识别库表字段及读写操作；通过仓储函数间接访问表时，先保留函数调用边再分析仓储实现，推导关系保留依据链。接口文档使用OpenAPI/JSON Schema，真实路由映射还需实现或框架依据。PDF/Word由pypdf、python-docx定位段落，扫描页需OCR并保留页及区域；大模型按Schema从定位片段提取行为和验收候选，不能直接成为批准预期。解析器同时输出实体描述与关系线索：source_locator、predicate、target_reference、occurrence/condition、evidence_locator及来源修订。</ns3:t>
            </ns3:r>
          </ns3:p>
          <ns4:p xmlns:ns4="http://schemas.openxmlformats.org/drawingml/2006/main">
            <ns4:r>
              <ns4:t>02 统一对象与关系端点绑定</ns4:t>
            </ns4:r>
          </ns4:p>
          <ns5:p xmlns:ns5="http://schemas.openxmlformats.org/drawingml/2006/main">
            <ns5:r>
              <ns5:t>将实体映射为公共对象封装：稳定id、类型、内容修订rev、来源出现记录ref、类型专有payload。身份限定在项目、来源、服务/命名空间及类型作用范围，同名不能直接合并；内容修订包含内容摘要和解析规则版本，出现记录分别保留各来源修订的定位。函数签名、接口方法和参数、表字段、经批准的验收预期等类型字段保留。模型补充的业务含义另存引用及提取版本，不覆盖原值。</ns5:t>
            </ns5:r>
          </ns5:p>
          <ns6:p xmlns:ns6="http://schemas.openxmlformats.org/drawingml/2006/main">
            <ns6:r>
              <ns6:t>关系线索中的目标字符串通过import及别名、接收者类型、符号定义、服务和路由、数据库/schema/表等进行消歧，绑定明确实体ID与修订。结构线索按解析规则生成候选，无法唯一确定端点时保留候选集合和未解析边界，不凭名字相同强行连边。跨来源语义关系由Agent调用精确/全文/向量检索工具选择候选端点，读取工具返回的双方原文后由模型推理，按允许类型输出已知端点、候选类型、引用及支持/反证/未知。候选记录ID由应用服务分配或按稳定键解析，模型只能引用已绑定对象ID及修订；模型不直接写正式关系或画像成员。初次构建的候选实体暂存在隔离工作区并建临时检索索引，增量使用旧画像成员与变更候选；正式任务不读取未发布工作区。</ns6:t>
            </ns6:r>
          </ns6:p>
          <ns7:p xmlns:ns7="http://schemas.openxmlformats.org/drawingml/2006/main">
            <ns7:r>
              <ns7:t>03 核验与分类</ns7:t>
            </ns7:r>
          </ns7:p>
          <ns8:p xmlns:ns8="http://schemas.openxmlformats.org/drawingml/2006/main">
            <ns8:r>
              <ns8:t>Agent调用核验工具，工具内的应用服务核对项目范围、端点存在、端点修订和成员匹配、允许的关系类型及方向、原文位置和引用内容、适用否定、冲突及证据完整性。结构和引用核验不能自动证明业务语义正确。结构或明确引用可核实且满足接纳规则时接纳；仅有语义猜测或重要歧义保留待审；证据反驳或非法关系拒绝；无法确定则未知。语义审阅或新增证据改变状态时记录新决定/修订，不改写已发布快照。静态调用/读写边带发生位置、字段范围和适用条件，表示条件下的依赖，不代表每次运行都发生。</ns8:t>
            </ns8:r>
          </ns8:p>
          <ns9:p xmlns:ns9="http://schemas.openxmlformats.org/drawingml/2006/main">
            <ns9:r>
              <ns9:t>04 Agent调用受控提交工具，应用服务去重并追加写库</ns9:t>
            </ns9:r>
          </ns9:p>
          <ns10:p xmlns:ns10="http://schemas.openxmlformats.org/drawingml/2006/main">
            <ns10:r>
              <ns10:t>PostgreSQL表族包括entity_identity/entity_revision、relation_identity/edge_revision、edge_evidence、dependency、image_node_member/image_edge_member及publication。示意表名描述逻辑结构，不宣称新增生产接口已经交付。关系稳定键由项目/来源作用范围、两端稳定身份、类型、规范化调用点/发生位置及条件等构成；同一关系重复抽取合并证据，两个不同调用点可分别形成独立边。来源或端点内容修订、条件或依据变化时追加新edge_revision。正式发布的关系修订及其证据引用不UPDATE覆盖；新增证据可追加新记录或形成新修订，草稿成员和发布指针独立管理。</ns10:t>
            </ns10:r>
          </ns10:p>
          <ns11:p xmlns:ns11="http://schemas.openxmlformats.org/drawingml/2006/main">
            <ns11:r>
              <ns11:t>原文工件先写MinIO/S3并校验可读性/摘要；数据库事务中保存候选状态或决定、关系修订、证据引用及依赖，满足接纳条件的边加入新画像草稿成员，所有成员更新保持外键和修订一致。待审/拒绝/未知记录可保存供追踪，但不进入已确认关系使用路径。幂等键和唯一约束控制重复提交；事务失败回滚数据库记录，预先准备的无引用工件可后续回收。事务只保证数据库记录一致，不宣称对象存储与数据库跨系统原子提交。</ns11:t>
            </ns11:r>
          </ns11:p>
          <ns12:p xmlns:ns12="http://schemas.openxmlformats.org/drawingml/2006/main">
            <ns12:r>
              <ns12:t>05 版本化有向多重图</ns12:t>
            </ns12:r>
          </ns12:p>
          <ns13:p xmlns:ns13="http://schemas.openxmlformats.org/drawingml/2006/main">
            <ns13:r>
              <ns13:t>G_v=(N_v,E_v)，节点引用统一实体的确定修订，边引用已接纳关系的确定修订。每条边具有独立ID、修订、起点修订、类型、终点修订、发生位置/条件及证据。图例I调用F，F读取T、F写入T，读取/写入是同一对端点间独立的两条边；读取边方向表达“函数读取表”，并非字节的数据流方向。同一类型不同发生位置也可多边；重复抽取同一关系实例不算新边。图允许循环、递归，有界遍历需去重和规则限制。无需独立图数据库即可用关系表与画像成员表达。</ns13:t>
            </ns13:r>
          </ns13:p>
          <ns14:p xmlns:ns14="http://schemas.openxmlformats.org/drawingml/2006/main">
            <ns14:r>
              <ns14:t>画像成员清单固定来源修订、实体修订、边修订、批准验收依据和处理配置。未变内容及编码配置一致的向量可共享，新画像仅增加或替换成员引用；历史及在途任务固定旧快照，当前适用性独立判断。</ns14:t>
            </ns14:r>
          </ns14:p>
          <ns15:p xmlns:ns15="http://schemas.openxmlformats.org/drawingml/2006/main">
            <ns15:r>
              <ns15:t>06 查询、向量索引和发布</ns15:t>
            </ns15:r>
          </ns15:p>
          <ns16:p xmlns:ns16="http://schemas.openxmlformats.org/drawingml/2006/main">
            <ns16:r>
              <ns16:t>共享关系修订表建立(src_entity_revision_id,relation_type)及(dst_entity_revision_id,relation_type)索引，查询通过image_edge_member和image_node_member限定同一画像、权限及适用状态。也可建立带project/image前缀的可重建邻接投影，索引顺序按查询计划验证。按起点F与写入类型可返回T；按终点F与调用类型可返回I。反查不改变事实方向。F写入T后查读取T的消费者需要切换到读取类型，不能用其他写入方代替消费者。所有结果保留来源和不完整范围，缺边或截断不能证明没有影响。</ns16:t>
            </ns16:r>
          </ns16:p>
          <ns17:p xmlns:ns17="http://schemas.openxmlformats.org/drawingml/2006/main">
            <ns17:r>
              <ns17:t>程序按对象类型模板组织结构字段、受控语义与必要上下文，专用Embedding模型返回向量，应用服务校验维度和配置后写pgvector；全文GIN用于文本候选，二者不能代替真实关系判定。向量内容缓存绑定实际编码文本摘要、模板/模型版本、维度、归一化及允许复用范围，未变输入与配置可跨画像复用；查询结果缓存另绑定画像、索引代际、访问范围和依赖状态，读取时重验适用性。配套索引完成后，事务内重验来源、批准与依赖修订，按预期发布头进行条件切换，冲突则重新评估。索引或证据未就绪不对正式任务发布，不覆盖他人新版本；在途任务继续使用原画像。发布的画像供测试Agent检索、关系扩展和用例生成，画像就绪不等于测试验证通过。</ns17:t>
            </ns17:r>
          </ns17:p>
          <ns18:p xmlns:ns18="http://schemas.openxmlformats.org/drawingml/2006/main">
            <ns18:r>
              <ns18:t>07 Agent按变化重规划与增量更新</ns18:t>
            </ns18:r>
          </ns18:p>
          <ns19:p xmlns:ns19="http://schemas.openxmlformats.org/drawingml/2006/main">
            <ns19:r>
              <ns19:t>同来源绑定的前后修订及完整采集范围一起判定增改删。只有确认完整采集时缺失才代表删除；采集失败或范围改变保留未知。变化对象、命中证据和查询范围依赖共同触发关系重评，包括零命中范围。新增文件进入原范围时重新召回；未改文件也可能因端点、条件或范围变化需要重算关联。未变内容与编码配置一致的向量复用，Agent依据返回的变化与失效范围重新规划任务，调用工具重解析受影响部分、重新绑定并形成新画像成员。采用有界分析和保守失效，不宣称全项目精确影响分析或最小回归集合。</ns19:t>
            </ns19:r>
          </ns19:p>
          <ns20:p xmlns:ns20="http://schemas.openxmlformats.org/drawingml/2006/main">
            <ns20:r>
              <ns20:t>创新组合</ns20:t>
            </ns20:r>
          </ns20:p>
          <ns21:p xmlns:ns21="http://schemas.openxmlformats.org/drawingml/2006/main">
            <ns21:r>
              <ns21:t>从可定位线索解析到稳定对象身份和修订，保存有依据的关系实例，经核验分状态追加写库，以成员清单固定版本化图并按对象和查询范围依赖增量更新。通用模型、索引、数据库产品及多重图本身不单独作为独有创新结论。</ns21:t>
            </ns21:r>
          </ns21:p>
          <ns22:p xmlns:ns22="http://schemas.openxmlformats.org/drawingml/2006/main">
            <ns22:r>
              <ns22:t/>
            </ns22:r>
          </ns22:p>
          <ns23:p xmlns:ns23="http://schemas.openxmlformats.org/drawingml/2006/main">
            <ns23:r>
              <ns23:t>Agent 的构建职责与工具边界</ns23:t>
            </ns23:r>
          </ns23:p>
          <ns24:p xmlns:ns24="http://schemas.openxmlformats.org/drawingml/2006/main">
            <ns24:r>
              <ns24:t>画像构建本身是Agent的目标任务。Agent不是仅在已有画像上生成测试的消费者，也不是将所有解析、校验和存储交由大模型直接完成。Agent持有构建目标、固定来源、当前画像或隔离草稿、计划、已完成步骤、证据引用、未解决项及预算，负责选择下一步行动。大模型用于资料理解、任务规划、跨来源关联推理、缺口原因判断和针对性补证；解析器、身份服务、检索、核验、Embedding、持久化及发布是可调用工具。</ns24:t>
            </ns24:r>
          </ns24:p>
          <ns25:p xmlns:ns25="http://schemas.openxmlformats.org/drawingml/2006/main">
            <ns25:r>
              <ns25:t>控制循环：接收画像目标和来源清单，编译受权限和预算约束的计划；按资料类型调用解析工具；依据返回实体、结构线索和原文定位规划跨源检索；读取证据后提出结构化关系候选；调用核验工具获取接纳、待审、拒绝、未知及未解析端点等结果；缺口可通过增加搜索、读取文件、调用解析或缩小问题解决时，Agent补充调用并重新核验。遇预算耗尽、范围不完整或不可判定语义，保留显式缺口或待审，不能宣称完整。只有发布条件满足后，Agent才请求受控发布工具固定成员清单和切换发布头。</ns25:t>
            </ns25:r>
          </ns25:p>
          <ns26:p xmlns:ns26="http://schemas.openxmlformats.org/drawingml/2006/main">
            <ns26:r>
              <ns26:t>工具调用输入包括goal_id、task_id、image_or_draft_id、固定source_revisions、权限作用域、预期依赖修订和幂等键。返回内容包括typed_result、evidence_refs、scope_completeness、unresolved_items、validation_status及next_action所需状态。Agent推理轨迹与工具回执分别关联目标和修订，可据持久化检查点继续，回执成功只代表该操作完成。</ns26:t>
            </ns26:r>
          </ns26:p>
          <ns27:p xmlns:ns27="http://schemas.openxmlformats.org/drawingml/2006/main">
            <ns27:r>
              <ns27:t>例如新增异步回调函数时，Agent先调用代码与OpenAPI解析工具绑定接口和函数，再调用SQL/ORM解析识别账本写入点。若出现未解析的event_id语义，Agent定向读取回调契约、表定义及已批准需求，提出事件与账本的语义关系并附双方原文。核验失败或证据不足则继续检索或留下待审，接纳后通过工具写入新关系修订并构建V2。模型不能把自己的置信度当作事实接纳证据，也不能覆盖批准预期、成员修订或数据库事务约束。</ns27:t>
            </ns27:r>
          </ns27:p>
          <ns28:p xmlns:ns28="http://schemas.openxmlformats.org/drawingml/2006/main">
            <ns28:r>
              <ns28:t>Agent的职责可以由同一Agent运行时承担多个目标：画像构建、增量更新、测试生成和验证任务，各任务绑定自己的计划、状态和权限。图中工具分工不要求独立部署进程或多Agent实现。新增变化触发新的构建目标，旧任务保持固定快照；反馈经来源核验及治理后参与后续构建。</ns28:t>
            </ns28:r>
          </ns28:p>
          <ns29:p xmlns:ns29="http://schemas.openxmlformats.org/drawingml/2006/main">
            <ns29:r>
              <ns29:t>当前实现边界</ns29:t>
            </ns29:r>
          </ns29:p>
          <ns30:p xmlns:ns30="http://schemas.openxmlformats.org/drawingml/2006/main">
            <ns30:r>
              <ns30:t>已有Agent目标计划编译、工具执行、结构构建及有界补证续接，存在可配置的模型规划与重规划组件。当前受控结构构建固定max_model_calls=0，使用确定性结构提取；本页所示完整模型语义关联、主动补全及滚动发布闭环是目标技术设计，不表述为已经全链路交付。未进行本轮产品测试。</ns30:t>
            </ns30:r>
          </ns30:p>
          <ns31:p xmlns:ns31="http://schemas.openxmlformats.org/drawingml/2006/main">
            <ns31:r>
              <ns31:t/>
            </ns31:r>
          </ns31:p>
          <ns32:p xmlns:ns32="http://schemas.openxmlformats.org/drawingml/2006/main">
            <ns32:r>
              <ns32:t>实现核查依据：apps/api/app/application/agent/plans.py:25；apps/api/app/application/agent/planner.py:98；apps/api/app/application/agent/image_investigation_plans.py:37；apps/api/app/application/system_image/structure_builds.py:90；apps/api/app/domain/system_image/build_completion.py:12。核查日2026-10-30，未重跑产品测试。</ns32:t>
            </ns32:r>
          </ns3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创新点2：系统画像知识驱动AI Agent生成测试用例</ns0:t>
            </ns0:r>
          </ns0:p>
          <ns1:p xmlns:ns1="http://schemas.openxmlformats.org/drawingml/2006/main">
            <ns1:r>
              <ns1:t>主线</ns1:t>
            </ns1:r>
          </ns1:p>
          <ns2:p xmlns:ns2="http://schemas.openxmlformats.org/drawingml/2006/main">
            <ns2:r>
              <ns2:t>系统画像提供可查询的实体、关系、批准验收依据、原文证据和已有测试资产。Agent围绕具体需求或变更，自主选择受控查询工具，定位入口、沿关联补足上下文、复用适用资产，并调用大模型生成结构化测试用例。完整性和预期校验为这一生成过程提供保障，不能替代画像知识对测试动作的指导。这里是目标技术设计，不表示完整Agent自动闭环已经实现。</ns2:t>
            </ns2:r>
          </ns2:p>
          <ns3:p xmlns:ns3="http://schemas.openxmlformats.org/drawingml/2006/main">
            <ns3:r>
              <ns3:t>输入与范围</ns3:t>
            </ns3:r>
          </ns3:p>
          <ns4:p xmlns:ns4="http://schemas.openxmlformats.org/drawingml/2006/main">
            <ns4:r>
              <ns4:t>任务固定project_id、image_id、需求或变更标识、目标行为范围及适用验收修订。变更分析使用前后画像时，各自查询并通过明确身份映射合并解释，不拼接不同画像关系形成虚假业务路径。正式验收和风险政策给出完整必测要求；它们不由向量检索Top-K或生成结果反向缩减。</ns4:t>
            </ns4:r>
          </ns4:p>
          <ns5:p xmlns:ns5="http://schemas.openxmlformats.org/drawingml/2006/main">
            <ns5:r>
              <ns5:t>系统画像知识服务</ns5:t>
            </ns5:r>
          </ns5:p>
          <ns6:p xmlns:ns6="http://schemas.openxmlformats.org/drawingml/2006/main">
            <ns6:r>
              <ns6:t>PostgreSQL提供精确实体检索、画像成员过滤、关系邻接查询、批准判据读取及测试资产匹配，全文索引与pgvector召回候选支持材料；需要时再读取原文片段。查询同时限定项目、画像成员修订、访问范围和适用状态。相似度用于定位候选，不能证明两个对象有关联；正式路径只采用相应范围内可使用的关系，疑点保留未知或触发调查。</ns6:t>
            </ns6:r>
          </ns6:p>
          <ns7:p xmlns:ns7="http://schemas.openxmlformats.org/drawingml/2006/main">
            <ns7:r>
              <ns7:t>01 定位入口</ns7:t>
            </ns7:r>
          </ns7:p>
          <ns8:p xmlns:ns8="http://schemas.openxmlformats.org/drawingml/2006/main">
            <ns8:r>
              <ns8:t>Agent从需求标识、函数符号、接口方法及路由、事件类型或业务术语形成查询。已知精确标识优先直接定位；全文和向量召回补充异名表述及相关原文。结果融合、去重并保留命中来源和引用，先筛选版本、权限和否定关联的适用性再截取可选材料。</ns8:t>
            </ns8:r>
          </ns8:p>
          <ns9:p xmlns:ns9="http://schemas.openxmlformats.org/drawingml/2006/main">
            <ns9:r>
              <ns9:t>02 扩展知识</ns9:t>
            </ns9:r>
          </ns9:p>
          <ns10:p xmlns:ns10="http://schemas.openxmlformats.org/drawingml/2006/main">
            <ns10:r>
              <ns10:t>以入口为种子按关系类型进行有界批量遍历：调用关系定位上下游，结合调用点、控制条件和接口约定编排操作顺序，读写及字段映射确定观察点、业务关联键和数据准备，需求实现关系定位业务含义，测试验证关系定位已有资产。写入某字段之后可查读取该字段的消费者，不能只反查写入者就声称覆盖数据影响。明确保存路径条件、修订和未解析边界。动态调用、缺边、范围截断不自动解释为无影响。</ns10:t>
            </ns10:r>
          </ns10:p>
          <ns11:p xmlns:ns11="http://schemas.openxmlformats.org/drawingml/2006/main">
            <ns11:r>
              <ns11:t>03 组装测试上下文与定向补查</ns11:t>
            </ns11:r>
          </ns11:p>
          <ns12:p xmlns:ns12="http://schemas.openxmlformats.org/drawingml/2006/main">
            <ns12:r>
              <ns12:t>工具结果按GenerationContext结构组织，而非只交给模型一段系统摘要：固定画像和来源、业务入口、调用/事件路径、输入约束、前置状态和测试数据、业务关联键、观察对象及字段、经批准的预期、可复用步骤、必须验证的场景与来源引用。模型或确定性检查发现字段缺口时，Agent选择对应工具：缺入口查接口，缺关联键查字段映射，缺观察点查读写关系，缺判据查批准要求，缺资产查用例及步骤。循环由缺口与新证据驱动，记录工具调用、查询范围和进展。预算或无进展阈值到达时输出未完成缺口，不无限重试或编造知识。</ns12:t>
            </ns12:r>
          </ns12:p>
          <ns13:p xmlns:ns13="http://schemas.openxmlformats.org/drawingml/2006/main">
            <ns13:r>
              <ns13:t>04 复用并生成</ns13:t>
            </ns13:r>
          </ns13:p>
          <ns14:p xmlns:ns14="http://schemas.openxmlformats.org/drawingml/2006/main">
            <ns14:r>
              <ns14:t>按需求/判据、业务路径和接口修订匹配已有用例、步骤、脚本与数据准备模板，检查当前适用性。复用可使用部分，受影响部分改写，缺少部分交给模型按结构化Schema生成。模型输出前置条件、输入和测试数据、动作顺序、观察位置、批准预期绑定、判据映射和证据引用，每条必测项均映射用例或明确缺口。完整验收条件不可被上下文预算拆失，全局规则继承；可选材料可裁剪，必需材料无法容纳则分包或阻断。预算不足不能删除必测项。生成内容校验后不直接成为目标构建的通过结论，后续仍需脚本审阅和执行验证。</ns14:t>
            </ns14:r>
          </ns14:p>
          <ns15:p xmlns:ns15="http://schemas.openxmlformats.org/drawingml/2006/main">
            <ns15:r>
              <ns15:t>校验及反馈</ns15:t>
            </ns15:r>
          </ns15:p>
          <ns16:p xmlns:ns16="http://schemas.openxmlformats.org/drawingml/2006/main">
            <ns16:r>
              <ns16:t>检查引用是否存在且属于固定画像、接口/字段是否匹配、原批准预期是否被替换、用例步骤和观察点是否映射判据、场景是否遗漏、重复用例是否造成重复覆盖计数。结构和引用检查不能自动证明步骤业务语义正确；高风险语义需要额外审阅或执行验证。失败返回结构化问题定位，Agent定向读取缺少材料或局部重生成，仍使用原始预期，不能通过改写判据让检查通过。新候选关系或新观察需经过画像治理后进入后续画像，不能在生成中静默改写当前固定版本。</ns16:t>
            </ns16:r>
          </ns16:p>
          <ns17:p xmlns:ns17="http://schemas.openxmlformats.org/drawingml/2006/main">
            <ns17:r>
              <ns17:t>退款构造例</ns17:t>
            </ns17:r>
          </ns17:p>
          <ns18:p xmlns:ns18="http://schemas.openxmlformats.org/drawingml/2006/main">
            <ns18:r>
              <ns18:t>画像提供退款回调接口、refund_event_id字段、该事件标识到ledger.refund_event_id的映射，以及账本数量查询位置。经批准的验收条件规定同一事件只记账一次。Agent复用受控身份和隔离订单准备步骤，生成同一事件的两次回调、在批准截止时间内等待两个回调处理完成、按同一事件标识只读查询账本、断言记录数等于1等步骤。观察完整性和等待截止条件必须明确；只有看到一条记录但另一次回调仍未完成，不能据此判通过。相关金额一致性、额度、权限等本轮适用条件继续保留，这个页面只是展示一条用例的形成过程，不声称覆盖完整退款场景。</ns18:t>
            </ns18:r>
          </ns18:p>
          <ns19:p xmlns:ns19="http://schemas.openxmlformats.org/drawingml/2006/main">
            <ns19:r>
              <ns19:t>效率机制与评价</ns19:t>
            </ns19:r>
          </ns19:p>
          <ns20:p xmlns:ns20="http://schemas.openxmlformats.org/drawingml/2006/main">
            <ns20:r>
              <ns20:t>限定画像及任务范围减少无关检索；通过关系扩展将分散资料组织为测试动作所需上下文，减少反复理解；只读必要原文、复用适用步骤和缓存的版本化知识，减少重复模型输入和重复生成；缺口定向查询减少无目的探索。耗时、模型tokens、工具调用量与人工修订量需和遗漏、无依据断言、错误版本引用一起评估，目前不填写未经实测的提升比例。</ns20:t>
            </ns20:r>
          </ns20:p>
          <ns21:p xmlns:ns21="http://schemas.openxmlformats.org/drawingml/2006/main">
            <ns21:r>
              <ns21:t>实施依据</ns21:t>
            </ns21:r>
          </ns21:p>
          <ns22:p xmlns:ns22="http://schemas.openxmlformats.org/drawingml/2006/main">
            <ns22:r>
              <ns22:t>当前专利Wiki technical-implementation-2026-10-29.md第3.7—3.9、4.2—4.3节描述路径传播、生成输入、双通道召回、Agent缺口调度和生成接续。本页重组其表达以突出画像知识指导Agent生成测试，未新增产品实现。</ns22:t>
            </ns22:r>
          </ns22:p>
          <ns23:p xmlns:ns23="http://schemas.openxmlformats.org/drawingml/2006/main">
            <ns23:r>
              <ns23:t>图标来源：Lucide本地安装包1.8.0，ISC许可证，https://lucide.dev 。</ns23:t>
            </ns23:r>
          </ns23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定向核查方法：2026年10月29日按四组公开号读取Google Patents所载原始公开文本，核对公开日、权利要求位置及A/B差异。不是穷尽检索，没有FTO或可授权性结论。</a:t>
            </a:r>
          </a:p>
          <a:p xmlns:a="http://schemas.openxmlformats.org/drawingml/2006/main">
            <a:r>
              <a:t>R1完整名称：Optimized regression testing through dependency graph analysis and selective test execution。公开日2026-03-12。位置：权147、148、156、157、163。</a:t>
            </a:r>
          </a:p>
          <a:p xmlns:a="http://schemas.openxmlformats.org/drawingml/2006/main">
            <a:r>
              <a:t>R2完整名称：一种基于动态知识图谱的测试用例智能生成方法及系统。A首次公开2026-04-28，权1—3、6—7。B授权公告2026-07-21，权1增加版本钩子、AST/控制与数据流、覆盖/缺陷奖励和路径优化等具体限定。不推断审查员的授权原因。</a:t>
            </a:r>
          </a:p>
          <a:p xmlns:a="http://schemas.openxmlformats.org/drawingml/2006/main">
            <a:r>
              <a:t>R3完整名称：一种面向软件V字开发流程的RAG检索方法及系统。公开日2026-05-08，权1、2、5—7，说明书S105—S107、S201—S203。</a:t>
            </a:r>
          </a:p>
          <a:p xmlns:a="http://schemas.openxmlformats.org/drawingml/2006/main">
            <a:r>
              <a:t>R4完整名称：人工智能集群交付事件的管理方法、装置、设备和介质。公开日2026-05-15，权1、4—10。</a:t>
            </a:r>
          </a:p>
          <a:p xmlns:a="http://schemas.openxmlformats.org/drawingml/2006/main">
            <a:r>
              <a:t>本方案对比项是需逐项论证的具体技术联系，不能仅因某文献未集中出现全部特征就认定具有创造性。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资料与依据</a:t>
            </a:r>
          </a:p>
          <a:p xmlns:a="http://schemas.openxmlformats.org/drawingml/2006/main">
            <a:r>
              <a:t>https://patents.google.com/patent/US20260072811A1/en</a:t>
            </a:r>
          </a:p>
          <a:p xmlns:a="http://schemas.openxmlformats.org/drawingml/2006/main">
            <a:r>
              <a:t>https://patents.google.com/patent/CN121935166A/zh</a:t>
            </a:r>
          </a:p>
          <a:p xmlns:a="http://schemas.openxmlformats.org/drawingml/2006/main">
            <a:r>
              <a:t>https://patents.google.com/patent/CN121935166B/zh</a:t>
            </a:r>
          </a:p>
          <a:p xmlns:a="http://schemas.openxmlformats.org/drawingml/2006/main">
            <a:r>
              <a:t>https://patents.google.com/patent/CN121996618A/zh</a:t>
            </a:r>
          </a:p>
          <a:p xmlns:a="http://schemas.openxmlformats.org/drawingml/2006/main">
            <a:r>
              <a:t>https://patents.google.com/patent/CN122044758A/zh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49ac2dde14d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01b0d3d194e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d209428ee4e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c4c0b739a44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d260d377847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e8ae5c7e44e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22C410-397D-4540-B67C-C4F87266B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AD2499-74C7-49A0-9A39-FB727C48FE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D33FFD-5A5E-4648-940B-F1532DC5E8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CFBB0B-CC1B-4E80-BCE4-71A86B4261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5B1B92-A451-4EB1-A2F7-5878EE6FEA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BE6EDE-9DB4-45CC-9D0A-3110C65541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93BA72-14ED-4462-A73A-F11A105375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B6EF19E-8A1D-455D-B129-A09DA33B11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33DC01-4CB2-4CCD-82D9-A7846E4702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A6E302-9747-4BB9-8E2A-49F02A596A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80789aa4c34eab" /><Relationship Type="http://schemas.openxmlformats.org/officeDocument/2006/relationships/slideLayout" Target="/ppt/slideLayouts/slideLayout1.xml" Id="Rf5d4c0e9cf9a41cb" /><Relationship Type="http://schemas.openxmlformats.org/officeDocument/2006/relationships/slideLayout" Target="/ppt/slideLayouts/slideLayout2.xml" Id="R612a701d6ef84d37" /><Relationship Type="http://schemas.openxmlformats.org/officeDocument/2006/relationships/slideLayout" Target="/ppt/slideLayouts/slideLayout3.xml" Id="R47a05c6efc774bb6" /><Relationship Type="http://schemas.openxmlformats.org/officeDocument/2006/relationships/slideLayout" Target="/ppt/slideLayouts/slideLayout4.xml" Id="Rad5b63fdf614448a" /><Relationship Type="http://schemas.openxmlformats.org/officeDocument/2006/relationships/slideLayout" Target="/ppt/slideLayouts/slideLayout5.xml" Id="R98fedd79e5744083" /><Relationship Type="http://schemas.openxmlformats.org/officeDocument/2006/relationships/slideLayout" Target="/ppt/slideLayouts/slideLayout6.xml" Id="R47445661d3d647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d4c0e9cf9a41cb"/>
    <p:sldLayoutId xmlns:r="http://schemas.openxmlformats.org/officeDocument/2006/relationships" id="2147483650" r:id="R612a701d6ef84d37"/>
    <p:sldLayoutId xmlns:r="http://schemas.openxmlformats.org/officeDocument/2006/relationships" id="2147483651" r:id="R47a05c6efc774bb6"/>
    <p:sldLayoutId xmlns:r="http://schemas.openxmlformats.org/officeDocument/2006/relationships" id="2147483652" r:id="Rad5b63fdf614448a"/>
    <p:sldLayoutId xmlns:r="http://schemas.openxmlformats.org/officeDocument/2006/relationships" id="2147483653" r:id="R98fedd79e5744083"/>
    <p:sldLayoutId xmlns:r="http://schemas.openxmlformats.org/officeDocument/2006/relationships" id="2147483654" r:id="R47445661d3d647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dd846658f4476" /><Relationship Type="http://schemas.openxmlformats.org/officeDocument/2006/relationships/notesSlide" Target="/ppt/notesSlides/notesSlide1.xml" Id="R49989a67fb984b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00a6edd194d8c" /><Relationship Type="http://schemas.openxmlformats.org/officeDocument/2006/relationships/notesSlide" Target="/ppt/notesSlides/notesSlide2.xml" Id="Ra9e703f5d5b24d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0ae3f0e634275" /><Relationship Type="http://schemas.openxmlformats.org/officeDocument/2006/relationships/notesSlide" Target="/ppt/notesSlides/notesSlide3.xml" Id="R72e2dfba6a87458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15bac4a0a1b4200"/><Relationship Type="http://schemas.openxmlformats.org/officeDocument/2006/relationships/notesSlide" Target="/ppt/notesSlides/notesSlide4.xml" Id="Ra8159eea93614f25"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b0fb9a3a24a43d3"/><Relationship Type="http://schemas.openxmlformats.org/officeDocument/2006/relationships/image" Target="/ppt/media/agent-generation-20261030-image.png" Id="Rd522c7b7f9654ae1"/><Relationship Type="http://schemas.openxmlformats.org/officeDocument/2006/relationships/image" Target="/ppt/media/agent-generation-20261030-image.svg" Id="Rc6eb75f1db5240fb"/><Relationship Type="http://schemas.openxmlformats.org/officeDocument/2006/relationships/image" Target="/ppt/media/agent-generation-20261030-image2.png" Id="Re12f5c8744c44f0d"/><Relationship Type="http://schemas.openxmlformats.org/officeDocument/2006/relationships/image" Target="/ppt/media/agent-generation-20261030-image2.svg" Id="R23c156227f7c42c5"/><Relationship Type="http://schemas.openxmlformats.org/officeDocument/2006/relationships/image" Target="/ppt/media/agent-generation-20261030-image3.png" Id="R3a87a553f414491f"/><Relationship Type="http://schemas.openxmlformats.org/officeDocument/2006/relationships/image" Target="/ppt/media/agent-generation-20261030-image3.svg" Id="Rb55a962c8e4c449d"/><Relationship Type="http://schemas.openxmlformats.org/officeDocument/2006/relationships/image" Target="/ppt/media/agent-generation-20261030-image4.png" Id="R47c0933c980944f8"/><Relationship Type="http://schemas.openxmlformats.org/officeDocument/2006/relationships/image" Target="/ppt/media/agent-generation-20261030-image4.svg" Id="Recc499cd65b74b0a"/><Relationship Type="http://schemas.openxmlformats.org/officeDocument/2006/relationships/image" Target="/ppt/media/agent-generation-20261030-image5.png" Id="Re6d162c4a10249ca"/><Relationship Type="http://schemas.openxmlformats.org/officeDocument/2006/relationships/image" Target="/ppt/media/agent-generation-20261030-image5.svg" Id="R45903cae53194565"/><Relationship Type="http://schemas.openxmlformats.org/officeDocument/2006/relationships/image" Target="/ppt/media/agent-generation-20261030-image6.png" Id="R1d18685538344a50"/><Relationship Type="http://schemas.openxmlformats.org/officeDocument/2006/relationships/image" Target="/ppt/media/agent-generation-20261030-image6.svg" Id="Rfe370409cec040ab"/><Relationship Type="http://schemas.openxmlformats.org/officeDocument/2006/relationships/image" Target="/ppt/media/agent-generation-20261030-image7.png" Id="Rff80362350874bb5"/><Relationship Type="http://schemas.openxmlformats.org/officeDocument/2006/relationships/image" Target="/ppt/media/agent-generation-20261030-image7.svg" Id="R7bc18e7eb4d2457d"/><Relationship Type="http://schemas.openxmlformats.org/officeDocument/2006/relationships/image" Target="/ppt/media/agent-generation-20261030-image8.png" Id="Rd47764a8c6384f4b"/><Relationship Type="http://schemas.openxmlformats.org/officeDocument/2006/relationships/image" Target="/ppt/media/agent-generation-20261030-image8.svg" Id="R3665e2efb4dc432e"/><Relationship Type="http://schemas.openxmlformats.org/officeDocument/2006/relationships/image" Target="/ppt/media/agent-generation-20261030-image9.png" Id="R0800628d26864cf4"/><Relationship Type="http://schemas.openxmlformats.org/officeDocument/2006/relationships/image" Target="/ppt/media/agent-generation-20261030-image9.svg" Id="R7416e4181f714179"/><Relationship Type="http://schemas.openxmlformats.org/officeDocument/2006/relationships/notesSlide" Target="/ppt/notesSlides/notesSlide5.xml" Id="Rb40775696c3643ea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7fc17f8f0054c4c"/><Relationship Type="http://schemas.openxmlformats.org/officeDocument/2006/relationships/notesSlide" Target="/ppt/notesSlides/notesSlide6.xml" Id="R61b1ebb4cd9d4d34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71B3EB-30D9-4557-A1FC-ED2D5DDA8C2B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2382500" y="324326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386"/>
            </a:solidFill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2A1D1F-26B7-423D-A00E-300CDD9A832B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0382250" y="324326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386"/>
            </a:solidFill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ED24C4-CB16-4C54-A5B1-1B11C32FD8A7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382000" y="324326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386"/>
            </a:solidFill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5AE04-7D70-470F-8C5C-030B0D9BB146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381750" y="324326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386"/>
            </a:solidFill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E62E8-1694-44AE-8A39-127E6E9369F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81500" y="324326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386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B74DC-0859-4ADB-82CF-0F0D9B3E711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81250" y="324326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386"/>
            </a:solidFill>
            <a:tailEnd type="triangle" w="sm" len="sm"/>
          </a:ln>
        </p:spPr>
      </p:cxnSp>
      <p:sp>
        <p:nvSpPr>
          <p:cNvPr id="58" name="background-text-1">
            <a:extLst xmlns:a="http://schemas.openxmlformats.org/drawingml/2006/main">
              <a:ext uri="{FF2B5EF4-FFF2-40B4-BE49-F238E27FC236}">
                <a16:creationId xmlns:a16="http://schemas.microsoft.com/office/drawing/2014/main" id="{D9E83139-458E-4DFF-A9E5-6C66875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rPr>
              <a:t>业务背景</a:t>
            </a:r>
          </a:p>
        </p:txBody>
      </p:sp>
      <p:sp>
        <p:nvSpPr>
          <p:cNvPr id="2" name="background-text-2">
            <a:extLst xmlns:a="http://schemas.openxmlformats.org/drawingml/2006/main">
              <a:ext uri="{FF2B5EF4-FFF2-40B4-BE49-F238E27FC236}">
                <a16:creationId xmlns:a16="http://schemas.microsoft.com/office/drawing/2014/main" id="{95ED3584-ABBC-4C1E-8342-4E0B8A95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386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 背景下的测试验证瓶颈</a:t>
            </a:r>
          </a:p>
        </p:txBody>
      </p:sp>
      <p:sp>
        <p:nvSpPr>
          <p:cNvPr id="3" name="background-text-3">
            <a:extLst xmlns:a="http://schemas.openxmlformats.org/drawingml/2006/main">
              <a:ext uri="{FF2B5EF4-FFF2-40B4-BE49-F238E27FC236}">
                <a16:creationId xmlns:a16="http://schemas.microsoft.com/office/drawing/2014/main" id="{24BFE636-4CEE-4D6B-B7DA-F2FBECA1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381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需求整理和代码开发加快，测试设计、执行和回归仍需要持续衔接。</a:t>
            </a:r>
          </a:p>
        </p:txBody>
      </p:sp>
      <p:sp>
        <p:nvSpPr>
          <p:cNvPr id="4" name="background-text-4">
            <a:extLst xmlns:a="http://schemas.openxmlformats.org/drawingml/2006/main">
              <a:ext uri="{FF2B5EF4-FFF2-40B4-BE49-F238E27FC236}">
                <a16:creationId xmlns:a16="http://schemas.microsoft.com/office/drawing/2014/main" id="{B930605A-5B84-48B7-91D6-038C17E6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rPr>
              <a:t>需求与开发提速</a:t>
            </a:r>
          </a:p>
        </p:txBody>
      </p:sp>
      <p:sp>
        <p:nvSpPr>
          <p:cNvPr id="5" name="background-text-5">
            <a:extLst xmlns:a="http://schemas.openxmlformats.org/drawingml/2006/main">
              <a:ext uri="{FF2B5EF4-FFF2-40B4-BE49-F238E27FC236}">
                <a16:creationId xmlns:a16="http://schemas.microsoft.com/office/drawing/2014/main" id="{8B59390D-4D52-41B6-9915-49010519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717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AI 可辅助编写和执行测试，人员仍需衔接各环节</a:t>
            </a:r>
          </a:p>
        </p:txBody>
      </p:sp>
      <p:cxnSp>
        <p:nvCxnSpPr>
          <p:cNvPr id="6" name="flow-6">
            <a:extLst xmlns:a="http://schemas.openxmlformats.org/drawingml/2006/main">
              <a:ext uri="{FF2B5EF4-FFF2-40B4-BE49-F238E27FC236}">
                <a16:creationId xmlns:a16="http://schemas.microsoft.com/office/drawing/2014/main" id="{F5D812A4-A94D-4330-B4E2-417EF032878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2562225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1D9D1"/>
            </a:solidFill>
            <a:tailEnd type="none" w="sm" len="sm"/>
          </a:ln>
        </p:spPr>
      </p:cxnSp>
      <p:cxnSp>
        <p:nvCxnSpPr>
          <p:cNvPr id="7" name="flow-7">
            <a:extLst xmlns:a="http://schemas.openxmlformats.org/drawingml/2006/main">
              <a:ext uri="{FF2B5EF4-FFF2-40B4-BE49-F238E27FC236}">
                <a16:creationId xmlns:a16="http://schemas.microsoft.com/office/drawing/2014/main" id="{4109F9E7-60A5-47B0-8F77-425BA30284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686300" y="2562225"/>
            <a:ext cx="7696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EC28B"/>
            </a:solidFill>
            <a:tailEnd type="none" w="sm" len="sm"/>
          </a:ln>
        </p:spPr>
      </p:cxnSp>
      <p:sp>
        <p:nvSpPr>
          <p:cNvPr id="8" name="process-需求纳入">
            <a:extLst xmlns:a="http://schemas.openxmlformats.org/drawingml/2006/main">
              <a:ext uri="{FF2B5EF4-FFF2-40B4-BE49-F238E27FC236}">
                <a16:creationId xmlns:a16="http://schemas.microsoft.com/office/drawing/2014/main" id="{21F1299A-4C5D-40BB-9DA7-3B443F69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95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3"/>
          </a:solidFill>
          <a:ln xmlns:a="http://schemas.openxmlformats.org/drawingml/2006/main" w="14288">
            <a:solidFill>
              <a:srgbClr val="587386"/>
            </a:solidFill>
          </a:ln>
        </p:spPr>
      </p:sp>
      <p:sp>
        <p:nvSpPr>
          <p:cNvPr id="9" name="background-text-8">
            <a:extLst xmlns:a="http://schemas.openxmlformats.org/drawingml/2006/main">
              <a:ext uri="{FF2B5EF4-FFF2-40B4-BE49-F238E27FC236}">
                <a16:creationId xmlns:a16="http://schemas.microsoft.com/office/drawing/2014/main" id="{BED8C462-EB54-48BE-8080-F444D145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需求纳入</a:t>
            </a:r>
          </a:p>
        </p:txBody>
      </p:sp>
      <p:sp>
        <p:nvSpPr>
          <p:cNvPr id="10" name="background-text-9">
            <a:extLst xmlns:a="http://schemas.openxmlformats.org/drawingml/2006/main">
              <a:ext uri="{FF2B5EF4-FFF2-40B4-BE49-F238E27FC236}">
                <a16:creationId xmlns:a16="http://schemas.microsoft.com/office/drawing/2014/main" id="{3DF58B08-7C0E-4045-A1D5-87404A9A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梳理 / 澄清</a:t>
            </a:r>
          </a:p>
        </p:txBody>
      </p:sp>
      <p:sp>
        <p:nvSpPr>
          <p:cNvPr id="11" name="process-开发">
            <a:extLst xmlns:a="http://schemas.openxmlformats.org/drawingml/2006/main">
              <a:ext uri="{FF2B5EF4-FFF2-40B4-BE49-F238E27FC236}">
                <a16:creationId xmlns:a16="http://schemas.microsoft.com/office/drawing/2014/main" id="{5159810E-6584-44EF-AF69-54AE9A3D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62250"/>
            <a:ext cx="1695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3"/>
          </a:solidFill>
          <a:ln xmlns:a="http://schemas.openxmlformats.org/drawingml/2006/main" w="14288">
            <a:solidFill>
              <a:srgbClr val="587386"/>
            </a:solidFill>
          </a:ln>
        </p:spPr>
      </p:sp>
      <p:sp>
        <p:nvSpPr>
          <p:cNvPr id="12" name="background-text-10">
            <a:extLst xmlns:a="http://schemas.openxmlformats.org/drawingml/2006/main">
              <a:ext uri="{FF2B5EF4-FFF2-40B4-BE49-F238E27FC236}">
                <a16:creationId xmlns:a16="http://schemas.microsoft.com/office/drawing/2014/main" id="{665671D0-8B9C-4422-AAA7-A254BC58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051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开发</a:t>
            </a:r>
          </a:p>
        </p:txBody>
      </p:sp>
      <p:sp>
        <p:nvSpPr>
          <p:cNvPr id="13" name="background-text-11">
            <a:extLst xmlns:a="http://schemas.openxmlformats.org/drawingml/2006/main">
              <a:ext uri="{FF2B5EF4-FFF2-40B4-BE49-F238E27FC236}">
                <a16:creationId xmlns:a16="http://schemas.microsoft.com/office/drawing/2014/main" id="{AF9BB5B0-7748-4708-8654-A3B9CC3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编码 / 单测</a:t>
            </a:r>
          </a:p>
        </p:txBody>
      </p:sp>
      <p:sp>
        <p:nvSpPr>
          <p:cNvPr id="15" name="process-测试设计">
            <a:extLst xmlns:a="http://schemas.openxmlformats.org/drawingml/2006/main">
              <a:ext uri="{FF2B5EF4-FFF2-40B4-BE49-F238E27FC236}">
                <a16:creationId xmlns:a16="http://schemas.microsoft.com/office/drawing/2014/main" id="{2597F65C-00D1-4E61-9575-761E5EE8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62250"/>
            <a:ext cx="1695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044"/>
          </a:solidFill>
          <a:ln xmlns:a="http://schemas.openxmlformats.org/drawingml/2006/main" w="14288">
            <a:solidFill>
              <a:srgbClr val="EEC28B"/>
            </a:solidFill>
          </a:ln>
        </p:spPr>
      </p:sp>
      <p:sp>
        <p:nvSpPr>
          <p:cNvPr id="16" name="background-text-12">
            <a:extLst xmlns:a="http://schemas.openxmlformats.org/drawingml/2006/main">
              <a:ext uri="{FF2B5EF4-FFF2-40B4-BE49-F238E27FC236}">
                <a16:creationId xmlns:a16="http://schemas.microsoft.com/office/drawing/2014/main" id="{8D080EBC-3F25-4494-BEFC-E1EA1960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测试设计</a:t>
            </a:r>
          </a:p>
        </p:txBody>
      </p:sp>
      <p:sp>
        <p:nvSpPr>
          <p:cNvPr id="17" name="background-text-13">
            <a:extLst xmlns:a="http://schemas.openxmlformats.org/drawingml/2006/main">
              <a:ext uri="{FF2B5EF4-FFF2-40B4-BE49-F238E27FC236}">
                <a16:creationId xmlns:a16="http://schemas.microsoft.com/office/drawing/2014/main" id="{3C830470-DC2B-45AE-81B1-9F43E5F8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33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场景 / 用例</a:t>
            </a:r>
          </a:p>
        </p:txBody>
      </p:sp>
      <p:sp>
        <p:nvSpPr>
          <p:cNvPr id="19" name="process-测试评审">
            <a:extLst xmlns:a="http://schemas.openxmlformats.org/drawingml/2006/main">
              <a:ext uri="{FF2B5EF4-FFF2-40B4-BE49-F238E27FC236}">
                <a16:creationId xmlns:a16="http://schemas.microsoft.com/office/drawing/2014/main" id="{DA19B126-3BB4-419D-871E-9515D4FE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1695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044"/>
          </a:solidFill>
          <a:ln xmlns:a="http://schemas.openxmlformats.org/drawingml/2006/main" w="14288">
            <a:solidFill>
              <a:srgbClr val="EEC28B"/>
            </a:solidFill>
          </a:ln>
        </p:spPr>
      </p:sp>
      <p:sp>
        <p:nvSpPr>
          <p:cNvPr id="20" name="background-text-14">
            <a:extLst xmlns:a="http://schemas.openxmlformats.org/drawingml/2006/main">
              <a:ext uri="{FF2B5EF4-FFF2-40B4-BE49-F238E27FC236}">
                <a16:creationId xmlns:a16="http://schemas.microsoft.com/office/drawing/2014/main" id="{DECAE4FB-6B64-4751-866E-24F0DD4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测试评审</a:t>
            </a:r>
          </a:p>
        </p:txBody>
      </p:sp>
      <p:sp>
        <p:nvSpPr>
          <p:cNvPr id="21" name="background-text-15">
            <a:extLst xmlns:a="http://schemas.openxmlformats.org/drawingml/2006/main">
              <a:ext uri="{FF2B5EF4-FFF2-40B4-BE49-F238E27FC236}">
                <a16:creationId xmlns:a16="http://schemas.microsoft.com/office/drawing/2014/main" id="{276C497A-A250-4EEA-9903-A0744BB0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范围 / 通过条件</a:t>
            </a:r>
          </a:p>
        </p:txBody>
      </p:sp>
      <p:sp>
        <p:nvSpPr>
          <p:cNvPr id="23" name="process-测试准备">
            <a:extLst xmlns:a="http://schemas.openxmlformats.org/drawingml/2006/main">
              <a:ext uri="{FF2B5EF4-FFF2-40B4-BE49-F238E27FC236}">
                <a16:creationId xmlns:a16="http://schemas.microsoft.com/office/drawing/2014/main" id="{68CF131C-D93E-4CB6-85DF-D222D46F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62250"/>
            <a:ext cx="1695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044"/>
          </a:solidFill>
          <a:ln xmlns:a="http://schemas.openxmlformats.org/drawingml/2006/main" w="14288">
            <a:solidFill>
              <a:srgbClr val="EEC28B"/>
            </a:solidFill>
          </a:ln>
        </p:spPr>
      </p:sp>
      <p:sp>
        <p:nvSpPr>
          <p:cNvPr id="24" name="background-text-16">
            <a:extLst xmlns:a="http://schemas.openxmlformats.org/drawingml/2006/main">
              <a:ext uri="{FF2B5EF4-FFF2-40B4-BE49-F238E27FC236}">
                <a16:creationId xmlns:a16="http://schemas.microsoft.com/office/drawing/2014/main" id="{343D6621-C154-49EC-BAE3-70F73CD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测试准备</a:t>
            </a:r>
          </a:p>
        </p:txBody>
      </p:sp>
      <p:sp>
        <p:nvSpPr>
          <p:cNvPr id="25" name="background-text-17">
            <a:extLst xmlns:a="http://schemas.openxmlformats.org/drawingml/2006/main">
              <a:ext uri="{FF2B5EF4-FFF2-40B4-BE49-F238E27FC236}">
                <a16:creationId xmlns:a16="http://schemas.microsoft.com/office/drawing/2014/main" id="{B117D4F9-9A75-476C-8BAA-B14D39CA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脚本 / 环境 / 数据</a:t>
            </a:r>
          </a:p>
        </p:txBody>
      </p:sp>
      <p:sp>
        <p:nvSpPr>
          <p:cNvPr id="27" name="process-测试验证">
            <a:extLst xmlns:a="http://schemas.openxmlformats.org/drawingml/2006/main">
              <a:ext uri="{FF2B5EF4-FFF2-40B4-BE49-F238E27FC236}">
                <a16:creationId xmlns:a16="http://schemas.microsoft.com/office/drawing/2014/main" id="{802B1A8F-FBBF-442E-89BE-04811F1B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62250"/>
            <a:ext cx="1695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044"/>
          </a:solidFill>
          <a:ln xmlns:a="http://schemas.openxmlformats.org/drawingml/2006/main" w="14288">
            <a:solidFill>
              <a:srgbClr val="EEC28B"/>
            </a:solidFill>
          </a:ln>
        </p:spPr>
      </p:sp>
      <p:sp>
        <p:nvSpPr>
          <p:cNvPr id="28" name="background-text-18">
            <a:extLst xmlns:a="http://schemas.openxmlformats.org/drawingml/2006/main">
              <a:ext uri="{FF2B5EF4-FFF2-40B4-BE49-F238E27FC236}">
                <a16:creationId xmlns:a16="http://schemas.microsoft.com/office/drawing/2014/main" id="{08D5D09B-8C22-4564-8AAC-79999C7F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051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测试验证</a:t>
            </a:r>
          </a:p>
        </p:txBody>
      </p:sp>
      <p:sp>
        <p:nvSpPr>
          <p:cNvPr id="29" name="background-text-19">
            <a:extLst xmlns:a="http://schemas.openxmlformats.org/drawingml/2006/main">
              <a:ext uri="{FF2B5EF4-FFF2-40B4-BE49-F238E27FC236}">
                <a16:creationId xmlns:a16="http://schemas.microsoft.com/office/drawing/2014/main" id="{C31FE944-A371-4455-8D41-CE67D4E6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333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执行 / 回归 / 分析</a:t>
            </a:r>
          </a:p>
        </p:txBody>
      </p:sp>
      <p:sp>
        <p:nvSpPr>
          <p:cNvPr id="31" name="process-上线">
            <a:extLst xmlns:a="http://schemas.openxmlformats.org/drawingml/2006/main">
              <a:ext uri="{FF2B5EF4-FFF2-40B4-BE49-F238E27FC236}">
                <a16:creationId xmlns:a16="http://schemas.microsoft.com/office/drawing/2014/main" id="{C47D91E1-BBD1-438D-919C-FF7A23D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2762250"/>
            <a:ext cx="16954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A53"/>
          </a:solidFill>
          <a:ln xmlns:a="http://schemas.openxmlformats.org/drawingml/2006/main" w="14288">
            <a:solidFill>
              <a:srgbClr val="587386"/>
            </a:solidFill>
          </a:ln>
        </p:spPr>
      </p:sp>
      <p:sp>
        <p:nvSpPr>
          <p:cNvPr id="32" name="background-text-20">
            <a:extLst xmlns:a="http://schemas.openxmlformats.org/drawingml/2006/main">
              <a:ext uri="{FF2B5EF4-FFF2-40B4-BE49-F238E27FC236}">
                <a16:creationId xmlns:a16="http://schemas.microsoft.com/office/drawing/2014/main" id="{92A812FD-1168-4094-8E2C-6C5F5B09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905125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上线</a:t>
            </a:r>
          </a:p>
        </p:txBody>
      </p:sp>
      <p:sp>
        <p:nvSpPr>
          <p:cNvPr id="33" name="background-text-21">
            <a:extLst xmlns:a="http://schemas.openxmlformats.org/drawingml/2006/main">
              <a:ext uri="{FF2B5EF4-FFF2-40B4-BE49-F238E27FC236}">
                <a16:creationId xmlns:a16="http://schemas.microsoft.com/office/drawing/2014/main" id="{9EF5C027-6A9C-4FE0-99EA-1BB8B3ED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333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准入 / 发布</a:t>
            </a:r>
          </a:p>
        </p:txBody>
      </p:sp>
      <p:cxnSp>
        <p:nvCxnSpPr>
          <p:cNvPr id="35" name="flow-22">
            <a:extLst xmlns:a="http://schemas.openxmlformats.org/drawingml/2006/main">
              <a:ext uri="{FF2B5EF4-FFF2-40B4-BE49-F238E27FC236}">
                <a16:creationId xmlns:a16="http://schemas.microsoft.com/office/drawing/2014/main" id="{1A1CAD8C-A32F-49B3-AA14-C2EECDA6FC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35025" y="37433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DC2D0"/>
            </a:solidFill>
            <a:tailEnd type="none" w="sm" len="sm"/>
          </a:ln>
        </p:spPr>
      </p:cxnSp>
      <p:cxnSp>
        <p:nvCxnSpPr>
          <p:cNvPr id="36" name="flow-23">
            <a:extLst xmlns:a="http://schemas.openxmlformats.org/drawingml/2006/main">
              <a:ext uri="{FF2B5EF4-FFF2-40B4-BE49-F238E27FC236}">
                <a16:creationId xmlns:a16="http://schemas.microsoft.com/office/drawing/2014/main" id="{60254068-CB8F-49EB-B56D-F2E4BC34B3C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533525" y="4076700"/>
            <a:ext cx="1200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DC2D0"/>
            </a:solidFill>
            <a:tailEnd type="none" w="sm" len="sm"/>
          </a:ln>
        </p:spPr>
      </p:cxnSp>
      <p:cxnSp>
        <p:nvCxnSpPr>
          <p:cNvPr id="37" name="flow-24">
            <a:extLst xmlns:a="http://schemas.openxmlformats.org/drawingml/2006/main">
              <a:ext uri="{FF2B5EF4-FFF2-40B4-BE49-F238E27FC236}">
                <a16:creationId xmlns:a16="http://schemas.microsoft.com/office/drawing/2014/main" id="{53A79F72-61E0-4E63-8CAD-CD7710C773C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533525" y="37433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DC2D0"/>
            </a:solidFill>
            <a:tailEnd type="triangle" w="sm" len="sm"/>
          </a:ln>
        </p:spPr>
      </p:cxnSp>
      <p:sp>
        <p:nvSpPr>
          <p:cNvPr id="38" name="background-text-25">
            <a:extLst xmlns:a="http://schemas.openxmlformats.org/drawingml/2006/main">
              <a:ext uri="{FF2B5EF4-FFF2-40B4-BE49-F238E27FC236}">
                <a16:creationId xmlns:a16="http://schemas.microsoft.com/office/drawing/2014/main" id="{3BA31D4D-7BD3-40D8-B209-7AA49005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1957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下一轮迭代：哪些用例可复用、哪里需要补测、旧版本的通过结果还能用吗？</a:t>
            </a:r>
          </a:p>
        </p:txBody>
      </p:sp>
      <p:sp>
        <p:nvSpPr>
          <p:cNvPr id="39" name="background-text-26">
            <a:extLst xmlns:a="http://schemas.openxmlformats.org/drawingml/2006/main">
              <a:ext uri="{FF2B5EF4-FFF2-40B4-BE49-F238E27FC236}">
                <a16:creationId xmlns:a16="http://schemas.microsoft.com/office/drawing/2014/main" id="{CFB6DA1E-C6BE-488D-8A69-E186709E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3868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测试环节的问题与动态系统画像的作用</a:t>
            </a:r>
          </a:p>
        </p:txBody>
      </p:sp>
      <p:sp>
        <p:nvSpPr>
          <p:cNvPr id="40" name="background-text-27">
            <a:extLst xmlns:a="http://schemas.openxmlformats.org/drawingml/2006/main">
              <a:ext uri="{FF2B5EF4-FFF2-40B4-BE49-F238E27FC236}">
                <a16:creationId xmlns:a16="http://schemas.microsoft.com/office/drawing/2014/main" id="{4E1B6026-1CA7-4F78-B01E-B46874CF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影响范围需反复判断</a:t>
            </a:r>
          </a:p>
        </p:txBody>
      </p:sp>
      <p:sp>
        <p:nvSpPr>
          <p:cNvPr id="41" name="background-text-28">
            <a:extLst xmlns:a="http://schemas.openxmlformats.org/drawingml/2006/main">
              <a:ext uri="{FF2B5EF4-FFF2-40B4-BE49-F238E27FC236}">
                <a16:creationId xmlns:a16="http://schemas.microsoft.com/office/drawing/2014/main" id="{B10B45D5-C351-4F8C-9B18-A7DF7D99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需求、代码与测试关系分散</a:t>
            </a:r>
          </a:p>
        </p:txBody>
      </p:sp>
      <p:cxnSp>
        <p:nvCxnSpPr>
          <p:cNvPr id="42" name="flow-29">
            <a:extLst xmlns:a="http://schemas.openxmlformats.org/drawingml/2006/main">
              <a:ext uri="{FF2B5EF4-FFF2-40B4-BE49-F238E27FC236}">
                <a16:creationId xmlns:a16="http://schemas.microsoft.com/office/drawing/2014/main" id="{49B03ACC-8E7D-44E7-8178-91CA8B8CC6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6200775"/>
            <a:ext cx="4171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87386"/>
            </a:solidFill>
            <a:tailEnd type="none" w="sm" len="sm"/>
          </a:ln>
        </p:spPr>
      </p:cxnSp>
      <p:sp>
        <p:nvSpPr>
          <p:cNvPr id="43" name="background-text-30">
            <a:extLst xmlns:a="http://schemas.openxmlformats.org/drawingml/2006/main">
              <a:ext uri="{FF2B5EF4-FFF2-40B4-BE49-F238E27FC236}">
                <a16:creationId xmlns:a16="http://schemas.microsoft.com/office/drawing/2014/main" id="{7132E7F5-5C23-456E-82BE-4623A94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rPr>
              <a:t>关联需求、代码与测试</a:t>
            </a:r>
          </a:p>
        </p:txBody>
      </p:sp>
      <p:sp>
        <p:nvSpPr>
          <p:cNvPr id="44" name="background-text-31">
            <a:extLst xmlns:a="http://schemas.openxmlformats.org/drawingml/2006/main">
              <a:ext uri="{FF2B5EF4-FFF2-40B4-BE49-F238E27FC236}">
                <a16:creationId xmlns:a16="http://schemas.microsoft.com/office/drawing/2014/main" id="{6A2DEF06-A144-437A-B1D5-2EA4252C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91325"/>
            <a:ext cx="4343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找出受影响的业务行为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复用适用用例，补齐验证缺口</a:t>
            </a:r>
          </a:p>
        </p:txBody>
      </p:sp>
      <p:sp>
        <p:nvSpPr>
          <p:cNvPr id="45" name="background-text-32">
            <a:extLst xmlns:a="http://schemas.openxmlformats.org/drawingml/2006/main">
              <a:ext uri="{FF2B5EF4-FFF2-40B4-BE49-F238E27FC236}">
                <a16:creationId xmlns:a16="http://schemas.microsoft.com/office/drawing/2014/main" id="{4A98D60F-912A-4635-BD5E-46948E35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38162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设计到执行仍有衔接成本</a:t>
            </a:r>
          </a:p>
        </p:txBody>
      </p:sp>
      <p:sp>
        <p:nvSpPr>
          <p:cNvPr id="46" name="background-text-33">
            <a:extLst xmlns:a="http://schemas.openxmlformats.org/drawingml/2006/main">
              <a:ext uri="{FF2B5EF4-FFF2-40B4-BE49-F238E27FC236}">
                <a16:creationId xmlns:a16="http://schemas.microsoft.com/office/drawing/2014/main" id="{9027C4BA-0554-4118-A7D3-8AFA8188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816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用例、脚本及环境数据需维护</a:t>
            </a:r>
          </a:p>
        </p:txBody>
      </p:sp>
      <p:cxnSp>
        <p:nvCxnSpPr>
          <p:cNvPr id="47" name="flow-34">
            <a:extLst xmlns:a="http://schemas.openxmlformats.org/drawingml/2006/main">
              <a:ext uri="{FF2B5EF4-FFF2-40B4-BE49-F238E27FC236}">
                <a16:creationId xmlns:a16="http://schemas.microsoft.com/office/drawing/2014/main" id="{AF3AAD2C-6B21-4173-9599-7A4BEBAE85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48300" y="6200775"/>
            <a:ext cx="4171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87386"/>
            </a:solidFill>
            <a:tailEnd type="none" w="sm" len="sm"/>
          </a:ln>
        </p:spPr>
      </p:cxnSp>
      <p:sp>
        <p:nvSpPr>
          <p:cNvPr id="48" name="background-text-35">
            <a:extLst xmlns:a="http://schemas.openxmlformats.org/drawingml/2006/main">
              <a:ext uri="{FF2B5EF4-FFF2-40B4-BE49-F238E27FC236}">
                <a16:creationId xmlns:a16="http://schemas.microsoft.com/office/drawing/2014/main" id="{51DD67CA-FA8B-4CD4-AA10-955DB945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3627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rPr>
              <a:t>自动生成与验证执行</a:t>
            </a:r>
          </a:p>
        </p:txBody>
      </p:sp>
      <p:sp>
        <p:nvSpPr>
          <p:cNvPr id="49" name="background-text-36">
            <a:extLst xmlns:a="http://schemas.openxmlformats.org/drawingml/2006/main">
              <a:ext uri="{FF2B5EF4-FFF2-40B4-BE49-F238E27FC236}">
                <a16:creationId xmlns:a16="http://schemas.microsoft.com/office/drawing/2014/main" id="{B43CDDB5-1CBA-4D1B-AB3C-A393C229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6791325"/>
            <a:ext cx="4343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生成用例与脚本，绑定目标版本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按批准的验收条件判断并保留证据</a:t>
            </a:r>
          </a:p>
        </p:txBody>
      </p:sp>
      <p:sp>
        <p:nvSpPr>
          <p:cNvPr id="50" name="background-text-37">
            <a:extLst xmlns:a="http://schemas.openxmlformats.org/drawingml/2006/main">
              <a:ext uri="{FF2B5EF4-FFF2-40B4-BE49-F238E27FC236}">
                <a16:creationId xmlns:a16="http://schemas.microsoft.com/office/drawing/2014/main" id="{A1D2A9F6-6B12-4C8F-994A-EDD8AF89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381625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EC28B"/>
                </a:solidFill>
                <a:latin typeface="Arial Unicode MS"/>
                <a:ea typeface="Arial Unicode MS"/>
                <a:cs typeface="Arial Unicode MS"/>
              </a:rPr>
              <a:t>新迭代需要重新确定回归范围</a:t>
            </a:r>
          </a:p>
        </p:txBody>
      </p:sp>
      <p:sp>
        <p:nvSpPr>
          <p:cNvPr id="51" name="background-text-38">
            <a:extLst xmlns:a="http://schemas.openxmlformats.org/drawingml/2006/main">
              <a:ext uri="{FF2B5EF4-FFF2-40B4-BE49-F238E27FC236}">
                <a16:creationId xmlns:a16="http://schemas.microsoft.com/office/drawing/2014/main" id="{5991FCB4-730F-4378-A741-62D23A0E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资产与历史结果未必适用</a:t>
            </a:r>
          </a:p>
        </p:txBody>
      </p:sp>
      <p:cxnSp>
        <p:nvCxnSpPr>
          <p:cNvPr id="52" name="flow-39">
            <a:extLst xmlns:a="http://schemas.openxmlformats.org/drawingml/2006/main">
              <a:ext uri="{FF2B5EF4-FFF2-40B4-BE49-F238E27FC236}">
                <a16:creationId xmlns:a16="http://schemas.microsoft.com/office/drawing/2014/main" id="{29380DAB-E17C-41E1-A338-EE6F241F75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210800" y="6200775"/>
            <a:ext cx="4171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87386"/>
            </a:solidFill>
            <a:tailEnd type="none" w="sm" len="sm"/>
          </a:ln>
        </p:spPr>
      </p:cxnSp>
      <p:sp>
        <p:nvSpPr>
          <p:cNvPr id="53" name="background-text-40">
            <a:extLst xmlns:a="http://schemas.openxmlformats.org/drawingml/2006/main">
              <a:ext uri="{FF2B5EF4-FFF2-40B4-BE49-F238E27FC236}">
                <a16:creationId xmlns:a16="http://schemas.microsoft.com/office/drawing/2014/main" id="{C052073E-922C-4E34-AE95-24C2C8A5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36270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81D9D1"/>
                </a:solidFill>
                <a:latin typeface="Arial Unicode MS"/>
                <a:ea typeface="Arial Unicode MS"/>
                <a:cs typeface="Arial Unicode MS"/>
              </a:rPr>
              <a:t>采纳有效数据，滚动更新</a:t>
            </a:r>
          </a:p>
        </p:txBody>
      </p:sp>
      <p:sp>
        <p:nvSpPr>
          <p:cNvPr id="54" name="background-text-41">
            <a:extLst xmlns:a="http://schemas.openxmlformats.org/drawingml/2006/main">
              <a:ext uri="{FF2B5EF4-FFF2-40B4-BE49-F238E27FC236}">
                <a16:creationId xmlns:a16="http://schemas.microsoft.com/office/drawing/2014/main" id="{DE191CD4-4FCF-4824-9FE1-E601825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791325"/>
            <a:ext cx="4343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纳入新来源和实际运行记录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DCEAF1"/>
                </a:solidFill>
                <a:latin typeface="Arial Unicode MS"/>
                <a:ea typeface="Arial Unicode MS"/>
                <a:cs typeface="Arial Unicode MS"/>
              </a:rPr>
              <a:t>更新画像，重查用例和证据是否适用</a:t>
            </a:r>
          </a:p>
        </p:txBody>
      </p:sp>
      <p:sp>
        <p:nvSpPr>
          <p:cNvPr id="55" name="background-text-42">
            <a:extLst xmlns:a="http://schemas.openxmlformats.org/drawingml/2006/main">
              <a:ext uri="{FF2B5EF4-FFF2-40B4-BE49-F238E27FC236}">
                <a16:creationId xmlns:a16="http://schemas.microsoft.com/office/drawing/2014/main" id="{14E53560-182C-446D-8297-9EB09AEF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48575"/>
            <a:ext cx="13868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预期效果：减少重复理解与测试维护，降低漏测及错误放行风险，提高交付效率与上线质量。</a:t>
            </a:r>
          </a:p>
        </p:txBody>
      </p:sp>
      <p:sp>
        <p:nvSpPr>
          <p:cNvPr id="56" name="background-text-43">
            <a:extLst xmlns:a="http://schemas.openxmlformats.org/drawingml/2006/main">
              <a:ext uri="{FF2B5EF4-FFF2-40B4-BE49-F238E27FC236}">
                <a16:creationId xmlns:a16="http://schemas.microsoft.com/office/drawing/2014/main" id="{18A36310-19D6-4DE9-95C9-5FEEB820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rPr>
              <a:t>一种基于动态系统画像的测试用例生成与软件验证方法</a:t>
            </a:r>
          </a:p>
        </p:txBody>
      </p:sp>
      <p:sp>
        <p:nvSpPr>
          <p:cNvPr id="57" name="background-text-44">
            <a:extLst xmlns:a="http://schemas.openxmlformats.org/drawingml/2006/main">
              <a:ext uri="{FF2B5EF4-FFF2-40B4-BE49-F238E27FC236}">
                <a16:creationId xmlns:a16="http://schemas.microsoft.com/office/drawing/2014/main" id="{651F22AD-6D67-4931-A2EB-86E92094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81724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DC2D0"/>
                </a:solidFill>
                <a:latin typeface="Arial Unicode MS"/>
                <a:ea typeface="Arial Unicode MS"/>
                <a:cs typeface="Arial Unicode MS"/>
              </a:rPr>
              <a:t>01 / 06</a:t>
            </a:r>
          </a:p>
        </p:txBody>
      </p:sp>
    </p:spTree>
    <p:extLst>
      <p:ext uri="{BB962C8B-B14F-4D97-AF65-F5344CB8AC3E}">
        <p14:creationId xmlns:p14="http://schemas.microsoft.com/office/powerpoint/2010/main" val="1260254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ethods-text-1">
            <a:extLst xmlns:a="http://schemas.openxmlformats.org/drawingml/2006/main">
              <a:ext uri="{FF2B5EF4-FFF2-40B4-BE49-F238E27FC236}">
                <a16:creationId xmlns:a16="http://schemas.microsoft.com/office/drawing/2014/main" id="{D4AA2EF2-A82F-42E5-B65F-B8294166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现有技术及其局限性</a:t>
            </a:r>
          </a:p>
        </p:txBody>
      </p:sp>
      <p:sp>
        <p:nvSpPr>
          <p:cNvPr id="2" name="methods-text-2">
            <a:extLst xmlns:a="http://schemas.openxmlformats.org/drawingml/2006/main">
              <a:ext uri="{FF2B5EF4-FFF2-40B4-BE49-F238E27FC236}">
                <a16:creationId xmlns:a16="http://schemas.microsoft.com/office/drawing/2014/main" id="{49EF47A1-35AE-4032-A98E-131C2A20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386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持续迭代时，关联关系需要更新，新增要求需要补测，生成结果需要保持原有验收条件。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CCBEA-2A04-44B7-AAE5-9C030FFFA65A}"/>
              </a:ext>
            </a:extLst>
          </p:cNvPr>
          <p:cNvGraphicFramePr/>
          <p:nvPr/>
        </p:nvGraphicFramePr>
        <p:xfrm>
          <a:off xmlns:a="http://schemas.openxmlformats.org/drawingml/2006/main" x="666750" y="2019300"/>
          <a:ext xmlns:a="http://schemas.openxmlformats.org/drawingml/2006/main" cx="13906500" cy="5295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953250"/>
                <a:gridCol w="695325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现有技术</a:t>
                      </a:r>
                    </a:p>
                  </a:txBody>
                  <a:tcPr marL="209550" marR="190500" marT="76200" marB="76200" anchor="t">
                    <a:lnL w="9525">
                      <a:solidFill>
                        <a:srgbClr val="DCE4E9"/>
                      </a:solidFill>
                      <a:prstDash val="solid"/>
                    </a:lnL>
                    <a:lnR w="9525">
                      <a:solidFill>
                        <a:srgbClr val="DCE4E9"/>
                      </a:solidFill>
                      <a:prstDash val="solid"/>
                    </a:lnR>
                    <a:lnT w="9525">
                      <a:solidFill>
                        <a:srgbClr val="DCE4E9"/>
                      </a:solidFill>
                      <a:prstDash val="solid"/>
                    </a:lnT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局限性</a:t>
                      </a:r>
                    </a:p>
                  </a:txBody>
                  <a:tcPr marL="209550" marR="190500" marT="76200" marB="76200" anchor="t">
                    <a:lnR w="9525">
                      <a:solidFill>
                        <a:srgbClr val="DCE4E9"/>
                      </a:solidFill>
                      <a:prstDash val="solid"/>
                    </a:lnR>
                    <a:lnT w="9525">
                      <a:solidFill>
                        <a:srgbClr val="DCE4E9"/>
                      </a:solidFill>
                      <a:prstDash val="solid"/>
                    </a:lnT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需求与测试追踪技术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建立需求、用例、缺陷和测试结果间的关联，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支持覆盖追踪与变更审查。</a:t>
                      </a:r>
                    </a:p>
                  </a:txBody>
                  <a:tcPr marL="209550" marR="190500" marT="95250" marB="76200" anchor="t">
                    <a:lnL w="9525">
                      <a:solidFill>
                        <a:srgbClr val="DCE4E9"/>
                      </a:solidFill>
                      <a:prstDash val="solid"/>
                    </a:lnL>
                    <a:lnR w="9525">
                      <a:solidFill>
                        <a:srgbClr val="DCE4E9"/>
                      </a:solidFill>
                      <a:prstDash val="solid"/>
                    </a:lnR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关联需要随变更持续维护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需求或代码变化后，需要重新检查关联和测试范围。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缺少联动更新时，关联可能滞后。</a:t>
                      </a:r>
                    </a:p>
                  </a:txBody>
                  <a:tcPr marL="209550" marR="190500" marT="95250" marB="76200" anchor="t">
                    <a:lnR w="9525">
                      <a:solidFill>
                        <a:srgbClr val="DCE4E9"/>
                      </a:solidFill>
                      <a:prstDash val="solid"/>
                    </a:lnR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自动化测试与持续集成/交付（CI/CD）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通过脚本和流水线触发测试、采集结果，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支持并行执行与发布检查。</a:t>
                      </a:r>
                    </a:p>
                  </a:txBody>
                  <a:tcPr marL="209550" marR="190500" marT="95250" marB="76200" anchor="t">
                    <a:lnL w="9525">
                      <a:solidFill>
                        <a:srgbClr val="DCE4E9"/>
                      </a:solidFill>
                      <a:prstDash val="solid"/>
                    </a:lnL>
                    <a:lnR w="9525">
                      <a:solidFill>
                        <a:srgbClr val="DCE4E9"/>
                      </a:solidFill>
                      <a:prstDash val="solid"/>
                    </a:lnR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验证范围受已有用例和检查条件限制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仅执行已有脚本时，新增验收要求可能缺少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对应的用例、步骤或结果检查。</a:t>
                      </a:r>
                    </a:p>
                  </a:txBody>
                  <a:tcPr marL="209550" marR="190500" marT="95250" marB="76200" anchor="t">
                    <a:lnR w="9525">
                      <a:solidFill>
                        <a:srgbClr val="DCE4E9"/>
                      </a:solidFill>
                      <a:prstDash val="solid"/>
                    </a:lnR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大模型与检索增强生成（RAG）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检索需求和代码等材料，辅助模型生成用例或脚本，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再通过执行反馈筛选和修正结果。</a:t>
                      </a:r>
                    </a:p>
                  </a:txBody>
                  <a:tcPr marL="209550" marR="190500" marT="95250" marB="76200" anchor="t">
                    <a:lnL w="9525">
                      <a:solidFill>
                        <a:srgbClr val="DCE4E9"/>
                      </a:solidFill>
                      <a:prstDash val="solid"/>
                    </a:lnL>
                    <a:lnR w="9525">
                      <a:solidFill>
                        <a:srgbClr val="DCE4E9"/>
                      </a:solidFill>
                      <a:prstDash val="solid"/>
                    </a:lnR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需要核对条件是否完整、预期是否被改写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缺少约束时，材料裁剪或模型生成可能遗漏条件，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也可能改写已经确定的验收预期。</a:t>
                      </a:r>
                    </a:p>
                  </a:txBody>
                  <a:tcPr marL="209550" marR="190500" marT="95250" marB="76200" anchor="t">
                    <a:lnR w="9525">
                      <a:solidFill>
                        <a:srgbClr val="DCE4E9"/>
                      </a:solidFill>
                      <a:prstDash val="solid"/>
                    </a:lnR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基于依赖分析的回归测试选择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依据代码依赖或历史覆盖关系，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102C4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选择受变更影响的已有测试重新执行。</a:t>
                      </a:r>
                    </a:p>
                  </a:txBody>
                  <a:tcPr marL="209550" marR="190500" marT="95250" marB="76200" anchor="t">
                    <a:lnL w="9525">
                      <a:solidFill>
                        <a:srgbClr val="DCE4E9"/>
                      </a:solidFill>
                      <a:prstDash val="solid"/>
                    </a:lnL>
                    <a:lnR w="9525">
                      <a:solidFill>
                        <a:srgbClr val="DCE4E9"/>
                      </a:solidFill>
                      <a:prstDash val="solid"/>
                    </a:lnR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依赖需要更新，选择范围受已有用例限制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依赖变化后，需要更新测试选择的依据。</a:t>
                      </a:r>
                    </a:p>
                    <a:p>
                      <a:pPr>
                        <a:spcAft>
                          <a:spcPts val="2"/>
                        </a:spcAft>
                        <a:buNone/>
                      </a:pPr>
                      <a:r>
                        <a:rPr sz="2025" b="1">
                          <a:solidFill>
                            <a:srgbClr val="A3522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仅选择已有用例，不能补齐尚未编写的必要测试。</a:t>
                      </a:r>
                    </a:p>
                  </a:txBody>
                  <a:tcPr marL="209550" marR="190500" marT="95250" marB="76200" anchor="t">
                    <a:lnR w="9525">
                      <a:solidFill>
                        <a:srgbClr val="DCE4E9"/>
                      </a:solidFill>
                      <a:prstDash val="solid"/>
                    </a:lnR>
                    <a:lnB w="9525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4" name="methods-text-3">
            <a:extLst xmlns:a="http://schemas.openxmlformats.org/drawingml/2006/main">
              <a:ext uri="{FF2B5EF4-FFF2-40B4-BE49-F238E27FC236}">
                <a16:creationId xmlns:a16="http://schemas.microsoft.com/office/drawing/2014/main" id="{F9827E49-DF1B-45F9-A4F1-5D8B6139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962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以下说明单项技术在缺少配套机制时的局限，具体能力取决于实际实现与配置。</a:t>
            </a:r>
          </a:p>
        </p:txBody>
      </p:sp>
      <p:sp>
        <p:nvSpPr>
          <p:cNvPr id="5" name="methods-text-4">
            <a:extLst xmlns:a="http://schemas.openxmlformats.org/drawingml/2006/main">
              <a:ext uri="{FF2B5EF4-FFF2-40B4-BE49-F238E27FC236}">
                <a16:creationId xmlns:a16="http://schemas.microsoft.com/office/drawing/2014/main" id="{C604BBE9-7D82-43E2-AB4F-2171A62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20075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专利申请评审稿    2026.10.30</a:t>
            </a:r>
          </a:p>
        </p:txBody>
      </p:sp>
      <p:sp>
        <p:nvSpPr>
          <p:cNvPr id="6" name="methods-text-5">
            <a:extLst xmlns:a="http://schemas.openxmlformats.org/drawingml/2006/main">
              <a:ext uri="{FF2B5EF4-FFF2-40B4-BE49-F238E27FC236}">
                <a16:creationId xmlns:a16="http://schemas.microsoft.com/office/drawing/2014/main" id="{1D6C664F-422D-4E5D-AA24-452DE33C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172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02 / 06</a:t>
            </a:r>
          </a:p>
        </p:txBody>
      </p:sp>
    </p:spTree>
    <p:extLst>
      <p:ext uri="{BB962C8B-B14F-4D97-AF65-F5344CB8AC3E}">
        <p14:creationId xmlns:p14="http://schemas.microsoft.com/office/powerpoint/2010/main" val="680444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C498ED-0942-46A1-BD7F-AFEE63C5EC24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1049000" y="4067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02C43"/>
            </a:solidFill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CC18D3-DCDA-43D0-AE73-FD3A926E48BD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429500" y="4067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956A1"/>
            </a:solidFill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1A6A63-D2B2-48EB-9E2B-A8A5A7DD298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810000" y="4067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3"/>
            </a:solidFill>
            <a:tailEnd type="triangle" w="sm" len="sm"/>
          </a:ln>
        </p:spPr>
      </p:cxnSp>
      <p:sp>
        <p:nvSpPr>
          <p:cNvPr id="60" name="overview-text-1">
            <a:extLst xmlns:a="http://schemas.openxmlformats.org/drawingml/2006/main">
              <a:ext uri="{FF2B5EF4-FFF2-40B4-BE49-F238E27FC236}">
                <a16:creationId xmlns:a16="http://schemas.microsoft.com/office/drawing/2014/main" id="{C52F958C-699A-4952-8CE6-BFD93631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总体发明方案</a:t>
            </a:r>
          </a:p>
        </p:txBody>
      </p:sp>
      <p:sp>
        <p:nvSpPr>
          <p:cNvPr id="2" name="overview-text-2">
            <a:extLst xmlns:a="http://schemas.openxmlformats.org/drawingml/2006/main">
              <a:ext uri="{FF2B5EF4-FFF2-40B4-BE49-F238E27FC236}">
                <a16:creationId xmlns:a16="http://schemas.microsoft.com/office/drawing/2014/main" id="{3CEA8C59-3649-48DC-91CC-A98688D8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386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Agent 驱动画像构建、测试生成与滚动更新，连接验证执行和发布判断。</a:t>
            </a:r>
          </a:p>
        </p:txBody>
      </p:sp>
      <p:sp>
        <p:nvSpPr>
          <p:cNvPr id="3" name="overview-text-3">
            <a:extLst xmlns:a="http://schemas.openxmlformats.org/drawingml/2006/main">
              <a:ext uri="{FF2B5EF4-FFF2-40B4-BE49-F238E27FC236}">
                <a16:creationId xmlns:a16="http://schemas.microsoft.com/office/drawing/2014/main" id="{0F131F84-6FDB-4E6F-B320-22AD1770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3868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多源输入：需求、代码、接口与数据定义、已有测试资产</a:t>
            </a:r>
          </a:p>
        </p:txBody>
      </p:sp>
      <p:cxnSp>
        <p:nvCxnSpPr>
          <p:cNvPr id="4" name="overview-flow-4">
            <a:extLst xmlns:a="http://schemas.openxmlformats.org/drawingml/2006/main">
              <a:ext uri="{FF2B5EF4-FFF2-40B4-BE49-F238E27FC236}">
                <a16:creationId xmlns:a16="http://schemas.microsoft.com/office/drawing/2014/main" id="{955EAE90-A05A-46AC-8FF1-D2EB15885C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226695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BBBC6"/>
            </a:solidFill>
            <a:tailEnd type="none" w="sm" len="sm"/>
          </a:ln>
        </p:spPr>
      </p:cxnSp>
      <p:cxnSp>
        <p:nvCxnSpPr>
          <p:cNvPr id="5" name="overview-flow-5">
            <a:extLst xmlns:a="http://schemas.openxmlformats.org/drawingml/2006/main">
              <a:ext uri="{FF2B5EF4-FFF2-40B4-BE49-F238E27FC236}">
                <a16:creationId xmlns:a16="http://schemas.microsoft.com/office/drawing/2014/main" id="{4A243163-AA2D-47DE-A5C4-925655880B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22669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tailEnd type="triangle" w="sm" len="sm"/>
          </a:ln>
        </p:spPr>
      </p:cxnSp>
      <p:cxnSp>
        <p:nvCxnSpPr>
          <p:cNvPr id="6" name="overview-flow-6">
            <a:extLst xmlns:a="http://schemas.openxmlformats.org/drawingml/2006/main">
              <a:ext uri="{FF2B5EF4-FFF2-40B4-BE49-F238E27FC236}">
                <a16:creationId xmlns:a16="http://schemas.microsoft.com/office/drawing/2014/main" id="{493053F5-68DE-4886-AC7B-625D245BF7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96875" y="22669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tailEnd type="triangle" w="sm" len="sm"/>
          </a:ln>
        </p:spPr>
      </p:cxnSp>
      <p:sp>
        <p:nvSpPr>
          <p:cNvPr id="7" name="overview-text-7">
            <a:extLst xmlns:a="http://schemas.openxmlformats.org/drawingml/2006/main">
              <a:ext uri="{FF2B5EF4-FFF2-40B4-BE49-F238E27FC236}">
                <a16:creationId xmlns:a16="http://schemas.microsoft.com/office/drawing/2014/main" id="{8AFD6CD2-44C2-4950-ABEC-C5F05AAC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初始构建</a:t>
            </a:r>
          </a:p>
        </p:txBody>
      </p:sp>
      <p:sp>
        <p:nvSpPr>
          <p:cNvPr id="8" name="overview-text-8">
            <a:extLst xmlns:a="http://schemas.openxmlformats.org/drawingml/2006/main">
              <a:ext uri="{FF2B5EF4-FFF2-40B4-BE49-F238E27FC236}">
                <a16:creationId xmlns:a16="http://schemas.microsoft.com/office/drawing/2014/main" id="{95513EF8-1134-41D6-9BC8-DF7F21A8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324100"/>
            <a:ext cx="1314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后续变更</a:t>
            </a:r>
          </a:p>
        </p:txBody>
      </p:sp>
      <p:sp>
        <p:nvSpPr>
          <p:cNvPr id="9" name="01  系统画像构建">
            <a:extLst xmlns:a="http://schemas.openxmlformats.org/drawingml/2006/main">
              <a:ext uri="{FF2B5EF4-FFF2-40B4-BE49-F238E27FC236}">
                <a16:creationId xmlns:a16="http://schemas.microsoft.com/office/drawing/2014/main" id="{D0129682-0A5C-47B4-AAAE-1B110A28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143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19050">
            <a:solidFill>
              <a:srgbClr val="007F83"/>
            </a:solidFill>
          </a:ln>
        </p:spPr>
      </p:sp>
      <p:sp>
        <p:nvSpPr>
          <p:cNvPr id="10" name="overview-text-9">
            <a:extLst xmlns:a="http://schemas.openxmlformats.org/drawingml/2006/main">
              <a:ext uri="{FF2B5EF4-FFF2-40B4-BE49-F238E27FC236}">
                <a16:creationId xmlns:a16="http://schemas.microsoft.com/office/drawing/2014/main" id="{296F4BCD-2071-48B8-A122-30694E99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01  Agent 构建画像</a:t>
            </a:r>
          </a:p>
        </p:txBody>
      </p:sp>
      <p:sp>
        <p:nvSpPr>
          <p:cNvPr id="11" name="overview-text-10">
            <a:extLst xmlns:a="http://schemas.openxmlformats.org/drawingml/2006/main">
              <a:ext uri="{FF2B5EF4-FFF2-40B4-BE49-F238E27FC236}">
                <a16:creationId xmlns:a16="http://schemas.microsoft.com/office/drawing/2014/main" id="{8F54CAA6-C30E-489E-A93E-C64E2F0F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规划资料解析与关联任务</a:t>
            </a:r>
          </a:p>
        </p:txBody>
      </p:sp>
      <p:sp>
        <p:nvSpPr>
          <p:cNvPr id="12" name="overview-text-11">
            <a:extLst xmlns:a="http://schemas.openxmlformats.org/drawingml/2006/main">
              <a:ext uri="{FF2B5EF4-FFF2-40B4-BE49-F238E27FC236}">
                <a16:creationId xmlns:a16="http://schemas.microsoft.com/office/drawing/2014/main" id="{4D1A9552-5D36-47E5-B44D-4816E624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调用工具，推理并补齐关系</a:t>
            </a:r>
          </a:p>
        </p:txBody>
      </p:sp>
      <p:sp>
        <p:nvSpPr>
          <p:cNvPr id="13" name="overview-text-12">
            <a:extLst xmlns:a="http://schemas.openxmlformats.org/drawingml/2006/main">
              <a:ext uri="{FF2B5EF4-FFF2-40B4-BE49-F238E27FC236}">
                <a16:creationId xmlns:a16="http://schemas.microsoft.com/office/drawing/2014/main" id="{D9757CAA-6744-4F47-A32F-2F6AC8FC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核验依据，固定画像版本</a:t>
            </a:r>
          </a:p>
        </p:txBody>
      </p:sp>
      <p:cxnSp>
        <p:nvCxnSpPr>
          <p:cNvPr id="14" name="overview-flow-13">
            <a:extLst xmlns:a="http://schemas.openxmlformats.org/drawingml/2006/main">
              <a:ext uri="{FF2B5EF4-FFF2-40B4-BE49-F238E27FC236}">
                <a16:creationId xmlns:a16="http://schemas.microsoft.com/office/drawing/2014/main" id="{4E41A6F8-AC65-4032-A087-22959FF216A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8200" y="4514850"/>
            <a:ext cx="280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BBBC6"/>
            </a:solidFill>
            <a:tailEnd type="none" w="sm" len="sm"/>
          </a:ln>
        </p:spPr>
      </p:cxnSp>
      <p:sp>
        <p:nvSpPr>
          <p:cNvPr id="15" name="overview-text-14">
            <a:extLst xmlns:a="http://schemas.openxmlformats.org/drawingml/2006/main">
              <a:ext uri="{FF2B5EF4-FFF2-40B4-BE49-F238E27FC236}">
                <a16:creationId xmlns:a16="http://schemas.microsoft.com/office/drawing/2014/main" id="{005BE676-A342-4AB3-A2E0-77AABA70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819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输出：有明确版本的系统画像</a:t>
            </a:r>
          </a:p>
        </p:txBody>
      </p:sp>
      <p:sp>
        <p:nvSpPr>
          <p:cNvPr id="16" name="overview-text-15">
            <a:extLst xmlns:a="http://schemas.openxmlformats.org/drawingml/2006/main">
              <a:ext uri="{FF2B5EF4-FFF2-40B4-BE49-F238E27FC236}">
                <a16:creationId xmlns:a16="http://schemas.microsoft.com/office/drawing/2014/main" id="{8D6A114D-969F-4FEF-8224-1AD1E42B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结构化对象、关系与来源依据</a:t>
            </a:r>
          </a:p>
        </p:txBody>
      </p:sp>
      <p:sp>
        <p:nvSpPr>
          <p:cNvPr id="17" name="02  测试用例生成">
            <a:extLst xmlns:a="http://schemas.openxmlformats.org/drawingml/2006/main">
              <a:ext uri="{FF2B5EF4-FFF2-40B4-BE49-F238E27FC236}">
                <a16:creationId xmlns:a16="http://schemas.microsoft.com/office/drawing/2014/main" id="{CC803DCC-44BF-4A91-94BE-12672C55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143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9050">
            <a:solidFill>
              <a:srgbClr val="7956A1"/>
            </a:solidFill>
          </a:ln>
        </p:spPr>
      </p:sp>
      <p:sp>
        <p:nvSpPr>
          <p:cNvPr id="18" name="overview-text-16">
            <a:extLst xmlns:a="http://schemas.openxmlformats.org/drawingml/2006/main">
              <a:ext uri="{FF2B5EF4-FFF2-40B4-BE49-F238E27FC236}">
                <a16:creationId xmlns:a16="http://schemas.microsoft.com/office/drawing/2014/main" id="{44469477-EE97-4D0A-9FC4-9B1F8121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02  Agent 生成测试</a:t>
            </a:r>
          </a:p>
        </p:txBody>
      </p:sp>
      <p:sp>
        <p:nvSpPr>
          <p:cNvPr id="19" name="overview-text-17">
            <a:extLst xmlns:a="http://schemas.openxmlformats.org/drawingml/2006/main">
              <a:ext uri="{FF2B5EF4-FFF2-40B4-BE49-F238E27FC236}">
                <a16:creationId xmlns:a16="http://schemas.microsoft.com/office/drawing/2014/main" id="{9A082BFF-237E-4501-AD75-D58E8DF4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分析变更影响，列出必测项</a:t>
            </a:r>
          </a:p>
        </p:txBody>
      </p:sp>
      <p:sp>
        <p:nvSpPr>
          <p:cNvPr id="20" name="overview-text-18">
            <a:extLst xmlns:a="http://schemas.openxmlformats.org/drawingml/2006/main">
              <a:ext uri="{FF2B5EF4-FFF2-40B4-BE49-F238E27FC236}">
                <a16:creationId xmlns:a16="http://schemas.microsoft.com/office/drawing/2014/main" id="{98FC84F6-229A-480A-90F4-3115C103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242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检索依据，复用或生成测试</a:t>
            </a:r>
          </a:p>
        </p:txBody>
      </p:sp>
      <p:sp>
        <p:nvSpPr>
          <p:cNvPr id="21" name="overview-text-19">
            <a:extLst xmlns:a="http://schemas.openxmlformats.org/drawingml/2006/main">
              <a:ext uri="{FF2B5EF4-FFF2-40B4-BE49-F238E27FC236}">
                <a16:creationId xmlns:a16="http://schemas.microsoft.com/office/drawing/2014/main" id="{16714F60-9CBF-4D29-828A-D7C3AF83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核对验收条件和预期结果</a:t>
            </a:r>
          </a:p>
        </p:txBody>
      </p:sp>
      <p:cxnSp>
        <p:nvCxnSpPr>
          <p:cNvPr id="22" name="overview-flow-20">
            <a:extLst xmlns:a="http://schemas.openxmlformats.org/drawingml/2006/main">
              <a:ext uri="{FF2B5EF4-FFF2-40B4-BE49-F238E27FC236}">
                <a16:creationId xmlns:a16="http://schemas.microsoft.com/office/drawing/2014/main" id="{2D87D2A2-B22A-4918-9FDE-FCBF570F15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57700" y="4514850"/>
            <a:ext cx="280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BBBC6"/>
            </a:solidFill>
            <a:tailEnd type="none" w="sm" len="sm"/>
          </a:ln>
        </p:spPr>
      </p:cxnSp>
      <p:sp>
        <p:nvSpPr>
          <p:cNvPr id="23" name="overview-text-21">
            <a:extLst xmlns:a="http://schemas.openxmlformats.org/drawingml/2006/main">
              <a:ext uri="{FF2B5EF4-FFF2-40B4-BE49-F238E27FC236}">
                <a16:creationId xmlns:a16="http://schemas.microsoft.com/office/drawing/2014/main" id="{292F4D40-7189-4A4B-A6E8-F73D089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67250"/>
            <a:ext cx="2819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输出：测试用例与脚本</a:t>
            </a:r>
          </a:p>
        </p:txBody>
      </p:sp>
      <p:sp>
        <p:nvSpPr>
          <p:cNvPr id="24" name="overview-text-22">
            <a:extLst xmlns:a="http://schemas.openxmlformats.org/drawingml/2006/main">
              <a:ext uri="{FF2B5EF4-FFF2-40B4-BE49-F238E27FC236}">
                <a16:creationId xmlns:a16="http://schemas.microsoft.com/office/drawing/2014/main" id="{5F059544-081A-4458-9BBF-FC44D9BB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967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关联明确的验收条件</a:t>
            </a:r>
          </a:p>
        </p:txBody>
      </p:sp>
      <p:sp>
        <p:nvSpPr>
          <p:cNvPr id="25" name="03  测试用例执行">
            <a:extLst xmlns:a="http://schemas.openxmlformats.org/drawingml/2006/main">
              <a:ext uri="{FF2B5EF4-FFF2-40B4-BE49-F238E27FC236}">
                <a16:creationId xmlns:a16="http://schemas.microsoft.com/office/drawing/2014/main" id="{3744904B-48B9-4A0D-AAE0-2F0524F6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3143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19050">
            <a:solidFill>
              <a:srgbClr val="102C43"/>
            </a:solidFill>
          </a:ln>
        </p:spPr>
      </p:sp>
      <p:sp>
        <p:nvSpPr>
          <p:cNvPr id="26" name="overview-text-23">
            <a:extLst xmlns:a="http://schemas.openxmlformats.org/drawingml/2006/main">
              <a:ext uri="{FF2B5EF4-FFF2-40B4-BE49-F238E27FC236}">
                <a16:creationId xmlns:a16="http://schemas.microsoft.com/office/drawing/2014/main" id="{5E9FAE44-2C09-468B-B0FC-A406E2BB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03  测试用例执行</a:t>
            </a:r>
          </a:p>
        </p:txBody>
      </p:sp>
      <p:sp>
        <p:nvSpPr>
          <p:cNvPr id="27" name="overview-text-24">
            <a:extLst xmlns:a="http://schemas.openxmlformats.org/drawingml/2006/main">
              <a:ext uri="{FF2B5EF4-FFF2-40B4-BE49-F238E27FC236}">
                <a16:creationId xmlns:a16="http://schemas.microsoft.com/office/drawing/2014/main" id="{89588D30-1D60-41EB-B4A3-87E2F521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固定构建、环境和数据</a:t>
            </a:r>
          </a:p>
        </p:txBody>
      </p:sp>
      <p:sp>
        <p:nvSpPr>
          <p:cNvPr id="28" name="overview-text-25">
            <a:extLst xmlns:a="http://schemas.openxmlformats.org/drawingml/2006/main">
              <a:ext uri="{FF2B5EF4-FFF2-40B4-BE49-F238E27FC236}">
                <a16:creationId xmlns:a16="http://schemas.microsoft.com/office/drawing/2014/main" id="{7D21E10F-5DD4-452D-BCDD-A302E0AF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执行并核对批准的预期结果</a:t>
            </a:r>
          </a:p>
        </p:txBody>
      </p:sp>
      <p:sp>
        <p:nvSpPr>
          <p:cNvPr id="29" name="overview-text-26">
            <a:extLst xmlns:a="http://schemas.openxmlformats.org/drawingml/2006/main">
              <a:ext uri="{FF2B5EF4-FFF2-40B4-BE49-F238E27FC236}">
                <a16:creationId xmlns:a16="http://schemas.microsoft.com/office/drawing/2014/main" id="{E5941F99-4F31-4521-9CBA-164C1D01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记录实际结果，逐项判断</a:t>
            </a:r>
          </a:p>
        </p:txBody>
      </p:sp>
      <p:cxnSp>
        <p:nvCxnSpPr>
          <p:cNvPr id="30" name="overview-flow-27">
            <a:extLst xmlns:a="http://schemas.openxmlformats.org/drawingml/2006/main">
              <a:ext uri="{FF2B5EF4-FFF2-40B4-BE49-F238E27FC236}">
                <a16:creationId xmlns:a16="http://schemas.microsoft.com/office/drawing/2014/main" id="{BFF870C1-B16D-4CBD-967A-07EA432C44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077200" y="4514850"/>
            <a:ext cx="280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BBBC6"/>
            </a:solidFill>
            <a:tailEnd type="none" w="sm" len="sm"/>
          </a:ln>
        </p:spPr>
      </p:cxnSp>
      <p:sp>
        <p:nvSpPr>
          <p:cNvPr id="31" name="overview-text-28">
            <a:extLst xmlns:a="http://schemas.openxmlformats.org/drawingml/2006/main">
              <a:ext uri="{FF2B5EF4-FFF2-40B4-BE49-F238E27FC236}">
                <a16:creationId xmlns:a16="http://schemas.microsoft.com/office/drawing/2014/main" id="{21403CF9-C76C-4F9C-8D8B-DF35660F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67250"/>
            <a:ext cx="2819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输出：目标版本执行证据</a:t>
            </a:r>
          </a:p>
        </p:txBody>
      </p:sp>
      <p:sp>
        <p:nvSpPr>
          <p:cNvPr id="32" name="overview-text-29">
            <a:extLst xmlns:a="http://schemas.openxmlformats.org/drawingml/2006/main">
              <a:ext uri="{FF2B5EF4-FFF2-40B4-BE49-F238E27FC236}">
                <a16:creationId xmlns:a16="http://schemas.microsoft.com/office/drawing/2014/main" id="{B6CA7A83-4D9B-4143-B0ED-A4C7E11F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1967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通过 / 失败 / 未知</a:t>
            </a:r>
          </a:p>
        </p:txBody>
      </p:sp>
      <p:sp>
        <p:nvSpPr>
          <p:cNvPr id="33" name="04  数据采纳与更新">
            <a:extLst xmlns:a="http://schemas.openxmlformats.org/drawingml/2006/main">
              <a:ext uri="{FF2B5EF4-FFF2-40B4-BE49-F238E27FC236}">
                <a16:creationId xmlns:a16="http://schemas.microsoft.com/office/drawing/2014/main" id="{9F4F1872-5BC7-4CB2-B989-09F5F9D7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667000"/>
            <a:ext cx="3143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19050">
            <a:solidFill>
              <a:srgbClr val="007F83"/>
            </a:solidFill>
          </a:ln>
        </p:spPr>
      </p:sp>
      <p:sp>
        <p:nvSpPr>
          <p:cNvPr id="34" name="overview-text-30">
            <a:extLst xmlns:a="http://schemas.openxmlformats.org/drawingml/2006/main">
              <a:ext uri="{FF2B5EF4-FFF2-40B4-BE49-F238E27FC236}">
                <a16:creationId xmlns:a16="http://schemas.microsoft.com/office/drawing/2014/main" id="{502932D6-EE40-4AA2-BFE9-D6DEA635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28575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04  Agent 滚动更新</a:t>
            </a:r>
          </a:p>
        </p:txBody>
      </p:sp>
      <p:sp>
        <p:nvSpPr>
          <p:cNvPr id="35" name="overview-text-31">
            <a:extLst xmlns:a="http://schemas.openxmlformats.org/drawingml/2006/main">
              <a:ext uri="{FF2B5EF4-FFF2-40B4-BE49-F238E27FC236}">
                <a16:creationId xmlns:a16="http://schemas.microsoft.com/office/drawing/2014/main" id="{213ECE71-EC38-410D-92C4-7D0BB067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3909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变化触发 Agent 重新规划</a:t>
            </a:r>
          </a:p>
        </p:txBody>
      </p:sp>
      <p:sp>
        <p:nvSpPr>
          <p:cNvPr id="36" name="overview-text-32">
            <a:extLst xmlns:a="http://schemas.openxmlformats.org/drawingml/2006/main">
              <a:ext uri="{FF2B5EF4-FFF2-40B4-BE49-F238E27FC236}">
                <a16:creationId xmlns:a16="http://schemas.microsoft.com/office/drawing/2014/main" id="{70BAE27B-EEEE-45C5-ACB2-8ACC879A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37242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按依赖补查受影响对象</a:t>
            </a:r>
          </a:p>
        </p:txBody>
      </p:sp>
      <p:sp>
        <p:nvSpPr>
          <p:cNvPr id="37" name="overview-text-33">
            <a:extLst xmlns:a="http://schemas.openxmlformats.org/drawingml/2006/main">
              <a:ext uri="{FF2B5EF4-FFF2-40B4-BE49-F238E27FC236}">
                <a16:creationId xmlns:a16="http://schemas.microsoft.com/office/drawing/2014/main" id="{7F9E1688-264A-431F-9673-AABF9FCE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重验依据，形成下一版本</a:t>
            </a:r>
          </a:p>
        </p:txBody>
      </p:sp>
      <p:cxnSp>
        <p:nvCxnSpPr>
          <p:cNvPr id="38" name="overview-flow-34">
            <a:extLst xmlns:a="http://schemas.openxmlformats.org/drawingml/2006/main">
              <a:ext uri="{FF2B5EF4-FFF2-40B4-BE49-F238E27FC236}">
                <a16:creationId xmlns:a16="http://schemas.microsoft.com/office/drawing/2014/main" id="{F4641D77-4A29-468B-9505-2E040FF714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696700" y="4514850"/>
            <a:ext cx="2800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BBBC6"/>
            </a:solidFill>
            <a:tailEnd type="none" w="sm" len="sm"/>
          </a:ln>
        </p:spPr>
      </p:cxnSp>
      <p:sp>
        <p:nvSpPr>
          <p:cNvPr id="39" name="overview-text-35">
            <a:extLst xmlns:a="http://schemas.openxmlformats.org/drawingml/2006/main">
              <a:ext uri="{FF2B5EF4-FFF2-40B4-BE49-F238E27FC236}">
                <a16:creationId xmlns:a16="http://schemas.microsoft.com/office/drawing/2014/main" id="{6C072300-B048-4D7D-AEE5-EA0245D9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667250"/>
            <a:ext cx="2819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输出：新画像及未解决项</a:t>
            </a:r>
          </a:p>
        </p:txBody>
      </p:sp>
      <p:sp>
        <p:nvSpPr>
          <p:cNvPr id="40" name="overview-text-36">
            <a:extLst xmlns:a="http://schemas.openxmlformats.org/drawingml/2006/main">
              <a:ext uri="{FF2B5EF4-FFF2-40B4-BE49-F238E27FC236}">
                <a16:creationId xmlns:a16="http://schemas.microsoft.com/office/drawing/2014/main" id="{85D032F2-E434-4BEB-B44E-8C11376D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01967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保留旧快照与在途任务</a:t>
            </a:r>
          </a:p>
        </p:txBody>
      </p:sp>
      <p:sp>
        <p:nvSpPr>
          <p:cNvPr id="44" name="overview-text-37">
            <a:extLst xmlns:a="http://schemas.openxmlformats.org/drawingml/2006/main">
              <a:ext uri="{FF2B5EF4-FFF2-40B4-BE49-F238E27FC236}">
                <a16:creationId xmlns:a16="http://schemas.microsoft.com/office/drawing/2014/main" id="{9737B313-24B0-4FFF-9BBE-3089B6B0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766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画像</a:t>
            </a:r>
          </a:p>
        </p:txBody>
      </p:sp>
      <p:sp>
        <p:nvSpPr>
          <p:cNvPr id="45" name="overview-text-38">
            <a:extLst xmlns:a="http://schemas.openxmlformats.org/drawingml/2006/main">
              <a:ext uri="{FF2B5EF4-FFF2-40B4-BE49-F238E27FC236}">
                <a16:creationId xmlns:a16="http://schemas.microsoft.com/office/drawing/2014/main" id="{688DD752-2FE0-4BE6-90EC-306BF235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766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计划</a:t>
            </a:r>
          </a:p>
        </p:txBody>
      </p:sp>
      <p:sp>
        <p:nvSpPr>
          <p:cNvPr id="46" name="overview-text-39">
            <a:extLst xmlns:a="http://schemas.openxmlformats.org/drawingml/2006/main">
              <a:ext uri="{FF2B5EF4-FFF2-40B4-BE49-F238E27FC236}">
                <a16:creationId xmlns:a16="http://schemas.microsoft.com/office/drawing/2014/main" id="{2F24EFF9-3A7D-467B-A2BA-040D50E3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6766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反馈</a:t>
            </a:r>
          </a:p>
        </p:txBody>
      </p:sp>
      <p:cxnSp>
        <p:nvCxnSpPr>
          <p:cNvPr id="47" name="overview-flow-40">
            <a:extLst xmlns:a="http://schemas.openxmlformats.org/drawingml/2006/main">
              <a:ext uri="{FF2B5EF4-FFF2-40B4-BE49-F238E27FC236}">
                <a16:creationId xmlns:a16="http://schemas.microsoft.com/office/drawing/2014/main" id="{D8BD8726-CE81-479F-B4F7-8735DC439B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77375" y="54864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C43"/>
            </a:solidFill>
            <a:tailEnd type="triangle" w="sm" len="sm"/>
          </a:ln>
        </p:spPr>
      </p:cxnSp>
      <p:sp>
        <p:nvSpPr>
          <p:cNvPr id="48" name="overview-text-41">
            <a:extLst xmlns:a="http://schemas.openxmlformats.org/drawingml/2006/main">
              <a:ext uri="{FF2B5EF4-FFF2-40B4-BE49-F238E27FC236}">
                <a16:creationId xmlns:a16="http://schemas.microsoft.com/office/drawing/2014/main" id="{34E769AA-40B1-41B8-A8F2-D246A701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810250"/>
            <a:ext cx="3543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目标版本的有效证据支撑发布判断</a:t>
            </a:r>
          </a:p>
        </p:txBody>
      </p:sp>
      <p:sp>
        <p:nvSpPr>
          <p:cNvPr id="49" name="overview-text-42">
            <a:extLst xmlns:a="http://schemas.openxmlformats.org/drawingml/2006/main">
              <a:ext uri="{FF2B5EF4-FFF2-40B4-BE49-F238E27FC236}">
                <a16:creationId xmlns:a16="http://schemas.microsoft.com/office/drawing/2014/main" id="{2B9B143E-2BA5-48C1-918A-68D55442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6105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关键失败、未知或缺证据时阻止发布</a:t>
            </a:r>
          </a:p>
        </p:txBody>
      </p:sp>
      <p:cxnSp>
        <p:nvCxnSpPr>
          <p:cNvPr id="50" name="overview-flow-43">
            <a:extLst xmlns:a="http://schemas.openxmlformats.org/drawingml/2006/main">
              <a:ext uri="{FF2B5EF4-FFF2-40B4-BE49-F238E27FC236}">
                <a16:creationId xmlns:a16="http://schemas.microsoft.com/office/drawing/2014/main" id="{6893F643-91B2-480E-BF37-0532AD040F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96875" y="5486400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3"/>
            </a:solidFill>
            <a:tailEnd type="none" w="sm" len="sm"/>
          </a:ln>
        </p:spPr>
      </p:cxnSp>
      <p:cxnSp>
        <p:nvCxnSpPr>
          <p:cNvPr id="51" name="overview-flow-44">
            <a:extLst xmlns:a="http://schemas.openxmlformats.org/drawingml/2006/main">
              <a:ext uri="{FF2B5EF4-FFF2-40B4-BE49-F238E27FC236}">
                <a16:creationId xmlns:a16="http://schemas.microsoft.com/office/drawing/2014/main" id="{EB02A39D-0925-4269-B273-8AF58A62DDA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2238375" y="651510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3"/>
            </a:solidFill>
            <a:tailEnd type="none" w="sm" len="sm"/>
          </a:ln>
        </p:spPr>
      </p:cxnSp>
      <p:cxnSp>
        <p:nvCxnSpPr>
          <p:cNvPr id="52" name="overview-flow-45">
            <a:extLst xmlns:a="http://schemas.openxmlformats.org/drawingml/2006/main">
              <a:ext uri="{FF2B5EF4-FFF2-40B4-BE49-F238E27FC236}">
                <a16:creationId xmlns:a16="http://schemas.microsoft.com/office/drawing/2014/main" id="{23D9BE9F-ABF3-4865-81E8-C48616A016F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238375" y="5486400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7F83"/>
            </a:solidFill>
            <a:tailEnd type="triangle" w="sm" len="sm"/>
          </a:ln>
        </p:spPr>
      </p:cxnSp>
      <p:sp>
        <p:nvSpPr>
          <p:cNvPr id="53" name="overview-text-46">
            <a:extLst xmlns:a="http://schemas.openxmlformats.org/drawingml/2006/main">
              <a:ext uri="{FF2B5EF4-FFF2-40B4-BE49-F238E27FC236}">
                <a16:creationId xmlns:a16="http://schemas.microsoft.com/office/drawing/2014/main" id="{A853BA54-1068-4C7B-8FFC-FD6BD80F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086475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Agent 按变化范围重新规划与补充构建</a:t>
            </a:r>
          </a:p>
        </p:txBody>
      </p:sp>
      <p:sp>
        <p:nvSpPr>
          <p:cNvPr id="54" name="overview-text-47">
            <a:extLst xmlns:a="http://schemas.openxmlformats.org/drawingml/2006/main">
              <a:ext uri="{FF2B5EF4-FFF2-40B4-BE49-F238E27FC236}">
                <a16:creationId xmlns:a16="http://schemas.microsoft.com/office/drawing/2014/main" id="{CBA13E5A-DD40-4216-A440-B6B601B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38950"/>
            <a:ext cx="6838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创新点1  Agent 驱动画像构建</a:t>
            </a:r>
          </a:p>
        </p:txBody>
      </p:sp>
      <p:sp>
        <p:nvSpPr>
          <p:cNvPr id="55" name="overview-text-48">
            <a:extLst xmlns:a="http://schemas.openxmlformats.org/drawingml/2006/main">
              <a:ext uri="{FF2B5EF4-FFF2-40B4-BE49-F238E27FC236}">
                <a16:creationId xmlns:a16="http://schemas.microsoft.com/office/drawing/2014/main" id="{D8B51A13-DFFC-4716-B55C-1FC39579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86625"/>
            <a:ext cx="6838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Agent 按目标规划、调用工具和补证，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以版本与证据约束关联及增量更新。</a:t>
            </a:r>
          </a:p>
        </p:txBody>
      </p:sp>
      <p:sp>
        <p:nvSpPr>
          <p:cNvPr id="56" name="overview-text-49">
            <a:extLst xmlns:a="http://schemas.openxmlformats.org/drawingml/2006/main">
              <a:ext uri="{FF2B5EF4-FFF2-40B4-BE49-F238E27FC236}">
                <a16:creationId xmlns:a16="http://schemas.microsoft.com/office/drawing/2014/main" id="{570A799D-B5C1-47B0-8664-FBD6B10C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838950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创新点2  画像指导测试生成</a:t>
            </a:r>
          </a:p>
        </p:txBody>
      </p:sp>
      <p:sp>
        <p:nvSpPr>
          <p:cNvPr id="57" name="overview-text-50">
            <a:extLst xmlns:a="http://schemas.openxmlformats.org/drawingml/2006/main">
              <a:ext uri="{FF2B5EF4-FFF2-40B4-BE49-F238E27FC236}">
                <a16:creationId xmlns:a16="http://schemas.microsoft.com/office/drawing/2014/main" id="{590CA328-7402-49D7-A052-EE22438A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286625"/>
            <a:ext cx="666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沿关联关系确定验证范围，用完整验收条件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约束材料检索、测试复用和补充生成。</a:t>
            </a:r>
          </a:p>
        </p:txBody>
      </p:sp>
      <p:sp>
        <p:nvSpPr>
          <p:cNvPr id="58" name="overview-text-51">
            <a:extLst xmlns:a="http://schemas.openxmlformats.org/drawingml/2006/main">
              <a:ext uri="{FF2B5EF4-FFF2-40B4-BE49-F238E27FC236}">
                <a16:creationId xmlns:a16="http://schemas.microsoft.com/office/drawing/2014/main" id="{690EC0B5-3911-4181-9490-6F9F956F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72450"/>
            <a:ext cx="1200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以上为目标设计，完整自动闭环尚未全部实现。</a:t>
            </a:r>
          </a:p>
        </p:txBody>
      </p:sp>
      <p:sp>
        <p:nvSpPr>
          <p:cNvPr id="59" name="overview-text-52">
            <a:extLst xmlns:a="http://schemas.openxmlformats.org/drawingml/2006/main">
              <a:ext uri="{FF2B5EF4-FFF2-40B4-BE49-F238E27FC236}">
                <a16:creationId xmlns:a16="http://schemas.microsoft.com/office/drawing/2014/main" id="{F11E66F2-157B-4168-B1A8-CDEBF4A8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172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03 / 06</a:t>
            </a:r>
          </a:p>
        </p:txBody>
      </p:sp>
    </p:spTree>
    <p:extLst>
      <p:ext uri="{BB962C8B-B14F-4D97-AF65-F5344CB8AC3E}">
        <p14:creationId xmlns:p14="http://schemas.microsoft.com/office/powerpoint/2010/main" val="2064287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agent-profile-text-1">
            <a:extLst xmlns:a="http://schemas.openxmlformats.org/drawingml/2006/main">
              <a:ext uri="{FF2B5EF4-FFF2-40B4-BE49-F238E27FC236}">
                <a16:creationId xmlns:a16="http://schemas.microsoft.com/office/drawing/2014/main" id="{A6A86F64-7616-4B6C-979C-4C0BB975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07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创新点1：Agent 驱动画像构建与增量更新</a:t>
            </a:r>
          </a:p>
        </p:txBody>
      </p:sp>
      <p:sp>
        <p:nvSpPr>
          <p:cNvPr id="2" name="agent-profile-text-2">
            <a:extLst xmlns:a="http://schemas.openxmlformats.org/drawingml/2006/main">
              <a:ext uri="{FF2B5EF4-FFF2-40B4-BE49-F238E27FC236}">
                <a16:creationId xmlns:a16="http://schemas.microsoft.com/office/drawing/2014/main" id="{C8170EF3-0840-4244-A0FA-C996EB7A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14058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Agent 规划并调用工具，依据解析结果和证据推理关联、补齐缺口，通过受控工具保存可追溯的版本画像。</a:t>
            </a:r>
          </a:p>
        </p:txBody>
      </p:sp>
      <p:sp>
        <p:nvSpPr>
          <p:cNvPr id="3" name="agent-profile-node-3">
            <a:extLst xmlns:a="http://schemas.openxmlformats.org/drawingml/2006/main">
              <a:ext uri="{FF2B5EF4-FFF2-40B4-BE49-F238E27FC236}">
                <a16:creationId xmlns:a16="http://schemas.microsoft.com/office/drawing/2014/main" id="{AB24B7CA-1EFB-4827-86F1-DE59CF64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409700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19050">
            <a:solidFill>
              <a:srgbClr val="7956A1"/>
            </a:solidFill>
          </a:ln>
        </p:spPr>
      </p:sp>
      <p:sp>
        <p:nvSpPr>
          <p:cNvPr id="4" name="agent-profile-text-4">
            <a:extLst xmlns:a="http://schemas.openxmlformats.org/drawingml/2006/main">
              <a:ext uri="{FF2B5EF4-FFF2-40B4-BE49-F238E27FC236}">
                <a16:creationId xmlns:a16="http://schemas.microsoft.com/office/drawing/2014/main" id="{194ECF73-1CA0-4B0B-9179-9E70E113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28775"/>
            <a:ext cx="4162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Agent 构建控制循环</a:t>
            </a:r>
          </a:p>
        </p:txBody>
      </p:sp>
      <p:sp>
        <p:nvSpPr>
          <p:cNvPr id="5" name="agent-profile-text-5">
            <a:extLst xmlns:a="http://schemas.openxmlformats.org/drawingml/2006/main">
              <a:ext uri="{FF2B5EF4-FFF2-40B4-BE49-F238E27FC236}">
                <a16:creationId xmlns:a16="http://schemas.microsoft.com/office/drawing/2014/main" id="{03D3A5E1-104B-4C8A-B61A-043A66BE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66875"/>
            <a:ext cx="9496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大模型负责规划、语义推理和下一步选择，工具返回结构化结果与依据</a:t>
            </a:r>
          </a:p>
        </p:txBody>
      </p:sp>
      <p:sp>
        <p:nvSpPr>
          <p:cNvPr id="6" name="agent-profile-node-6">
            <a:extLst xmlns:a="http://schemas.openxmlformats.org/drawingml/2006/main">
              <a:ext uri="{FF2B5EF4-FFF2-40B4-BE49-F238E27FC236}">
                <a16:creationId xmlns:a16="http://schemas.microsoft.com/office/drawing/2014/main" id="{1AA5E861-3583-43F0-B644-FFADC633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56A1"/>
            </a:solidFill>
          </a:ln>
        </p:spPr>
      </p:sp>
      <p:sp>
        <p:nvSpPr>
          <p:cNvPr id="7" name="agent-profile-text-7">
            <a:extLst xmlns:a="http://schemas.openxmlformats.org/drawingml/2006/main">
              <a:ext uri="{FF2B5EF4-FFF2-40B4-BE49-F238E27FC236}">
                <a16:creationId xmlns:a16="http://schemas.microsoft.com/office/drawing/2014/main" id="{70844CB1-ECDD-4AA3-BC97-0E704AB8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050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固定目标、来源与预算</a:t>
            </a:r>
          </a:p>
        </p:txBody>
      </p:sp>
      <p:sp>
        <p:nvSpPr>
          <p:cNvPr id="8" name="agent-profile-node-8">
            <a:extLst xmlns:a="http://schemas.openxmlformats.org/drawingml/2006/main">
              <a:ext uri="{FF2B5EF4-FFF2-40B4-BE49-F238E27FC236}">
                <a16:creationId xmlns:a16="http://schemas.microsoft.com/office/drawing/2014/main" id="{4A18DB10-5980-44A0-8C16-1B8C40C5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4787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56A1"/>
            </a:solidFill>
          </a:ln>
        </p:spPr>
      </p:sp>
      <p:sp>
        <p:nvSpPr>
          <p:cNvPr id="9" name="agent-profile-text-9">
            <a:extLst xmlns:a="http://schemas.openxmlformats.org/drawingml/2006/main">
              <a:ext uri="{FF2B5EF4-FFF2-40B4-BE49-F238E27FC236}">
                <a16:creationId xmlns:a16="http://schemas.microsoft.com/office/drawing/2014/main" id="{8968FC25-46EE-4D6C-A354-4BAA31A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050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分解任务，选择工具</a:t>
            </a:r>
          </a:p>
        </p:txBody>
      </p:sp>
      <p:sp>
        <p:nvSpPr>
          <p:cNvPr id="10" name="agent-profile-node-10">
            <a:extLst xmlns:a="http://schemas.openxmlformats.org/drawingml/2006/main">
              <a:ext uri="{FF2B5EF4-FFF2-40B4-BE49-F238E27FC236}">
                <a16:creationId xmlns:a16="http://schemas.microsoft.com/office/drawing/2014/main" id="{E18C48B8-A6AC-4627-9DD6-9CE1DA1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47875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56A1"/>
            </a:solidFill>
          </a:ln>
        </p:spPr>
      </p:sp>
      <p:sp>
        <p:nvSpPr>
          <p:cNvPr id="11" name="agent-profile-text-11">
            <a:extLst xmlns:a="http://schemas.openxmlformats.org/drawingml/2006/main">
              <a:ext uri="{FF2B5EF4-FFF2-40B4-BE49-F238E27FC236}">
                <a16:creationId xmlns:a16="http://schemas.microsoft.com/office/drawing/2014/main" id="{B2328783-69FE-4071-B742-F215E1FA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05025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读取结果，推理关联</a:t>
            </a:r>
          </a:p>
        </p:txBody>
      </p:sp>
      <p:sp>
        <p:nvSpPr>
          <p:cNvPr id="12" name="agent-profile-node-12">
            <a:extLst xmlns:a="http://schemas.openxmlformats.org/drawingml/2006/main">
              <a:ext uri="{FF2B5EF4-FFF2-40B4-BE49-F238E27FC236}">
                <a16:creationId xmlns:a16="http://schemas.microsoft.com/office/drawing/2014/main" id="{1649EB1A-923F-447E-BCA6-25429FAF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047875"/>
            <a:ext cx="3209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956A1"/>
            </a:solidFill>
          </a:ln>
        </p:spPr>
      </p:sp>
      <p:sp>
        <p:nvSpPr>
          <p:cNvPr id="13" name="agent-profile-text-13">
            <a:extLst xmlns:a="http://schemas.openxmlformats.org/drawingml/2006/main">
              <a:ext uri="{FF2B5EF4-FFF2-40B4-BE49-F238E27FC236}">
                <a16:creationId xmlns:a16="http://schemas.microsoft.com/office/drawing/2014/main" id="{A336479D-492B-4CE7-97CE-E6FADA7A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2105025"/>
            <a:ext cx="3057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检查缺口，继续补证</a:t>
            </a:r>
          </a:p>
        </p:txBody>
      </p:sp>
      <p:cxnSp>
        <p:nvCxnSpPr>
          <p:cNvPr id="14" name="agent-profile-edge-14">
            <a:extLst xmlns:a="http://schemas.openxmlformats.org/drawingml/2006/main">
              <a:ext uri="{FF2B5EF4-FFF2-40B4-BE49-F238E27FC236}">
                <a16:creationId xmlns:a16="http://schemas.microsoft.com/office/drawing/2014/main" id="{1DD5C9F3-C88C-415B-8D10-1C84AE6CCE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86200" y="22288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6A1"/>
            </a:solidFill>
            <a:prstDash val="solid"/>
            <a:tailEnd type="triangle" w="sm" len="sm"/>
          </a:ln>
        </p:spPr>
      </p:cxnSp>
      <p:cxnSp>
        <p:nvCxnSpPr>
          <p:cNvPr id="15" name="agent-profile-edge-15">
            <a:extLst xmlns:a="http://schemas.openxmlformats.org/drawingml/2006/main">
              <a:ext uri="{FF2B5EF4-FFF2-40B4-BE49-F238E27FC236}">
                <a16:creationId xmlns:a16="http://schemas.microsoft.com/office/drawing/2014/main" id="{9F0E35C7-C37D-4C86-8210-3FE26DE525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00925" y="22288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6A1"/>
            </a:solidFill>
            <a:prstDash val="solid"/>
            <a:tailEnd type="triangle" w="sm" len="sm"/>
          </a:ln>
        </p:spPr>
      </p:cxnSp>
      <p:cxnSp>
        <p:nvCxnSpPr>
          <p:cNvPr id="16" name="agent-profile-edge-16">
            <a:extLst xmlns:a="http://schemas.openxmlformats.org/drawingml/2006/main">
              <a:ext uri="{FF2B5EF4-FFF2-40B4-BE49-F238E27FC236}">
                <a16:creationId xmlns:a16="http://schemas.microsoft.com/office/drawing/2014/main" id="{750AAEE5-4BAE-445C-980B-1669DD32D9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15650" y="2228850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6A1"/>
            </a:solidFill>
            <a:prstDash val="solid"/>
            <a:tailEnd type="triangle" w="sm" len="sm"/>
          </a:ln>
        </p:spPr>
      </p:cxnSp>
      <p:cxnSp>
        <p:nvCxnSpPr>
          <p:cNvPr id="17" name="agent-profile-edge-17">
            <a:extLst xmlns:a="http://schemas.openxmlformats.org/drawingml/2006/main">
              <a:ext uri="{FF2B5EF4-FFF2-40B4-BE49-F238E27FC236}">
                <a16:creationId xmlns:a16="http://schemas.microsoft.com/office/drawing/2014/main" id="{DE5F4893-F70A-4D8B-B9E1-0C487362CDE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858750" y="24098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6A1"/>
            </a:solidFill>
            <a:prstDash val="dash"/>
            <a:tailEnd type="none" w="sm" len="sm"/>
          </a:ln>
        </p:spPr>
      </p:cxnSp>
      <p:cxnSp>
        <p:nvCxnSpPr>
          <p:cNvPr id="18" name="agent-profile-edge-18">
            <a:extLst xmlns:a="http://schemas.openxmlformats.org/drawingml/2006/main">
              <a:ext uri="{FF2B5EF4-FFF2-40B4-BE49-F238E27FC236}">
                <a16:creationId xmlns:a16="http://schemas.microsoft.com/office/drawing/2014/main" id="{986E09EE-F849-404E-8A2A-AD8F8B2718D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715000" y="2495550"/>
            <a:ext cx="7143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6A1"/>
            </a:solidFill>
            <a:prstDash val="dash"/>
            <a:tailEnd type="none" w="sm" len="sm"/>
          </a:ln>
        </p:spPr>
      </p:cxnSp>
      <p:cxnSp>
        <p:nvCxnSpPr>
          <p:cNvPr id="19" name="agent-profile-edge-19">
            <a:extLst xmlns:a="http://schemas.openxmlformats.org/drawingml/2006/main">
              <a:ext uri="{FF2B5EF4-FFF2-40B4-BE49-F238E27FC236}">
                <a16:creationId xmlns:a16="http://schemas.microsoft.com/office/drawing/2014/main" id="{64F105CD-95F2-4E2F-B175-1F744FD4DCF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715000" y="2409825"/>
            <a:ext cx="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6A1"/>
            </a:solidFill>
            <a:prstDash val="dash"/>
            <a:tailEnd type="triangle" w="sm" len="sm"/>
          </a:ln>
        </p:spPr>
      </p:cxnSp>
      <p:cxnSp>
        <p:nvCxnSpPr>
          <p:cNvPr id="20" name="agent-profile-edge-20">
            <a:extLst xmlns:a="http://schemas.openxmlformats.org/drawingml/2006/main">
              <a:ext uri="{FF2B5EF4-FFF2-40B4-BE49-F238E27FC236}">
                <a16:creationId xmlns:a16="http://schemas.microsoft.com/office/drawing/2014/main" id="{4154E91E-C58C-4C04-9D1A-14273F41C0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24100" y="25622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6A1"/>
            </a:solidFill>
            <a:prstDash val="solid"/>
            <a:tailEnd type="triangle" w="sm" len="sm"/>
          </a:ln>
        </p:spPr>
      </p:cxnSp>
      <p:sp>
        <p:nvSpPr>
          <p:cNvPr id="21" name="agent-profile-text-21">
            <a:extLst xmlns:a="http://schemas.openxmlformats.org/drawingml/2006/main">
              <a:ext uri="{FF2B5EF4-FFF2-40B4-BE49-F238E27FC236}">
                <a16:creationId xmlns:a16="http://schemas.microsoft.com/office/drawing/2014/main" id="{819B28F3-52B9-47D0-B73D-B170FD7C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619375"/>
            <a:ext cx="45053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调用解析、检索、核验和提交工具</a:t>
            </a:r>
          </a:p>
        </p:txBody>
      </p:sp>
      <p:cxnSp>
        <p:nvCxnSpPr>
          <p:cNvPr id="22" name="agent-profile-edge-22">
            <a:extLst xmlns:a="http://schemas.openxmlformats.org/drawingml/2006/main">
              <a:ext uri="{FF2B5EF4-FFF2-40B4-BE49-F238E27FC236}">
                <a16:creationId xmlns:a16="http://schemas.microsoft.com/office/drawing/2014/main" id="{8CFAB58A-8573-4F85-B8C2-3182E1FC725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353550" y="25622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7125"/>
            </a:solidFill>
            <a:prstDash val="dash"/>
            <a:tailEnd type="triangle" w="sm" len="sm"/>
          </a:ln>
        </p:spPr>
      </p:cxnSp>
      <p:sp>
        <p:nvSpPr>
          <p:cNvPr id="23" name="agent-profile-text-23">
            <a:extLst xmlns:a="http://schemas.openxmlformats.org/drawingml/2006/main">
              <a:ext uri="{FF2B5EF4-FFF2-40B4-BE49-F238E27FC236}">
                <a16:creationId xmlns:a16="http://schemas.microsoft.com/office/drawing/2014/main" id="{618CE712-38DA-41C0-8314-08AD5190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6193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rPr>
              <a:t>返回结果、原文依据及未解决项</a:t>
            </a:r>
          </a:p>
        </p:txBody>
      </p:sp>
      <p:sp>
        <p:nvSpPr>
          <p:cNvPr id="24" name="agent-profile-node-24">
            <a:extLst xmlns:a="http://schemas.openxmlformats.org/drawingml/2006/main">
              <a:ext uri="{FF2B5EF4-FFF2-40B4-BE49-F238E27FC236}">
                <a16:creationId xmlns:a16="http://schemas.microsoft.com/office/drawing/2014/main" id="{EC738BA2-5CF1-45E2-B5AC-C515A1F1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3238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F83"/>
            </a:solidFill>
          </a:ln>
        </p:spPr>
      </p:sp>
      <p:sp>
        <p:nvSpPr>
          <p:cNvPr id="25" name="agent-profile-node-25">
            <a:extLst xmlns:a="http://schemas.openxmlformats.org/drawingml/2006/main">
              <a:ext uri="{FF2B5EF4-FFF2-40B4-BE49-F238E27FC236}">
                <a16:creationId xmlns:a16="http://schemas.microsoft.com/office/drawing/2014/main" id="{DD9656B9-4924-4E4C-BA57-F43C166B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0">
            <a:noFill/>
          </a:ln>
        </p:spPr>
      </p:sp>
      <p:sp>
        <p:nvSpPr>
          <p:cNvPr id="26" name="agent-profile-text-26">
            <a:extLst xmlns:a="http://schemas.openxmlformats.org/drawingml/2006/main">
              <a:ext uri="{FF2B5EF4-FFF2-40B4-BE49-F238E27FC236}">
                <a16:creationId xmlns:a16="http://schemas.microsoft.com/office/drawing/2014/main" id="{4371ACEA-B04B-4EA7-815C-88419C29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01  多源解析工具</a:t>
            </a:r>
          </a:p>
        </p:txBody>
      </p:sp>
      <p:sp>
        <p:nvSpPr>
          <p:cNvPr id="27" name="agent-profile-text-27">
            <a:extLst xmlns:a="http://schemas.openxmlformats.org/drawingml/2006/main">
              <a:ext uri="{FF2B5EF4-FFF2-40B4-BE49-F238E27FC236}">
                <a16:creationId xmlns:a16="http://schemas.microsoft.com/office/drawing/2014/main" id="{309C1575-3A54-4676-B90C-3A3C277F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代码</a:t>
            </a:r>
          </a:p>
        </p:txBody>
      </p:sp>
      <p:sp>
        <p:nvSpPr>
          <p:cNvPr id="28" name="agent-profile-text-28">
            <a:extLst xmlns:a="http://schemas.openxmlformats.org/drawingml/2006/main">
              <a:ext uri="{FF2B5EF4-FFF2-40B4-BE49-F238E27FC236}">
                <a16:creationId xmlns:a16="http://schemas.microsoft.com/office/drawing/2014/main" id="{CFB48CFD-084B-47E8-A0F8-8BB59570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33775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Tree-sitter＋符号解析</a:t>
            </a:r>
          </a:p>
        </p:txBody>
      </p:sp>
      <p:sp>
        <p:nvSpPr>
          <p:cNvPr id="29" name="agent-profile-text-29">
            <a:extLst xmlns:a="http://schemas.openxmlformats.org/drawingml/2006/main">
              <a:ext uri="{FF2B5EF4-FFF2-40B4-BE49-F238E27FC236}">
                <a16:creationId xmlns:a16="http://schemas.microsoft.com/office/drawing/2014/main" id="{C4D73A3F-5A0E-4A29-947A-E193DE6B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文档</a:t>
            </a:r>
          </a:p>
        </p:txBody>
      </p:sp>
      <p:sp>
        <p:nvSpPr>
          <p:cNvPr id="30" name="agent-profile-text-30">
            <a:extLst xmlns:a="http://schemas.openxmlformats.org/drawingml/2006/main">
              <a:ext uri="{FF2B5EF4-FFF2-40B4-BE49-F238E27FC236}">
                <a16:creationId xmlns:a16="http://schemas.microsoft.com/office/drawing/2014/main" id="{8EF657D5-4CDE-4EC4-8B43-8479370A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pypdf / docx＋LLM抽取</a:t>
            </a:r>
          </a:p>
        </p:txBody>
      </p:sp>
      <p:sp>
        <p:nvSpPr>
          <p:cNvPr id="31" name="agent-profile-text-31">
            <a:extLst xmlns:a="http://schemas.openxmlformats.org/drawingml/2006/main">
              <a:ext uri="{FF2B5EF4-FFF2-40B4-BE49-F238E27FC236}">
                <a16:creationId xmlns:a16="http://schemas.microsoft.com/office/drawing/2014/main" id="{4A94AF64-1BFD-4A9C-B5D2-0B4AB8EB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SQL</a:t>
            </a:r>
          </a:p>
        </p:txBody>
      </p:sp>
      <p:sp>
        <p:nvSpPr>
          <p:cNvPr id="32" name="agent-profile-text-32">
            <a:extLst xmlns:a="http://schemas.openxmlformats.org/drawingml/2006/main">
              <a:ext uri="{FF2B5EF4-FFF2-40B4-BE49-F238E27FC236}">
                <a16:creationId xmlns:a16="http://schemas.microsoft.com/office/drawing/2014/main" id="{D544D532-3989-47AC-820F-09FCD5E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81475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SQLGlot＋schema/ORM</a:t>
            </a:r>
          </a:p>
        </p:txBody>
      </p:sp>
      <p:sp>
        <p:nvSpPr>
          <p:cNvPr id="33" name="agent-profile-text-33">
            <a:extLst xmlns:a="http://schemas.openxmlformats.org/drawingml/2006/main">
              <a:ext uri="{FF2B5EF4-FFF2-40B4-BE49-F238E27FC236}">
                <a16:creationId xmlns:a16="http://schemas.microsoft.com/office/drawing/2014/main" id="{0D3AC905-F96E-4BCE-83AB-9722D69A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接口</a:t>
            </a:r>
          </a:p>
        </p:txBody>
      </p:sp>
      <p:sp>
        <p:nvSpPr>
          <p:cNvPr id="34" name="agent-profile-text-34">
            <a:extLst xmlns:a="http://schemas.openxmlformats.org/drawingml/2006/main">
              <a:ext uri="{FF2B5EF4-FFF2-40B4-BE49-F238E27FC236}">
                <a16:creationId xmlns:a16="http://schemas.microsoft.com/office/drawing/2014/main" id="{A9B6358C-0D92-49CE-9658-5D3720E0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05325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OpenAPI＋路由配置</a:t>
            </a:r>
          </a:p>
        </p:txBody>
      </p:sp>
      <p:sp>
        <p:nvSpPr>
          <p:cNvPr id="35" name="agent-profile-text-35">
            <a:extLst xmlns:a="http://schemas.openxmlformats.org/drawingml/2006/main">
              <a:ext uri="{FF2B5EF4-FFF2-40B4-BE49-F238E27FC236}">
                <a16:creationId xmlns:a16="http://schemas.microsoft.com/office/drawing/2014/main" id="{8686E84C-DFBB-470D-B3B9-724DB10A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输出：实体描述、调用/读写线索</a:t>
            </a:r>
          </a:p>
        </p:txBody>
      </p:sp>
      <p:sp>
        <p:nvSpPr>
          <p:cNvPr id="36" name="agent-profile-text-36">
            <a:extLst xmlns:a="http://schemas.openxmlformats.org/drawingml/2006/main">
              <a:ext uri="{FF2B5EF4-FFF2-40B4-BE49-F238E27FC236}">
                <a16:creationId xmlns:a16="http://schemas.microsoft.com/office/drawing/2014/main" id="{4869AE9A-8217-406F-9090-F9E3E9ED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保留原文位置与来源修订</a:t>
            </a:r>
          </a:p>
        </p:txBody>
      </p:sp>
      <p:sp>
        <p:nvSpPr>
          <p:cNvPr id="37" name="agent-profile-node-37">
            <a:extLst xmlns:a="http://schemas.openxmlformats.org/drawingml/2006/main">
              <a:ext uri="{FF2B5EF4-FFF2-40B4-BE49-F238E27FC236}">
                <a16:creationId xmlns:a16="http://schemas.microsoft.com/office/drawing/2014/main" id="{2D7EBF3A-6D8C-4436-BC5F-537500C1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3238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F83"/>
            </a:solidFill>
          </a:ln>
        </p:spPr>
      </p:sp>
      <p:sp>
        <p:nvSpPr>
          <p:cNvPr id="38" name="agent-profile-node-38">
            <a:extLst xmlns:a="http://schemas.openxmlformats.org/drawingml/2006/main">
              <a:ext uri="{FF2B5EF4-FFF2-40B4-BE49-F238E27FC236}">
                <a16:creationId xmlns:a16="http://schemas.microsoft.com/office/drawing/2014/main" id="{22372E78-E2EC-4C2B-9A10-C0457E31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0">
            <a:noFill/>
          </a:ln>
        </p:spPr>
      </p:sp>
      <p:sp>
        <p:nvSpPr>
          <p:cNvPr id="39" name="agent-profile-text-39">
            <a:extLst xmlns:a="http://schemas.openxmlformats.org/drawingml/2006/main">
              <a:ext uri="{FF2B5EF4-FFF2-40B4-BE49-F238E27FC236}">
                <a16:creationId xmlns:a16="http://schemas.microsoft.com/office/drawing/2014/main" id="{40FD8E1B-1DE4-4DD1-AD27-42981C99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02  统一对象与关联推理</a:t>
            </a:r>
          </a:p>
        </p:txBody>
      </p:sp>
      <p:sp>
        <p:nvSpPr>
          <p:cNvPr id="40" name="agent-profile-text-40">
            <a:extLst xmlns:a="http://schemas.openxmlformats.org/drawingml/2006/main">
              <a:ext uri="{FF2B5EF4-FFF2-40B4-BE49-F238E27FC236}">
                <a16:creationId xmlns:a16="http://schemas.microsoft.com/office/drawing/2014/main" id="{DC291B17-5D92-4265-958F-120A1693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24250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对象：ID / 修订 / 类型 / 原文</a:t>
            </a:r>
          </a:p>
        </p:txBody>
      </p:sp>
      <p:sp>
        <p:nvSpPr>
          <p:cNvPr id="41" name="agent-profile-text-41">
            <a:extLst xmlns:a="http://schemas.openxmlformats.org/drawingml/2006/main">
              <a:ext uri="{FF2B5EF4-FFF2-40B4-BE49-F238E27FC236}">
                <a16:creationId xmlns:a16="http://schemas.microsoft.com/office/drawing/2014/main" id="{EC879086-DDAE-49F8-B893-8F8DD91C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4810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符号、路由、schema 解析端点</a:t>
            </a:r>
          </a:p>
        </p:txBody>
      </p:sp>
      <p:sp>
        <p:nvSpPr>
          <p:cNvPr id="42" name="agent-profile-text-42">
            <a:extLst xmlns:a="http://schemas.openxmlformats.org/drawingml/2006/main">
              <a:ext uri="{FF2B5EF4-FFF2-40B4-BE49-F238E27FC236}">
                <a16:creationId xmlns:a16="http://schemas.microsoft.com/office/drawing/2014/main" id="{9FEE131F-3491-4031-B229-9FCD938A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81475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Agent 检索候选，读取双方原文</a:t>
            </a:r>
          </a:p>
        </p:txBody>
      </p:sp>
      <p:sp>
        <p:nvSpPr>
          <p:cNvPr id="43" name="agent-profile-text-43">
            <a:extLst xmlns:a="http://schemas.openxmlformats.org/drawingml/2006/main">
              <a:ext uri="{FF2B5EF4-FFF2-40B4-BE49-F238E27FC236}">
                <a16:creationId xmlns:a16="http://schemas.microsoft.com/office/drawing/2014/main" id="{D3DD5475-A9F5-417A-AC62-326E43F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LLM 提出语义关系与引用依据</a:t>
            </a:r>
          </a:p>
        </p:txBody>
      </p:sp>
      <p:sp>
        <p:nvSpPr>
          <p:cNvPr id="44" name="agent-profile-text-44">
            <a:extLst xmlns:a="http://schemas.openxmlformats.org/drawingml/2006/main">
              <a:ext uri="{FF2B5EF4-FFF2-40B4-BE49-F238E27FC236}">
                <a16:creationId xmlns:a16="http://schemas.microsoft.com/office/drawing/2014/main" id="{01E13392-816F-4BF1-A338-5DE5D5EC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48225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候选：起点 → 类型 → 终点</a:t>
            </a:r>
          </a:p>
        </p:txBody>
      </p:sp>
      <p:sp>
        <p:nvSpPr>
          <p:cNvPr id="45" name="agent-profile-text-45">
            <a:extLst xmlns:a="http://schemas.openxmlformats.org/drawingml/2006/main">
              <a:ext uri="{FF2B5EF4-FFF2-40B4-BE49-F238E27FC236}">
                <a16:creationId xmlns:a16="http://schemas.microsoft.com/office/drawing/2014/main" id="{AB28E5EB-4D5E-4F94-A7F8-AC7DD9E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00650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结构线索按规则绑定，歧义留缺口</a:t>
            </a:r>
          </a:p>
        </p:txBody>
      </p:sp>
      <p:sp>
        <p:nvSpPr>
          <p:cNvPr id="46" name="agent-profile-node-46">
            <a:extLst xmlns:a="http://schemas.openxmlformats.org/drawingml/2006/main">
              <a:ext uri="{FF2B5EF4-FFF2-40B4-BE49-F238E27FC236}">
                <a16:creationId xmlns:a16="http://schemas.microsoft.com/office/drawing/2014/main" id="{9F829C30-6F52-427C-B56C-A707EF03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238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F83"/>
            </a:solidFill>
          </a:ln>
        </p:spPr>
      </p:sp>
      <p:sp>
        <p:nvSpPr>
          <p:cNvPr id="47" name="agent-profile-node-47">
            <a:extLst xmlns:a="http://schemas.openxmlformats.org/drawingml/2006/main">
              <a:ext uri="{FF2B5EF4-FFF2-40B4-BE49-F238E27FC236}">
                <a16:creationId xmlns:a16="http://schemas.microsoft.com/office/drawing/2014/main" id="{1552B435-AFA2-4235-A553-5A0608F9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0">
            <a:noFill/>
          </a:ln>
        </p:spPr>
      </p:sp>
      <p:sp>
        <p:nvSpPr>
          <p:cNvPr id="48" name="agent-profile-text-48">
            <a:extLst xmlns:a="http://schemas.openxmlformats.org/drawingml/2006/main">
              <a:ext uri="{FF2B5EF4-FFF2-40B4-BE49-F238E27FC236}">
                <a16:creationId xmlns:a16="http://schemas.microsoft.com/office/drawing/2014/main" id="{BD067110-F8E4-480B-BE2D-C8112971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03  关系核验工具</a:t>
            </a:r>
          </a:p>
        </p:txBody>
      </p:sp>
      <p:sp>
        <p:nvSpPr>
          <p:cNvPr id="49" name="agent-profile-text-49">
            <a:extLst xmlns:a="http://schemas.openxmlformats.org/drawingml/2006/main">
              <a:ext uri="{FF2B5EF4-FFF2-40B4-BE49-F238E27FC236}">
                <a16:creationId xmlns:a16="http://schemas.microsoft.com/office/drawing/2014/main" id="{5147EA9E-62FD-41D2-91AF-402EFC85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24250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检查端点、修订、类型和方向</a:t>
            </a:r>
          </a:p>
        </p:txBody>
      </p:sp>
      <p:sp>
        <p:nvSpPr>
          <p:cNvPr id="50" name="agent-profile-text-50">
            <a:extLst xmlns:a="http://schemas.openxmlformats.org/drawingml/2006/main">
              <a:ext uri="{FF2B5EF4-FFF2-40B4-BE49-F238E27FC236}">
                <a16:creationId xmlns:a16="http://schemas.microsoft.com/office/drawing/2014/main" id="{F6082C44-97CB-475F-98BC-0380B113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48100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核对原文、否定记录和冲突</a:t>
            </a:r>
          </a:p>
        </p:txBody>
      </p:sp>
      <p:sp>
        <p:nvSpPr>
          <p:cNvPr id="51" name="agent-profile-node-51">
            <a:extLst xmlns:a="http://schemas.openxmlformats.org/drawingml/2006/main">
              <a:ext uri="{FF2B5EF4-FFF2-40B4-BE49-F238E27FC236}">
                <a16:creationId xmlns:a16="http://schemas.microsoft.com/office/drawing/2014/main" id="{06643C58-8BE1-4C42-AB3E-FBA2A31D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10050"/>
            <a:ext cx="29718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0">
            <a:noFill/>
          </a:ln>
        </p:spPr>
      </p:sp>
      <p:sp>
        <p:nvSpPr>
          <p:cNvPr id="52" name="agent-profile-text-52">
            <a:extLst xmlns:a="http://schemas.openxmlformats.org/drawingml/2006/main">
              <a:ext uri="{FF2B5EF4-FFF2-40B4-BE49-F238E27FC236}">
                <a16:creationId xmlns:a16="http://schemas.microsoft.com/office/drawing/2014/main" id="{AB6C05B8-95D5-4272-9FCA-002F236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接纳 / 待审 / 拒绝 / 未知</a:t>
            </a:r>
          </a:p>
        </p:txBody>
      </p:sp>
      <p:sp>
        <p:nvSpPr>
          <p:cNvPr id="53" name="agent-profile-text-53">
            <a:extLst xmlns:a="http://schemas.openxmlformats.org/drawingml/2006/main">
              <a:ext uri="{FF2B5EF4-FFF2-40B4-BE49-F238E27FC236}">
                <a16:creationId xmlns:a16="http://schemas.microsoft.com/office/drawing/2014/main" id="{4929BB97-591A-4F05-9302-CA133FFD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未解决项反馈 Agent 定向补证</a:t>
            </a:r>
          </a:p>
        </p:txBody>
      </p:sp>
      <p:sp>
        <p:nvSpPr>
          <p:cNvPr id="54" name="agent-profile-text-54">
            <a:extLst xmlns:a="http://schemas.openxmlformats.org/drawingml/2006/main">
              <a:ext uri="{FF2B5EF4-FFF2-40B4-BE49-F238E27FC236}">
                <a16:creationId xmlns:a16="http://schemas.microsoft.com/office/drawing/2014/main" id="{54053A87-95F4-418F-8DC4-CA2F57A0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720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关键语义疑点进入审阅</a:t>
            </a:r>
          </a:p>
        </p:txBody>
      </p:sp>
      <p:sp>
        <p:nvSpPr>
          <p:cNvPr id="55" name="agent-profile-text-55">
            <a:extLst xmlns:a="http://schemas.openxmlformats.org/drawingml/2006/main">
              <a:ext uri="{FF2B5EF4-FFF2-40B4-BE49-F238E27FC236}">
                <a16:creationId xmlns:a16="http://schemas.microsoft.com/office/drawing/2014/main" id="{BBC60699-CDD7-44C6-9A88-C33EDF8F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38750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结构核验不等于业务语义正确</a:t>
            </a:r>
          </a:p>
        </p:txBody>
      </p:sp>
      <p:sp>
        <p:nvSpPr>
          <p:cNvPr id="56" name="agent-profile-node-56">
            <a:extLst xmlns:a="http://schemas.openxmlformats.org/drawingml/2006/main">
              <a:ext uri="{FF2B5EF4-FFF2-40B4-BE49-F238E27FC236}">
                <a16:creationId xmlns:a16="http://schemas.microsoft.com/office/drawing/2014/main" id="{FB534CE3-3D60-4D01-B96F-CF8B6BD6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52750"/>
            <a:ext cx="3238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F83"/>
            </a:solidFill>
          </a:ln>
        </p:spPr>
      </p:sp>
      <p:sp>
        <p:nvSpPr>
          <p:cNvPr id="57" name="agent-profile-node-57">
            <a:extLst xmlns:a="http://schemas.openxmlformats.org/drawingml/2006/main">
              <a:ext uri="{FF2B5EF4-FFF2-40B4-BE49-F238E27FC236}">
                <a16:creationId xmlns:a16="http://schemas.microsoft.com/office/drawing/2014/main" id="{72AF3EE8-E18E-4508-A629-8B26078D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5275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0">
            <a:noFill/>
          </a:ln>
        </p:spPr>
      </p:sp>
      <p:sp>
        <p:nvSpPr>
          <p:cNvPr id="58" name="agent-profile-text-58">
            <a:extLst xmlns:a="http://schemas.openxmlformats.org/drawingml/2006/main">
              <a:ext uri="{FF2B5EF4-FFF2-40B4-BE49-F238E27FC236}">
                <a16:creationId xmlns:a16="http://schemas.microsoft.com/office/drawing/2014/main" id="{284B1911-666C-4995-8FAF-B3F476F6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0289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04  受控持久化工具</a:t>
            </a:r>
          </a:p>
        </p:txBody>
      </p:sp>
      <p:sp>
        <p:nvSpPr>
          <p:cNvPr id="59" name="agent-profile-text-59">
            <a:extLst xmlns:a="http://schemas.openxmlformats.org/drawingml/2006/main">
              <a:ext uri="{FF2B5EF4-FFF2-40B4-BE49-F238E27FC236}">
                <a16:creationId xmlns:a16="http://schemas.microsoft.com/office/drawing/2014/main" id="{8C85F3DF-719E-4A93-A868-4420423C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524250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Agent 调用提交工具</a:t>
            </a:r>
          </a:p>
        </p:txBody>
      </p:sp>
      <p:sp>
        <p:nvSpPr>
          <p:cNvPr id="60" name="agent-profile-text-60">
            <a:extLst xmlns:a="http://schemas.openxmlformats.org/drawingml/2006/main">
              <a:ext uri="{FF2B5EF4-FFF2-40B4-BE49-F238E27FC236}">
                <a16:creationId xmlns:a16="http://schemas.microsoft.com/office/drawing/2014/main" id="{AC561A18-D24C-4213-AF4C-B68EB00B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857625"/>
            <a:ext cx="2971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PostgreSQL 事务追加修订</a:t>
            </a:r>
          </a:p>
        </p:txBody>
      </p:sp>
      <p:sp>
        <p:nvSpPr>
          <p:cNvPr id="61" name="agent-profile-text-61">
            <a:extLst xmlns:a="http://schemas.openxmlformats.org/drawingml/2006/main">
              <a:ext uri="{FF2B5EF4-FFF2-40B4-BE49-F238E27FC236}">
                <a16:creationId xmlns:a16="http://schemas.microsoft.com/office/drawing/2014/main" id="{C3B1396D-AB1F-4BD7-9F6E-1E16DD5C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2100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edge_revision / edge_evidence</a:t>
            </a:r>
          </a:p>
        </p:txBody>
      </p:sp>
      <p:sp>
        <p:nvSpPr>
          <p:cNvPr id="62" name="agent-profile-text-62">
            <a:extLst xmlns:a="http://schemas.openxmlformats.org/drawingml/2006/main">
              <a:ext uri="{FF2B5EF4-FFF2-40B4-BE49-F238E27FC236}">
                <a16:creationId xmlns:a16="http://schemas.microsoft.com/office/drawing/2014/main" id="{85393738-9675-48B5-8A60-930DACB8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52437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dependency 保存依据与查询范围</a:t>
            </a:r>
          </a:p>
        </p:txBody>
      </p:sp>
      <p:sp>
        <p:nvSpPr>
          <p:cNvPr id="63" name="agent-profile-text-63">
            <a:extLst xmlns:a="http://schemas.openxmlformats.org/drawingml/2006/main">
              <a:ext uri="{FF2B5EF4-FFF2-40B4-BE49-F238E27FC236}">
                <a16:creationId xmlns:a16="http://schemas.microsoft.com/office/drawing/2014/main" id="{8DE6DE99-8543-4694-9C7C-93BAF7A8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857750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按端点、类型、位置及条件去重</a:t>
            </a:r>
          </a:p>
        </p:txBody>
      </p:sp>
      <p:sp>
        <p:nvSpPr>
          <p:cNvPr id="64" name="agent-profile-text-64">
            <a:extLst xmlns:a="http://schemas.openxmlformats.org/drawingml/2006/main">
              <a:ext uri="{FF2B5EF4-FFF2-40B4-BE49-F238E27FC236}">
                <a16:creationId xmlns:a16="http://schemas.microsoft.com/office/drawing/2014/main" id="{9C63507B-1650-4876-BAA5-0204746A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200650"/>
            <a:ext cx="2971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MinIO/S3 归档原文，数据库存引用</a:t>
            </a:r>
          </a:p>
        </p:txBody>
      </p:sp>
      <p:cxnSp>
        <p:nvCxnSpPr>
          <p:cNvPr id="65" name="agent-profile-edge-65">
            <a:extLst xmlns:a="http://schemas.openxmlformats.org/drawingml/2006/main">
              <a:ext uri="{FF2B5EF4-FFF2-40B4-BE49-F238E27FC236}">
                <a16:creationId xmlns:a16="http://schemas.microsoft.com/office/drawing/2014/main" id="{150AFE1E-53F5-43FF-B54A-02C285DE85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10000" y="4324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prstDash val="solid"/>
            <a:tailEnd type="triangle" w="sm" len="sm"/>
          </a:ln>
        </p:spPr>
      </p:cxnSp>
      <p:cxnSp>
        <p:nvCxnSpPr>
          <p:cNvPr id="66" name="agent-profile-edge-66">
            <a:extLst xmlns:a="http://schemas.openxmlformats.org/drawingml/2006/main">
              <a:ext uri="{FF2B5EF4-FFF2-40B4-BE49-F238E27FC236}">
                <a16:creationId xmlns:a16="http://schemas.microsoft.com/office/drawing/2014/main" id="{21C7DE50-D6F1-402E-90A3-4787493BB8D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29500" y="4324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prstDash val="solid"/>
            <a:tailEnd type="triangle" w="sm" len="sm"/>
          </a:ln>
        </p:spPr>
      </p:cxnSp>
      <p:cxnSp>
        <p:nvCxnSpPr>
          <p:cNvPr id="67" name="agent-profile-edge-67">
            <a:extLst xmlns:a="http://schemas.openxmlformats.org/drawingml/2006/main">
              <a:ext uri="{FF2B5EF4-FFF2-40B4-BE49-F238E27FC236}">
                <a16:creationId xmlns:a16="http://schemas.microsoft.com/office/drawing/2014/main" id="{BA821A3C-BC0D-4326-9D0A-F43A9BAABC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049000" y="43243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prstDash val="solid"/>
            <a:tailEnd type="triangle" w="sm" len="sm"/>
          </a:ln>
        </p:spPr>
      </p:cxnSp>
      <p:cxnSp>
        <p:nvCxnSpPr>
          <p:cNvPr id="68" name="agent-profile-edge-68">
            <a:extLst xmlns:a="http://schemas.openxmlformats.org/drawingml/2006/main">
              <a:ext uri="{FF2B5EF4-FFF2-40B4-BE49-F238E27FC236}">
                <a16:creationId xmlns:a16="http://schemas.microsoft.com/office/drawing/2014/main" id="{CA6FD8F4-8222-49C5-9297-D19DB2DD56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49250" y="54864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prstDash val="solid"/>
            <a:tailEnd type="triangle" w="sm" len="sm"/>
          </a:ln>
        </p:spPr>
      </p:cxnSp>
      <p:sp>
        <p:nvSpPr>
          <p:cNvPr id="69" name="agent-profile-text-69">
            <a:extLst xmlns:a="http://schemas.openxmlformats.org/drawingml/2006/main">
              <a:ext uri="{FF2B5EF4-FFF2-40B4-BE49-F238E27FC236}">
                <a16:creationId xmlns:a16="http://schemas.microsoft.com/office/drawing/2014/main" id="{DAAB15F0-DBA1-4DB3-A947-89111B56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54355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接纳边进入新画像</a:t>
            </a:r>
          </a:p>
        </p:txBody>
      </p:sp>
      <p:sp>
        <p:nvSpPr>
          <p:cNvPr id="70" name="agent-profile-node-70">
            <a:extLst xmlns:a="http://schemas.openxmlformats.org/drawingml/2006/main">
              <a:ext uri="{FF2B5EF4-FFF2-40B4-BE49-F238E27FC236}">
                <a16:creationId xmlns:a16="http://schemas.microsoft.com/office/drawing/2014/main" id="{3473E9E0-2155-41F7-9EAA-368378AA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1025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F83"/>
            </a:solidFill>
          </a:ln>
        </p:spPr>
      </p:sp>
      <p:sp>
        <p:nvSpPr>
          <p:cNvPr id="71" name="agent-profile-node-71">
            <a:extLst xmlns:a="http://schemas.openxmlformats.org/drawingml/2006/main">
              <a:ext uri="{FF2B5EF4-FFF2-40B4-BE49-F238E27FC236}">
                <a16:creationId xmlns:a16="http://schemas.microsoft.com/office/drawing/2014/main" id="{2E7A3217-4463-46C4-AACC-1AEDB046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81025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0">
            <a:noFill/>
          </a:ln>
        </p:spPr>
      </p:sp>
      <p:sp>
        <p:nvSpPr>
          <p:cNvPr id="72" name="agent-profile-text-72">
            <a:extLst xmlns:a="http://schemas.openxmlformats.org/drawingml/2006/main">
              <a:ext uri="{FF2B5EF4-FFF2-40B4-BE49-F238E27FC236}">
                <a16:creationId xmlns:a16="http://schemas.microsoft.com/office/drawing/2014/main" id="{FC039013-0FF0-406C-A994-F5736D1C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886450"/>
            <a:ext cx="424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05  固定版本化有向多重图</a:t>
            </a:r>
          </a:p>
        </p:txBody>
      </p:sp>
      <p:sp>
        <p:nvSpPr>
          <p:cNvPr id="73" name="agent-profile-text-73">
            <a:extLst xmlns:a="http://schemas.openxmlformats.org/drawingml/2006/main">
              <a:ext uri="{FF2B5EF4-FFF2-40B4-BE49-F238E27FC236}">
                <a16:creationId xmlns:a16="http://schemas.microsoft.com/office/drawing/2014/main" id="{B4FB0298-838C-4351-85EF-15F3D7F0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6334125"/>
            <a:ext cx="4229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成员：来源修订＋实体修订＋接纳边修订</a:t>
            </a:r>
          </a:p>
        </p:txBody>
      </p:sp>
      <p:sp>
        <p:nvSpPr>
          <p:cNvPr id="74" name="agent-profile-node-74">
            <a:extLst xmlns:a="http://schemas.openxmlformats.org/drawingml/2006/main">
              <a:ext uri="{FF2B5EF4-FFF2-40B4-BE49-F238E27FC236}">
                <a16:creationId xmlns:a16="http://schemas.microsoft.com/office/drawing/2014/main" id="{7C1FA7DC-3CBD-41FE-A962-C833934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781800"/>
            <a:ext cx="9810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75" name="agent-profile-text-75">
            <a:extLst xmlns:a="http://schemas.openxmlformats.org/drawingml/2006/main">
              <a:ext uri="{FF2B5EF4-FFF2-40B4-BE49-F238E27FC236}">
                <a16:creationId xmlns:a16="http://schemas.microsoft.com/office/drawing/2014/main" id="{1680EAC5-1AF5-40AA-92E2-D0270045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829425"/>
            <a:ext cx="866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接口 I</a:t>
            </a:r>
          </a:p>
        </p:txBody>
      </p:sp>
      <p:sp>
        <p:nvSpPr>
          <p:cNvPr id="76" name="agent-profile-node-76">
            <a:extLst xmlns:a="http://schemas.openxmlformats.org/drawingml/2006/main">
              <a:ext uri="{FF2B5EF4-FFF2-40B4-BE49-F238E27FC236}">
                <a16:creationId xmlns:a16="http://schemas.microsoft.com/office/drawing/2014/main" id="{DC9D6D7C-9A1A-4574-9661-89A22983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6696075"/>
            <a:ext cx="95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77" name="agent-profile-text-77">
            <a:extLst xmlns:a="http://schemas.openxmlformats.org/drawingml/2006/main">
              <a:ext uri="{FF2B5EF4-FFF2-40B4-BE49-F238E27FC236}">
                <a16:creationId xmlns:a16="http://schemas.microsoft.com/office/drawing/2014/main" id="{77FA48F7-434D-47E5-8599-25F31F9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6819900"/>
            <a:ext cx="857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函数 F</a:t>
            </a:r>
          </a:p>
        </p:txBody>
      </p:sp>
      <p:sp>
        <p:nvSpPr>
          <p:cNvPr id="78" name="agent-profile-node-78">
            <a:extLst xmlns:a="http://schemas.openxmlformats.org/drawingml/2006/main">
              <a:ext uri="{FF2B5EF4-FFF2-40B4-BE49-F238E27FC236}">
                <a16:creationId xmlns:a16="http://schemas.microsoft.com/office/drawing/2014/main" id="{9341C3E5-788A-42F3-94E7-B379343D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696075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9525">
            <a:solidFill>
              <a:srgbClr val="007F83"/>
            </a:solidFill>
          </a:ln>
        </p:spPr>
      </p:sp>
      <p:sp>
        <p:nvSpPr>
          <p:cNvPr id="79" name="agent-profile-text-79">
            <a:extLst xmlns:a="http://schemas.openxmlformats.org/drawingml/2006/main">
              <a:ext uri="{FF2B5EF4-FFF2-40B4-BE49-F238E27FC236}">
                <a16:creationId xmlns:a16="http://schemas.microsoft.com/office/drawing/2014/main" id="{7B918994-0EFB-41A1-9BA8-049C31C8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6819900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账本 T</a:t>
            </a:r>
          </a:p>
        </p:txBody>
      </p:sp>
      <p:cxnSp>
        <p:nvCxnSpPr>
          <p:cNvPr id="80" name="agent-profile-edge-80">
            <a:extLst xmlns:a="http://schemas.openxmlformats.org/drawingml/2006/main">
              <a:ext uri="{FF2B5EF4-FFF2-40B4-BE49-F238E27FC236}">
                <a16:creationId xmlns:a16="http://schemas.microsoft.com/office/drawing/2014/main" id="{BCA060AF-F703-4AE4-8A92-7D813237BE4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306175" y="69437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prstDash val="solid"/>
            <a:tailEnd type="triangle" w="sm" len="sm"/>
          </a:ln>
        </p:spPr>
      </p:cxnSp>
      <p:sp>
        <p:nvSpPr>
          <p:cNvPr id="81" name="agent-profile-text-81">
            <a:extLst xmlns:a="http://schemas.openxmlformats.org/drawingml/2006/main">
              <a:ext uri="{FF2B5EF4-FFF2-40B4-BE49-F238E27FC236}">
                <a16:creationId xmlns:a16="http://schemas.microsoft.com/office/drawing/2014/main" id="{300693C8-CE9A-4E50-8A0D-E155725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705600"/>
            <a:ext cx="428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调用</a:t>
            </a:r>
          </a:p>
        </p:txBody>
      </p:sp>
      <p:cxnSp>
        <p:nvCxnSpPr>
          <p:cNvPr id="82" name="agent-profile-edge-82">
            <a:extLst xmlns:a="http://schemas.openxmlformats.org/drawingml/2006/main">
              <a:ext uri="{FF2B5EF4-FFF2-40B4-BE49-F238E27FC236}">
                <a16:creationId xmlns:a16="http://schemas.microsoft.com/office/drawing/2014/main" id="{9CAD1172-8D01-4F1D-95A6-A16AB9778E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773025" y="678180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56A1"/>
            </a:solidFill>
            <a:prstDash val="solid"/>
            <a:tailEnd type="triangle" w="sm" len="sm"/>
          </a:ln>
        </p:spPr>
      </p:cxnSp>
      <p:sp>
        <p:nvSpPr>
          <p:cNvPr id="83" name="agent-profile-text-83">
            <a:extLst xmlns:a="http://schemas.openxmlformats.org/drawingml/2006/main">
              <a:ext uri="{FF2B5EF4-FFF2-40B4-BE49-F238E27FC236}">
                <a16:creationId xmlns:a16="http://schemas.microsoft.com/office/drawing/2014/main" id="{640B2867-9872-4DB8-BD7F-806EEE9B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654367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读取</a:t>
            </a:r>
          </a:p>
        </p:txBody>
      </p:sp>
      <p:cxnSp>
        <p:nvCxnSpPr>
          <p:cNvPr id="84" name="agent-profile-edge-84">
            <a:extLst xmlns:a="http://schemas.openxmlformats.org/drawingml/2006/main">
              <a:ext uri="{FF2B5EF4-FFF2-40B4-BE49-F238E27FC236}">
                <a16:creationId xmlns:a16="http://schemas.microsoft.com/office/drawing/2014/main" id="{9BE576AD-960A-4D3F-8886-EED991055C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773025" y="71056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prstDash val="solid"/>
            <a:tailEnd type="triangle" w="sm" len="sm"/>
          </a:ln>
        </p:spPr>
      </p:cxnSp>
      <p:sp>
        <p:nvSpPr>
          <p:cNvPr id="85" name="agent-profile-text-85">
            <a:extLst xmlns:a="http://schemas.openxmlformats.org/drawingml/2006/main">
              <a:ext uri="{FF2B5EF4-FFF2-40B4-BE49-F238E27FC236}">
                <a16:creationId xmlns:a16="http://schemas.microsoft.com/office/drawing/2014/main" id="{AE600811-E70D-49FA-A6A2-E05D696A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6867525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写入</a:t>
            </a:r>
          </a:p>
        </p:txBody>
      </p:sp>
      <p:sp>
        <p:nvSpPr>
          <p:cNvPr id="86" name="agent-profile-text-86">
            <a:extLst xmlns:a="http://schemas.openxmlformats.org/drawingml/2006/main">
              <a:ext uri="{FF2B5EF4-FFF2-40B4-BE49-F238E27FC236}">
                <a16:creationId xmlns:a16="http://schemas.microsoft.com/office/drawing/2014/main" id="{0DC79553-8CEE-4DFE-9242-F775CE11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7305675"/>
            <a:ext cx="422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读/写边独立保存，保留条件及原文依据</a:t>
            </a:r>
          </a:p>
        </p:txBody>
      </p:sp>
      <p:sp>
        <p:nvSpPr>
          <p:cNvPr id="87" name="agent-profile-text-87">
            <a:extLst xmlns:a="http://schemas.openxmlformats.org/drawingml/2006/main">
              <a:ext uri="{FF2B5EF4-FFF2-40B4-BE49-F238E27FC236}">
                <a16:creationId xmlns:a16="http://schemas.microsoft.com/office/drawing/2014/main" id="{499F358E-EDD4-4A24-87ED-8031141A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7572375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V1 保持原快照，V2 复用未变成员</a:t>
            </a:r>
          </a:p>
        </p:txBody>
      </p:sp>
      <p:sp>
        <p:nvSpPr>
          <p:cNvPr id="88" name="agent-profile-node-88">
            <a:extLst xmlns:a="http://schemas.openxmlformats.org/drawingml/2006/main">
              <a:ext uri="{FF2B5EF4-FFF2-40B4-BE49-F238E27FC236}">
                <a16:creationId xmlns:a16="http://schemas.microsoft.com/office/drawing/2014/main" id="{98D6CE5C-312B-436E-B479-8754CA20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1025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F83"/>
            </a:solidFill>
          </a:ln>
        </p:spPr>
      </p:sp>
      <p:sp>
        <p:nvSpPr>
          <p:cNvPr id="89" name="agent-profile-node-89">
            <a:extLst xmlns:a="http://schemas.openxmlformats.org/drawingml/2006/main">
              <a:ext uri="{FF2B5EF4-FFF2-40B4-BE49-F238E27FC236}">
                <a16:creationId xmlns:a16="http://schemas.microsoft.com/office/drawing/2014/main" id="{F7F96CC7-FBBE-47DE-9C52-566EBF83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102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0">
            <a:noFill/>
          </a:ln>
        </p:spPr>
      </p:sp>
      <p:sp>
        <p:nvSpPr>
          <p:cNvPr id="90" name="agent-profile-text-90">
            <a:extLst xmlns:a="http://schemas.openxmlformats.org/drawingml/2006/main">
              <a:ext uri="{FF2B5EF4-FFF2-40B4-BE49-F238E27FC236}">
                <a16:creationId xmlns:a16="http://schemas.microsoft.com/office/drawing/2014/main" id="{53D62ABD-504F-4B95-A18C-B06BDCBF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8864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06  查询索引与发布工具</a:t>
            </a:r>
          </a:p>
        </p:txBody>
      </p:sp>
      <p:sp>
        <p:nvSpPr>
          <p:cNvPr id="91" name="agent-profile-text-91">
            <a:extLst xmlns:a="http://schemas.openxmlformats.org/drawingml/2006/main">
              <a:ext uri="{FF2B5EF4-FFF2-40B4-BE49-F238E27FC236}">
                <a16:creationId xmlns:a16="http://schemas.microsoft.com/office/drawing/2014/main" id="{9AEA3D54-51A9-47AB-880D-BBB3AC55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324600"/>
            <a:ext cx="411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起点＋类型：F 写什么？→ T</a:t>
            </a:r>
          </a:p>
        </p:txBody>
      </p:sp>
      <p:sp>
        <p:nvSpPr>
          <p:cNvPr id="92" name="agent-profile-text-92">
            <a:extLst xmlns:a="http://schemas.openxmlformats.org/drawingml/2006/main">
              <a:ext uri="{FF2B5EF4-FFF2-40B4-BE49-F238E27FC236}">
                <a16:creationId xmlns:a16="http://schemas.microsoft.com/office/drawing/2014/main" id="{06E59034-2BFE-4DF5-8403-96908E1E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619875"/>
            <a:ext cx="411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终点＋类型：谁调用 F？→ I</a:t>
            </a:r>
          </a:p>
        </p:txBody>
      </p:sp>
      <p:sp>
        <p:nvSpPr>
          <p:cNvPr id="93" name="agent-profile-text-93">
            <a:extLst xmlns:a="http://schemas.openxmlformats.org/drawingml/2006/main">
              <a:ext uri="{FF2B5EF4-FFF2-40B4-BE49-F238E27FC236}">
                <a16:creationId xmlns:a16="http://schemas.microsoft.com/office/drawing/2014/main" id="{52A569FB-094F-415F-9DF2-C8C9DA20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924675"/>
            <a:ext cx="411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类型文本 → Embedding → pgvector</a:t>
            </a:r>
          </a:p>
        </p:txBody>
      </p:sp>
      <p:sp>
        <p:nvSpPr>
          <p:cNvPr id="94" name="agent-profile-text-94">
            <a:extLst xmlns:a="http://schemas.openxmlformats.org/drawingml/2006/main">
              <a:ext uri="{FF2B5EF4-FFF2-40B4-BE49-F238E27FC236}">
                <a16:creationId xmlns:a16="http://schemas.microsoft.com/office/drawing/2014/main" id="{06D8EBCC-8FC1-4F39-BE09-9BD999A7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229475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全文 GIN，检索限定版本成员及适用状态</a:t>
            </a:r>
          </a:p>
        </p:txBody>
      </p:sp>
      <p:sp>
        <p:nvSpPr>
          <p:cNvPr id="95" name="agent-profile-text-95">
            <a:extLst xmlns:a="http://schemas.openxmlformats.org/drawingml/2006/main">
              <a:ext uri="{FF2B5EF4-FFF2-40B4-BE49-F238E27FC236}">
                <a16:creationId xmlns:a16="http://schemas.microsoft.com/office/drawing/2014/main" id="{3B7E8FED-21F0-46E0-9622-B474208F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534275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Agent 请求发布 → 工具重验依赖后提交</a:t>
            </a:r>
          </a:p>
        </p:txBody>
      </p:sp>
      <p:sp>
        <p:nvSpPr>
          <p:cNvPr id="96" name="agent-profile-node-96">
            <a:extLst xmlns:a="http://schemas.openxmlformats.org/drawingml/2006/main">
              <a:ext uri="{FF2B5EF4-FFF2-40B4-BE49-F238E27FC236}">
                <a16:creationId xmlns:a16="http://schemas.microsoft.com/office/drawing/2014/main" id="{B5EEE445-1E29-460B-8F74-C4F764CB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57125"/>
            </a:solidFill>
          </a:ln>
        </p:spPr>
      </p:sp>
      <p:sp>
        <p:nvSpPr>
          <p:cNvPr id="97" name="agent-profile-node-97">
            <a:extLst xmlns:a="http://schemas.openxmlformats.org/drawingml/2006/main">
              <a:ext uri="{FF2B5EF4-FFF2-40B4-BE49-F238E27FC236}">
                <a16:creationId xmlns:a16="http://schemas.microsoft.com/office/drawing/2014/main" id="{56075FC0-F5C4-4905-B417-1433C598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</a:ln>
        </p:spPr>
      </p:sp>
      <p:sp>
        <p:nvSpPr>
          <p:cNvPr id="98" name="agent-profile-text-98">
            <a:extLst xmlns:a="http://schemas.openxmlformats.org/drawingml/2006/main">
              <a:ext uri="{FF2B5EF4-FFF2-40B4-BE49-F238E27FC236}">
                <a16:creationId xmlns:a16="http://schemas.microsoft.com/office/drawing/2014/main" id="{99D6F46B-71DD-462C-9688-1CA668D2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rPr>
              <a:t>07  Agent 按变化重新规划</a:t>
            </a:r>
          </a:p>
        </p:txBody>
      </p:sp>
      <p:sp>
        <p:nvSpPr>
          <p:cNvPr id="99" name="agent-profile-text-99">
            <a:extLst xmlns:a="http://schemas.openxmlformats.org/drawingml/2006/main">
              <a:ext uri="{FF2B5EF4-FFF2-40B4-BE49-F238E27FC236}">
                <a16:creationId xmlns:a16="http://schemas.microsoft.com/office/drawing/2014/main" id="{6013EB4C-69DD-4B78-9591-6921F222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34125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同来源双修订＋采集范围确定变化</a:t>
            </a:r>
          </a:p>
        </p:txBody>
      </p:sp>
      <p:sp>
        <p:nvSpPr>
          <p:cNvPr id="100" name="agent-profile-text-100">
            <a:extLst xmlns:a="http://schemas.openxmlformats.org/drawingml/2006/main">
              <a:ext uri="{FF2B5EF4-FFF2-40B4-BE49-F238E27FC236}">
                <a16:creationId xmlns:a16="http://schemas.microsoft.com/office/drawing/2014/main" id="{86DDF683-D457-422D-8ACE-B241DFA3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57975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对象、命中证据、查询范围触发重评</a:t>
            </a:r>
          </a:p>
        </p:txBody>
      </p:sp>
      <p:sp>
        <p:nvSpPr>
          <p:cNvPr id="101" name="agent-profile-text-101">
            <a:extLst xmlns:a="http://schemas.openxmlformats.org/drawingml/2006/main">
              <a:ext uri="{FF2B5EF4-FFF2-40B4-BE49-F238E27FC236}">
                <a16:creationId xmlns:a16="http://schemas.microsoft.com/office/drawing/2014/main" id="{EBEEBA7B-641A-41A0-A7BA-E91D5BE6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1825"/>
            <a:ext cx="411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新增文件进入空召回范围，也重新检索</a:t>
            </a:r>
          </a:p>
        </p:txBody>
      </p:sp>
      <p:sp>
        <p:nvSpPr>
          <p:cNvPr id="102" name="agent-profile-text-102">
            <a:extLst xmlns:a="http://schemas.openxmlformats.org/drawingml/2006/main">
              <a:ext uri="{FF2B5EF4-FFF2-40B4-BE49-F238E27FC236}">
                <a16:creationId xmlns:a16="http://schemas.microsoft.com/office/drawing/2014/main" id="{1757B9F2-2CEB-4EA4-A245-6C91215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05675"/>
            <a:ext cx="4114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只重建受影响部分，未变成员与向量复用</a:t>
            </a:r>
          </a:p>
        </p:txBody>
      </p:sp>
      <p:sp>
        <p:nvSpPr>
          <p:cNvPr id="103" name="agent-profile-text-103">
            <a:extLst xmlns:a="http://schemas.openxmlformats.org/drawingml/2006/main">
              <a:ext uri="{FF2B5EF4-FFF2-40B4-BE49-F238E27FC236}">
                <a16:creationId xmlns:a16="http://schemas.microsoft.com/office/drawing/2014/main" id="{5379E255-02D0-421F-BD9F-0384B878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81900"/>
            <a:ext cx="411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采集缺失保留未知，缺口进入 Agent 续办</a:t>
            </a:r>
          </a:p>
        </p:txBody>
      </p:sp>
      <p:cxnSp>
        <p:nvCxnSpPr>
          <p:cNvPr id="104" name="agent-profile-edge-104">
            <a:extLst xmlns:a="http://schemas.openxmlformats.org/drawingml/2006/main">
              <a:ext uri="{FF2B5EF4-FFF2-40B4-BE49-F238E27FC236}">
                <a16:creationId xmlns:a16="http://schemas.microsoft.com/office/drawing/2014/main" id="{F57B2AAC-1D5F-4B52-BD86-D01BE86E0151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763125" y="6867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83"/>
            </a:solidFill>
            <a:prstDash val="solid"/>
            <a:tailEnd type="triangle" w="sm" len="sm"/>
          </a:ln>
        </p:spPr>
      </p:cxnSp>
      <p:cxnSp>
        <p:nvCxnSpPr>
          <p:cNvPr id="105" name="agent-profile-edge-105">
            <a:extLst xmlns:a="http://schemas.openxmlformats.org/drawingml/2006/main">
              <a:ext uri="{FF2B5EF4-FFF2-40B4-BE49-F238E27FC236}">
                <a16:creationId xmlns:a16="http://schemas.microsoft.com/office/drawing/2014/main" id="{BB25AC28-9D86-4B15-857A-669BCC6D1DB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4953000" y="6867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7125"/>
            </a:solidFill>
            <a:prstDash val="solid"/>
            <a:tailEnd type="triangle" w="sm" len="sm"/>
          </a:ln>
        </p:spPr>
      </p:cxnSp>
      <p:cxnSp>
        <p:nvCxnSpPr>
          <p:cNvPr id="106" name="agent-profile-edge-106">
            <a:extLst xmlns:a="http://schemas.openxmlformats.org/drawingml/2006/main">
              <a:ext uri="{FF2B5EF4-FFF2-40B4-BE49-F238E27FC236}">
                <a16:creationId xmlns:a16="http://schemas.microsoft.com/office/drawing/2014/main" id="{559B1B8D-F9C0-4281-B9CC-D8EDFA58DD5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33375" y="69056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7125"/>
            </a:solidFill>
            <a:prstDash val="dash"/>
            <a:tailEnd type="none" w="sm" len="sm"/>
          </a:ln>
        </p:spPr>
      </p:cxnSp>
      <p:cxnSp>
        <p:nvCxnSpPr>
          <p:cNvPr id="107" name="agent-profile-edge-107">
            <a:extLst xmlns:a="http://schemas.openxmlformats.org/drawingml/2006/main">
              <a:ext uri="{FF2B5EF4-FFF2-40B4-BE49-F238E27FC236}">
                <a16:creationId xmlns:a16="http://schemas.microsoft.com/office/drawing/2014/main" id="{B605458C-B7D9-4A96-94AD-8389C456F4A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33375" y="2028825"/>
            <a:ext cx="0" cy="487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7125"/>
            </a:solidFill>
            <a:prstDash val="dash"/>
            <a:tailEnd type="none" w="sm" len="sm"/>
          </a:ln>
        </p:spPr>
      </p:cxnSp>
      <p:cxnSp>
        <p:nvCxnSpPr>
          <p:cNvPr id="108" name="agent-profile-edge-108">
            <a:extLst xmlns:a="http://schemas.openxmlformats.org/drawingml/2006/main">
              <a:ext uri="{FF2B5EF4-FFF2-40B4-BE49-F238E27FC236}">
                <a16:creationId xmlns:a16="http://schemas.microsoft.com/office/drawing/2014/main" id="{717FC17E-D2D2-4B26-A6EB-20BF14A6A46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3375" y="20288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57125"/>
            </a:solidFill>
            <a:prstDash val="dash"/>
            <a:tailEnd type="triangle" w="sm" len="sm"/>
          </a:ln>
        </p:spPr>
      </p:cxnSp>
      <p:sp>
        <p:nvSpPr>
          <p:cNvPr id="109" name="agent-profile-text-109">
            <a:extLst xmlns:a="http://schemas.openxmlformats.org/drawingml/2006/main">
              <a:ext uri="{FF2B5EF4-FFF2-40B4-BE49-F238E27FC236}">
                <a16:creationId xmlns:a16="http://schemas.microsoft.com/office/drawing/2014/main" id="{8C3F286D-DFD1-4CC1-8776-ECF38ABC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953375"/>
            <a:ext cx="1407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创新组合：Agent 基于证据规划与补全关联，经工具核验固定版本画像，再依据变化和查询范围依赖局部重建。</a:t>
            </a:r>
          </a:p>
        </p:txBody>
      </p:sp>
      <p:sp>
        <p:nvSpPr>
          <p:cNvPr id="110" name="agent-profile-text-110">
            <a:extLst xmlns:a="http://schemas.openxmlformats.org/drawingml/2006/main">
              <a:ext uri="{FF2B5EF4-FFF2-40B4-BE49-F238E27FC236}">
                <a16:creationId xmlns:a16="http://schemas.microsoft.com/office/drawing/2014/main" id="{21158BCE-C03C-4A72-BC0E-69A18D6E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86750"/>
            <a:ext cx="1271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目标设计；已有 Agent 规划、工具编排和补证续接。结构提取工具目前为确定性解析，完整语义构建闭环尚未贯通。</a:t>
            </a:r>
          </a:p>
        </p:txBody>
      </p:sp>
      <p:sp>
        <p:nvSpPr>
          <p:cNvPr id="111" name="agent-profile-text-111">
            <a:extLst xmlns:a="http://schemas.openxmlformats.org/drawingml/2006/main">
              <a:ext uri="{FF2B5EF4-FFF2-40B4-BE49-F238E27FC236}">
                <a16:creationId xmlns:a16="http://schemas.microsoft.com/office/drawing/2014/main" id="{B5C42D7F-5054-427D-A22F-2D18F51E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67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04 / 06</a:t>
            </a:r>
          </a:p>
        </p:txBody>
      </p:sp>
    </p:spTree>
    <p:extLst>
      <p:ext uri="{BB962C8B-B14F-4D97-AF65-F5344CB8AC3E}">
        <p14:creationId xmlns:p14="http://schemas.microsoft.com/office/powerpoint/2010/main" val="307679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profile-text-1">
            <a:extLst xmlns:a="http://schemas.openxmlformats.org/drawingml/2006/main">
              <a:ext uri="{FF2B5EF4-FFF2-40B4-BE49-F238E27FC236}">
                <a16:creationId xmlns:a16="http://schemas.microsoft.com/office/drawing/2014/main" id="{D8172108-15B1-4A76-B593-3A124F26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创新点2：系统画像知识驱动 AI Agent 生成测试用例</a:t>
            </a:r>
          </a:p>
        </p:txBody>
      </p:sp>
      <p:sp>
        <p:nvSpPr>
          <p:cNvPr id="2" name="profile-text-2">
            <a:extLst xmlns:a="http://schemas.openxmlformats.org/drawingml/2006/main">
              <a:ext uri="{FF2B5EF4-FFF2-40B4-BE49-F238E27FC236}">
                <a16:creationId xmlns:a16="http://schemas.microsoft.com/office/drawing/2014/main" id="{42A7EAB5-F3DE-45D9-9E39-033C2C5A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405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Agent 按任务查询画像、沿关联补全上下文，复用已有资产并生成有依据的测试步骤和断言。</a:t>
            </a:r>
          </a:p>
        </p:txBody>
      </p:sp>
      <p:sp>
        <p:nvSpPr>
          <p:cNvPr id="3" name="profile-node-3">
            <a:extLst xmlns:a="http://schemas.openxmlformats.org/drawingml/2006/main">
              <a:ext uri="{FF2B5EF4-FFF2-40B4-BE49-F238E27FC236}">
                <a16:creationId xmlns:a16="http://schemas.microsoft.com/office/drawing/2014/main" id="{385ED9F6-B201-4D45-ADB8-DEE07DDD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0">
            <a:solidFill>
              <a:srgbClr val="F0ECF7"/>
            </a:solidFill>
          </a:ln>
        </p:spPr>
      </p:sp>
      <p:sp>
        <p:nvSpPr>
          <p:cNvPr id="4" name="profile-text-4">
            <a:extLst xmlns:a="http://schemas.openxmlformats.org/drawingml/2006/main">
              <a:ext uri="{FF2B5EF4-FFF2-40B4-BE49-F238E27FC236}">
                <a16:creationId xmlns:a16="http://schemas.microsoft.com/office/drawing/2014/main" id="{4AC5054E-B802-49F0-8E2F-35EB4D83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71650"/>
            <a:ext cx="619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需求 / 代码变更 ＋ 固定画像版本 ＋ 测试目标</a:t>
            </a:r>
          </a:p>
        </p:txBody>
      </p:sp>
      <p:cxnSp>
        <p:nvCxnSpPr>
          <p:cNvPr id="5" name="profile-edge-5">
            <a:extLst xmlns:a="http://schemas.openxmlformats.org/drawingml/2006/main">
              <a:ext uri="{FF2B5EF4-FFF2-40B4-BE49-F238E27FC236}">
                <a16:creationId xmlns:a16="http://schemas.microsoft.com/office/drawing/2014/main" id="{8EE1564D-624F-4EA5-8E81-177279ED24E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20955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7956A1"/>
            </a:solidFill>
            <a:prstDash val="solid"/>
            <a:tailEnd type="triangle" w="sm" len="sm"/>
          </a:ln>
        </p:spPr>
      </p:cxnSp>
      <p:sp>
        <p:nvSpPr>
          <p:cNvPr id="6" name="profile-node-6">
            <a:extLst xmlns:a="http://schemas.openxmlformats.org/drawingml/2006/main">
              <a:ext uri="{FF2B5EF4-FFF2-40B4-BE49-F238E27FC236}">
                <a16:creationId xmlns:a16="http://schemas.microsoft.com/office/drawing/2014/main" id="{D4C13457-810E-4352-BFCE-CD588885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143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7F83"/>
            </a:solidFill>
          </a:ln>
        </p:spPr>
      </p:sp>
      <p:sp>
        <p:nvSpPr>
          <p:cNvPr id="7" name="profile-node-7">
            <a:extLst xmlns:a="http://schemas.openxmlformats.org/drawingml/2006/main">
              <a:ext uri="{FF2B5EF4-FFF2-40B4-BE49-F238E27FC236}">
                <a16:creationId xmlns:a16="http://schemas.microsoft.com/office/drawing/2014/main" id="{C716E4E1-A16D-4DA8-A730-A9CA4BA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solidFill>
              <a:srgbClr val="007F83"/>
            </a:solidFill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FFB70-3777-4131-AB28-D8285301D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2c7b7f9654ae1">
            <a:extLst>
              <a:ext uri="{96DAC541-7B7A-43D3-8B79-37D633B846F1}">
                <asvg:svgBlip xmlns:asvg="http://schemas.microsoft.com/office/drawing/2016/SVG/main" r:embed="Rc6eb75f1db5240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" y="25241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9" name="profile-text-8">
            <a:extLst xmlns:a="http://schemas.openxmlformats.org/drawingml/2006/main">
              <a:ext uri="{FF2B5EF4-FFF2-40B4-BE49-F238E27FC236}">
                <a16:creationId xmlns:a16="http://schemas.microsoft.com/office/drawing/2014/main" id="{DE7C7423-F5B0-484E-9E80-EC7584A5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1460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系统画像知识服务</a:t>
            </a:r>
          </a:p>
        </p:txBody>
      </p:sp>
      <p:sp>
        <p:nvSpPr>
          <p:cNvPr id="10" name="profile-text-9">
            <a:extLst xmlns:a="http://schemas.openxmlformats.org/drawingml/2006/main">
              <a:ext uri="{FF2B5EF4-FFF2-40B4-BE49-F238E27FC236}">
                <a16:creationId xmlns:a16="http://schemas.microsoft.com/office/drawing/2014/main" id="{C321C478-8F45-41F2-9E9D-9B4DE623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PostgreSQL / pgvector</a:t>
            </a:r>
          </a:p>
        </p:txBody>
      </p:sp>
      <p:cxnSp>
        <p:nvCxnSpPr>
          <p:cNvPr id="11" name="profile-edge-10">
            <a:extLst xmlns:a="http://schemas.openxmlformats.org/drawingml/2006/main">
              <a:ext uri="{FF2B5EF4-FFF2-40B4-BE49-F238E27FC236}">
                <a16:creationId xmlns:a16="http://schemas.microsoft.com/office/drawing/2014/main" id="{DE7173C7-278F-456D-ABB3-498F60E4A03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32575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2C2CD"/>
            </a:solidFill>
            <a:prstDash val="solid"/>
            <a:tailEnd type="none" w="sm" len="sm"/>
          </a:ln>
        </p:spPr>
      </p:cxn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EB4A3-C7B0-4661-B5B4-F327CF5E7F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f5c8744c44f0d">
            <a:extLst>
              <a:ext uri="{96DAC541-7B7A-43D3-8B79-37D633B846F1}">
                <asvg:svgBlip xmlns:asvg="http://schemas.microsoft.com/office/drawing/2016/SVG/main" r:embed="R23c156227f7c42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34194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3" name="profile-text-11">
            <a:extLst xmlns:a="http://schemas.openxmlformats.org/drawingml/2006/main">
              <a:ext uri="{FF2B5EF4-FFF2-40B4-BE49-F238E27FC236}">
                <a16:creationId xmlns:a16="http://schemas.microsoft.com/office/drawing/2014/main" id="{AB1B9EEE-B210-4D30-8D46-1253F3D2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90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对象与原文</a:t>
            </a:r>
          </a:p>
        </p:txBody>
      </p:sp>
      <p:sp>
        <p:nvSpPr>
          <p:cNvPr id="14" name="profile-text-12">
            <a:extLst xmlns:a="http://schemas.openxmlformats.org/drawingml/2006/main">
              <a:ext uri="{FF2B5EF4-FFF2-40B4-BE49-F238E27FC236}">
                <a16:creationId xmlns:a16="http://schemas.microsoft.com/office/drawing/2014/main" id="{AB3B82FB-0F80-4F87-8291-9299DDB8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接口、字段、条件及来源位置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0B780-321D-4C28-8AE5-21D7F6D832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7a553f414491f">
            <a:extLst>
              <a:ext uri="{96DAC541-7B7A-43D3-8B79-37D633B846F1}">
                <asvg:svgBlip xmlns:asvg="http://schemas.microsoft.com/office/drawing/2016/SVG/main" r:embed="Rb55a962c8e4c44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41243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profile-text-13">
            <a:extLst xmlns:a="http://schemas.openxmlformats.org/drawingml/2006/main">
              <a:ext uri="{FF2B5EF4-FFF2-40B4-BE49-F238E27FC236}">
                <a16:creationId xmlns:a16="http://schemas.microsoft.com/office/drawing/2014/main" id="{AFA7C959-32F5-4CD4-A277-B36996F2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095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关联与测试资产</a:t>
            </a:r>
          </a:p>
        </p:txBody>
      </p:sp>
      <p:sp>
        <p:nvSpPr>
          <p:cNvPr id="17" name="profile-text-14">
            <a:extLst xmlns:a="http://schemas.openxmlformats.org/drawingml/2006/main">
              <a:ext uri="{FF2B5EF4-FFF2-40B4-BE49-F238E27FC236}">
                <a16:creationId xmlns:a16="http://schemas.microsoft.com/office/drawing/2014/main" id="{41A588EE-EBBB-4CC8-B51F-D9412626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调用 / 读写 / 需求 / 测试关系</a:t>
            </a:r>
          </a:p>
        </p:txBody>
      </p:sp>
      <p:sp>
        <p:nvSpPr>
          <p:cNvPr id="18" name="profile-text-15">
            <a:extLst xmlns:a="http://schemas.openxmlformats.org/drawingml/2006/main">
              <a:ext uri="{FF2B5EF4-FFF2-40B4-BE49-F238E27FC236}">
                <a16:creationId xmlns:a16="http://schemas.microsoft.com/office/drawing/2014/main" id="{9C6022A5-DA2E-462D-AFD7-19E4C1D2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76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批准预期、已有用例和脚本</a:t>
            </a:r>
          </a:p>
        </p:txBody>
      </p:sp>
      <p:sp>
        <p:nvSpPr>
          <p:cNvPr id="19" name="profile-node-16">
            <a:extLst xmlns:a="http://schemas.openxmlformats.org/drawingml/2006/main">
              <a:ext uri="{FF2B5EF4-FFF2-40B4-BE49-F238E27FC236}">
                <a16:creationId xmlns:a16="http://schemas.microsoft.com/office/drawing/2014/main" id="{C7E3707D-61FA-4831-9FA8-004FFB2E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2762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4"/>
          </a:solidFill>
          <a:ln xmlns:a="http://schemas.openxmlformats.org/drawingml/2006/main" w="0">
            <a:solidFill>
              <a:srgbClr val="EAF5F4"/>
            </a:solidFill>
          </a:ln>
        </p:spPr>
      </p:sp>
      <p:sp>
        <p:nvSpPr>
          <p:cNvPr id="20" name="profile-text-17">
            <a:extLst xmlns:a="http://schemas.openxmlformats.org/drawingml/2006/main">
              <a:ext uri="{FF2B5EF4-FFF2-40B4-BE49-F238E27FC236}">
                <a16:creationId xmlns:a16="http://schemas.microsoft.com/office/drawing/2014/main" id="{0BFE0D1B-F8B6-4FED-858E-C45A6633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10175"/>
            <a:ext cx="2628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限定画像成员与适用状态</a:t>
            </a:r>
          </a:p>
        </p:txBody>
      </p:sp>
      <p:sp>
        <p:nvSpPr>
          <p:cNvPr id="21" name="profile-node-18">
            <a:extLst xmlns:a="http://schemas.openxmlformats.org/drawingml/2006/main">
              <a:ext uri="{FF2B5EF4-FFF2-40B4-BE49-F238E27FC236}">
                <a16:creationId xmlns:a16="http://schemas.microsoft.com/office/drawing/2014/main" id="{FB195E7C-2248-48BF-B4E6-AC5F4B92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6477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956A1"/>
            </a:solidFill>
          </a:ln>
        </p:spPr>
      </p:sp>
      <p:sp>
        <p:nvSpPr>
          <p:cNvPr id="22" name="profile-node-19">
            <a:extLst xmlns:a="http://schemas.openxmlformats.org/drawingml/2006/main">
              <a:ext uri="{FF2B5EF4-FFF2-40B4-BE49-F238E27FC236}">
                <a16:creationId xmlns:a16="http://schemas.microsoft.com/office/drawing/2014/main" id="{1C0C1E69-E6F9-4E63-9DDD-CF58BD4F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647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6A1"/>
          </a:solidFill>
          <a:ln xmlns:a="http://schemas.openxmlformats.org/drawingml/2006/main" w="0">
            <a:solidFill>
              <a:srgbClr val="7956A1"/>
            </a:solidFill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2EFFB8-4E17-416D-B9EF-34C14FFD6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0933c980944f8">
            <a:extLst>
              <a:ext uri="{96DAC541-7B7A-43D3-8B79-37D633B846F1}">
                <asvg:svgBlip xmlns:asvg="http://schemas.microsoft.com/office/drawing/2016/SVG/main" r:embed="Recc499cd65b74b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81525" y="25336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4" name="profile-text-20">
            <a:extLst xmlns:a="http://schemas.openxmlformats.org/drawingml/2006/main">
              <a:ext uri="{FF2B5EF4-FFF2-40B4-BE49-F238E27FC236}">
                <a16:creationId xmlns:a16="http://schemas.microsoft.com/office/drawing/2014/main" id="{9915917C-60A0-4342-92CE-806477FA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05075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AI Agent：调度工具与大模型</a:t>
            </a:r>
          </a:p>
        </p:txBody>
      </p:sp>
      <p:cxnSp>
        <p:nvCxnSpPr>
          <p:cNvPr id="25" name="profile-edge-21">
            <a:extLst xmlns:a="http://schemas.openxmlformats.org/drawingml/2006/main">
              <a:ext uri="{FF2B5EF4-FFF2-40B4-BE49-F238E27FC236}">
                <a16:creationId xmlns:a16="http://schemas.microsoft.com/office/drawing/2014/main" id="{4C968715-CC5F-4672-BFE4-8142B52AFAA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81525" y="2971800"/>
            <a:ext cx="6076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2C2CD"/>
            </a:solidFill>
            <a:prstDash val="solid"/>
            <a:tailEnd type="none" w="sm" len="sm"/>
          </a:ln>
        </p:spPr>
      </p:cxn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7AEC5-C1FC-4A0F-A895-D247F19D58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162c4a10249ca">
            <a:extLst>
              <a:ext uri="{96DAC541-7B7A-43D3-8B79-37D633B846F1}">
                <asvg:svgBlip xmlns:asvg="http://schemas.microsoft.com/office/drawing/2016/SVG/main" r:embed="R45903cae531945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00575" y="31813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profile-text-22">
            <a:extLst xmlns:a="http://schemas.openxmlformats.org/drawingml/2006/main">
              <a:ext uri="{FF2B5EF4-FFF2-40B4-BE49-F238E27FC236}">
                <a16:creationId xmlns:a16="http://schemas.microsoft.com/office/drawing/2014/main" id="{152A6C47-BD64-4CE7-8556-2C8234D5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143250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01  定位入口</a:t>
            </a:r>
          </a:p>
        </p:txBody>
      </p:sp>
      <p:sp>
        <p:nvSpPr>
          <p:cNvPr id="28" name="profile-text-23">
            <a:extLst xmlns:a="http://schemas.openxmlformats.org/drawingml/2006/main">
              <a:ext uri="{FF2B5EF4-FFF2-40B4-BE49-F238E27FC236}">
                <a16:creationId xmlns:a16="http://schemas.microsoft.com/office/drawing/2014/main" id="{F4CDA598-9BE3-44E1-A6F0-CB48043C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71825"/>
            <a:ext cx="3838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精确标识、全文及向量召回相关对象</a:t>
            </a:r>
          </a:p>
        </p:txBody>
      </p:sp>
      <p:cxnSp>
        <p:nvCxnSpPr>
          <p:cNvPr id="29" name="profile-edge-24">
            <a:extLst xmlns:a="http://schemas.openxmlformats.org/drawingml/2006/main">
              <a:ext uri="{FF2B5EF4-FFF2-40B4-BE49-F238E27FC236}">
                <a16:creationId xmlns:a16="http://schemas.microsoft.com/office/drawing/2014/main" id="{DDB2F8A5-1F1D-41D4-B2A9-5EA2476F0F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05350" y="343852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956A1"/>
            </a:solidFill>
            <a:prstDash val="solid"/>
            <a:tailEnd type="triangle" w="sm" len="sm"/>
          </a:ln>
        </p:spPr>
      </p:cxn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679EE9-3964-463E-B73D-F4170188F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8685538344a50">
            <a:extLst>
              <a:ext uri="{96DAC541-7B7A-43D3-8B79-37D633B846F1}">
                <asvg:svgBlip xmlns:asvg="http://schemas.microsoft.com/office/drawing/2016/SVG/main" r:embed="Rfe370409cec040a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00575" y="37433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1" name="profile-text-25">
            <a:extLst xmlns:a="http://schemas.openxmlformats.org/drawingml/2006/main">
              <a:ext uri="{FF2B5EF4-FFF2-40B4-BE49-F238E27FC236}">
                <a16:creationId xmlns:a16="http://schemas.microsoft.com/office/drawing/2014/main" id="{10EF4FBD-88B4-4538-AEC4-B08D6AD1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70522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02  扩展知识</a:t>
            </a:r>
          </a:p>
        </p:txBody>
      </p:sp>
      <p:sp>
        <p:nvSpPr>
          <p:cNvPr id="32" name="profile-text-26">
            <a:extLst xmlns:a="http://schemas.openxmlformats.org/drawingml/2006/main">
              <a:ext uri="{FF2B5EF4-FFF2-40B4-BE49-F238E27FC236}">
                <a16:creationId xmlns:a16="http://schemas.microsoft.com/office/drawing/2014/main" id="{41A8758A-961C-4390-B6EC-0A2F8851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33800"/>
            <a:ext cx="3838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沿调用、读写、需求及测试关系查询</a:t>
            </a:r>
          </a:p>
        </p:txBody>
      </p:sp>
      <p:cxnSp>
        <p:nvCxnSpPr>
          <p:cNvPr id="33" name="profile-edge-27">
            <a:extLst xmlns:a="http://schemas.openxmlformats.org/drawingml/2006/main">
              <a:ext uri="{FF2B5EF4-FFF2-40B4-BE49-F238E27FC236}">
                <a16:creationId xmlns:a16="http://schemas.microsoft.com/office/drawing/2014/main" id="{B21052EA-0CE9-4CCA-BCF9-13D66DDAA3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05350" y="40005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956A1"/>
            </a:solidFill>
            <a:prstDash val="solid"/>
            <a:tailEnd type="triangle" w="sm" len="sm"/>
          </a:ln>
        </p:spPr>
      </p:cxn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F4DCED-3131-4D0E-8D93-8453B82E6D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0362350874bb5">
            <a:extLst>
              <a:ext uri="{96DAC541-7B7A-43D3-8B79-37D633B846F1}">
                <asvg:svgBlip xmlns:asvg="http://schemas.microsoft.com/office/drawing/2016/SVG/main" r:embed="R7bc18e7eb4d245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00575" y="430530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5" name="profile-text-28">
            <a:extLst xmlns:a="http://schemas.openxmlformats.org/drawingml/2006/main">
              <a:ext uri="{FF2B5EF4-FFF2-40B4-BE49-F238E27FC236}">
                <a16:creationId xmlns:a16="http://schemas.microsoft.com/office/drawing/2014/main" id="{404C0D48-9D1B-48EC-9896-3D687EAC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67200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03  组装上下文</a:t>
            </a:r>
          </a:p>
        </p:txBody>
      </p:sp>
      <p:sp>
        <p:nvSpPr>
          <p:cNvPr id="36" name="profile-text-29">
            <a:extLst xmlns:a="http://schemas.openxmlformats.org/drawingml/2006/main">
              <a:ext uri="{FF2B5EF4-FFF2-40B4-BE49-F238E27FC236}">
                <a16:creationId xmlns:a16="http://schemas.microsoft.com/office/drawing/2014/main" id="{2372A7F2-12A7-4308-9B26-3E182B44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95775"/>
            <a:ext cx="3838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入口、数据、观察点、批准预期与引用</a:t>
            </a:r>
          </a:p>
        </p:txBody>
      </p:sp>
      <p:cxnSp>
        <p:nvCxnSpPr>
          <p:cNvPr id="37" name="profile-edge-30">
            <a:extLst xmlns:a="http://schemas.openxmlformats.org/drawingml/2006/main">
              <a:ext uri="{FF2B5EF4-FFF2-40B4-BE49-F238E27FC236}">
                <a16:creationId xmlns:a16="http://schemas.microsoft.com/office/drawing/2014/main" id="{B115461B-88F2-4390-89D9-AF30148460C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05350" y="45624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956A1"/>
            </a:solidFill>
            <a:prstDash val="solid"/>
            <a:tailEnd type="triangle" w="sm" len="sm"/>
          </a:ln>
        </p:spPr>
      </p:cxn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571226-F409-4708-AA5D-1C35FBA0D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764a8c6384f4b">
            <a:extLst>
              <a:ext uri="{96DAC541-7B7A-43D3-8B79-37D633B846F1}">
                <asvg:svgBlip xmlns:asvg="http://schemas.microsoft.com/office/drawing/2016/SVG/main" r:embed="R3665e2efb4dc43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00575" y="48672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9" name="profile-text-31">
            <a:extLst xmlns:a="http://schemas.openxmlformats.org/drawingml/2006/main">
              <a:ext uri="{FF2B5EF4-FFF2-40B4-BE49-F238E27FC236}">
                <a16:creationId xmlns:a16="http://schemas.microsoft.com/office/drawing/2014/main" id="{41263CCF-7C61-4D33-9F86-AC7BC0E0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829175"/>
            <a:ext cx="1809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04  复用并生成</a:t>
            </a:r>
          </a:p>
        </p:txBody>
      </p:sp>
      <p:sp>
        <p:nvSpPr>
          <p:cNvPr id="40" name="profile-text-32">
            <a:extLst xmlns:a="http://schemas.openxmlformats.org/drawingml/2006/main">
              <a:ext uri="{FF2B5EF4-FFF2-40B4-BE49-F238E27FC236}">
                <a16:creationId xmlns:a16="http://schemas.microsoft.com/office/drawing/2014/main" id="{0BF252F2-E1C8-4569-A006-D153BBCA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57750"/>
            <a:ext cx="3838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匹配适用资产，大模型补齐缺失用例</a:t>
            </a:r>
          </a:p>
        </p:txBody>
      </p:sp>
      <p:cxnSp>
        <p:nvCxnSpPr>
          <p:cNvPr id="41" name="profile-edge-33">
            <a:extLst xmlns:a="http://schemas.openxmlformats.org/drawingml/2006/main">
              <a:ext uri="{FF2B5EF4-FFF2-40B4-BE49-F238E27FC236}">
                <a16:creationId xmlns:a16="http://schemas.microsoft.com/office/drawing/2014/main" id="{CB940E88-6D1F-4141-ACD4-7C70BBB2D07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3714750" y="35337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7956A1"/>
            </a:solidFill>
            <a:prstDash val="solid"/>
            <a:tailEnd type="triangle" w="sm" len="sm"/>
          </a:ln>
        </p:spPr>
      </p:cxnSp>
      <p:sp>
        <p:nvSpPr>
          <p:cNvPr id="42" name="profile-text-34">
            <a:extLst xmlns:a="http://schemas.openxmlformats.org/drawingml/2006/main">
              <a:ext uri="{FF2B5EF4-FFF2-40B4-BE49-F238E27FC236}">
                <a16:creationId xmlns:a16="http://schemas.microsoft.com/office/drawing/2014/main" id="{638EEAB3-C54F-445A-99F1-7CA332C3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76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查询</a:t>
            </a:r>
          </a:p>
        </p:txBody>
      </p:sp>
      <p:cxnSp>
        <p:nvCxnSpPr>
          <p:cNvPr id="43" name="profile-edge-35">
            <a:extLst xmlns:a="http://schemas.openxmlformats.org/drawingml/2006/main">
              <a:ext uri="{FF2B5EF4-FFF2-40B4-BE49-F238E27FC236}">
                <a16:creationId xmlns:a16="http://schemas.microsoft.com/office/drawing/2014/main" id="{E3337A68-B1D6-4DD7-8284-08EE6591F4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14750" y="40481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07F83"/>
            </a:solidFill>
            <a:prstDash val="solid"/>
            <a:tailEnd type="triangle" w="sm" len="sm"/>
          </a:ln>
        </p:spPr>
      </p:cxnSp>
      <p:sp>
        <p:nvSpPr>
          <p:cNvPr id="44" name="profile-text-36">
            <a:extLst xmlns:a="http://schemas.openxmlformats.org/drawingml/2006/main">
              <a:ext uri="{FF2B5EF4-FFF2-40B4-BE49-F238E27FC236}">
                <a16:creationId xmlns:a16="http://schemas.microsoft.com/office/drawing/2014/main" id="{56563019-414C-4C74-9E32-B612D09E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909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依据</a:t>
            </a:r>
          </a:p>
        </p:txBody>
      </p:sp>
      <p:sp>
        <p:nvSpPr>
          <p:cNvPr id="45" name="profile-node-37">
            <a:extLst xmlns:a="http://schemas.openxmlformats.org/drawingml/2006/main">
              <a:ext uri="{FF2B5EF4-FFF2-40B4-BE49-F238E27FC236}">
                <a16:creationId xmlns:a16="http://schemas.microsoft.com/office/drawing/2014/main" id="{E8AE3457-BE30-42F4-AE79-D68FE84F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333625"/>
            <a:ext cx="3143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956A1"/>
            </a:solidFill>
          </a:ln>
        </p:spPr>
      </p:sp>
      <p:sp>
        <p:nvSpPr>
          <p:cNvPr id="46" name="profile-node-38">
            <a:extLst xmlns:a="http://schemas.openxmlformats.org/drawingml/2006/main">
              <a:ext uri="{FF2B5EF4-FFF2-40B4-BE49-F238E27FC236}">
                <a16:creationId xmlns:a16="http://schemas.microsoft.com/office/drawing/2014/main" id="{1D455C38-8113-4C66-A081-930A7D3A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333625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56A1"/>
          </a:solidFill>
          <a:ln xmlns:a="http://schemas.openxmlformats.org/drawingml/2006/main" w="0">
            <a:solidFill>
              <a:srgbClr val="7956A1"/>
            </a:solidFill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1A26E9-7A93-4C0C-B393-BBBABF8FC1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0628d26864cf4">
            <a:extLst>
              <a:ext uri="{96DAC541-7B7A-43D3-8B79-37D633B846F1}">
                <asvg:svgBlip xmlns:asvg="http://schemas.microsoft.com/office/drawing/2016/SVG/main" r:embed="R7416e4181f7141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706225" y="25241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8" name="profile-text-39">
            <a:extLst xmlns:a="http://schemas.openxmlformats.org/drawingml/2006/main">
              <a:ext uri="{FF2B5EF4-FFF2-40B4-BE49-F238E27FC236}">
                <a16:creationId xmlns:a16="http://schemas.microsoft.com/office/drawing/2014/main" id="{703F1519-C21E-4250-A914-0A727BED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2514600"/>
            <a:ext cx="238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结构化测试用例</a:t>
            </a:r>
          </a:p>
        </p:txBody>
      </p:sp>
      <p:cxnSp>
        <p:nvCxnSpPr>
          <p:cNvPr id="49" name="profile-edge-40">
            <a:extLst xmlns:a="http://schemas.openxmlformats.org/drawingml/2006/main">
              <a:ext uri="{FF2B5EF4-FFF2-40B4-BE49-F238E27FC236}">
                <a16:creationId xmlns:a16="http://schemas.microsoft.com/office/drawing/2014/main" id="{7616D2A8-16D8-4A17-93E2-EEF22A9746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715750" y="2981325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2C2CD"/>
            </a:solidFill>
            <a:prstDash val="solid"/>
            <a:tailEnd type="none" w="sm" len="sm"/>
          </a:ln>
        </p:spPr>
      </p:cxnSp>
      <p:sp>
        <p:nvSpPr>
          <p:cNvPr id="50" name="profile-text-41">
            <a:extLst xmlns:a="http://schemas.openxmlformats.org/drawingml/2006/main">
              <a:ext uri="{FF2B5EF4-FFF2-40B4-BE49-F238E27FC236}">
                <a16:creationId xmlns:a16="http://schemas.microsoft.com/office/drawing/2014/main" id="{D181B993-6347-489D-B27D-58095F8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16230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前置条件 · 测试数据</a:t>
            </a:r>
          </a:p>
        </p:txBody>
      </p:sp>
      <p:sp>
        <p:nvSpPr>
          <p:cNvPr id="51" name="profile-text-42">
            <a:extLst xmlns:a="http://schemas.openxmlformats.org/drawingml/2006/main">
              <a:ext uri="{FF2B5EF4-FFF2-40B4-BE49-F238E27FC236}">
                <a16:creationId xmlns:a16="http://schemas.microsoft.com/office/drawing/2014/main" id="{61EA35AD-9A58-449D-AE75-B611BF43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56235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操作步骤 · 观察位置</a:t>
            </a:r>
          </a:p>
        </p:txBody>
      </p:sp>
      <p:sp>
        <p:nvSpPr>
          <p:cNvPr id="52" name="profile-text-43">
            <a:extLst xmlns:a="http://schemas.openxmlformats.org/drawingml/2006/main">
              <a:ext uri="{FF2B5EF4-FFF2-40B4-BE49-F238E27FC236}">
                <a16:creationId xmlns:a16="http://schemas.microsoft.com/office/drawing/2014/main" id="{729F7DB9-0B9B-49C7-B713-332640DF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96240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经批准的预期结果</a:t>
            </a:r>
          </a:p>
        </p:txBody>
      </p:sp>
      <p:sp>
        <p:nvSpPr>
          <p:cNvPr id="53" name="profile-text-44">
            <a:extLst xmlns:a="http://schemas.openxmlformats.org/drawingml/2006/main">
              <a:ext uri="{FF2B5EF4-FFF2-40B4-BE49-F238E27FC236}">
                <a16:creationId xmlns:a16="http://schemas.microsoft.com/office/drawing/2014/main" id="{04F2CD20-7011-48F4-9105-0B69813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362450"/>
            <a:ext cx="276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来源引用 · 画像版本</a:t>
            </a:r>
          </a:p>
        </p:txBody>
      </p:sp>
      <p:sp>
        <p:nvSpPr>
          <p:cNvPr id="54" name="profile-node-45">
            <a:extLst xmlns:a="http://schemas.openxmlformats.org/drawingml/2006/main">
              <a:ext uri="{FF2B5EF4-FFF2-40B4-BE49-F238E27FC236}">
                <a16:creationId xmlns:a16="http://schemas.microsoft.com/office/drawing/2014/main" id="{E5E25605-419B-4037-BF30-70AB35E0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857750"/>
            <a:ext cx="2762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0">
            <a:solidFill>
              <a:srgbClr val="F0ECF7"/>
            </a:solidFill>
          </a:ln>
        </p:spPr>
      </p:sp>
      <p:sp>
        <p:nvSpPr>
          <p:cNvPr id="55" name="profile-text-46">
            <a:extLst xmlns:a="http://schemas.openxmlformats.org/drawingml/2006/main">
              <a:ext uri="{FF2B5EF4-FFF2-40B4-BE49-F238E27FC236}">
                <a16:creationId xmlns:a16="http://schemas.microsoft.com/office/drawing/2014/main" id="{2121CC8D-7F26-4302-8C0D-6C418CD9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14900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校验引用、预期和必测映射</a:t>
            </a:r>
          </a:p>
        </p:txBody>
      </p:sp>
      <p:sp>
        <p:nvSpPr>
          <p:cNvPr id="56" name="profile-text-47">
            <a:extLst xmlns:a="http://schemas.openxmlformats.org/drawingml/2006/main">
              <a:ext uri="{FF2B5EF4-FFF2-40B4-BE49-F238E27FC236}">
                <a16:creationId xmlns:a16="http://schemas.microsoft.com/office/drawing/2014/main" id="{0842FAD8-714E-4CEF-8600-4FFA567D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172075"/>
            <a:ext cx="2609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缺失项保留，输出明确缺口</a:t>
            </a:r>
          </a:p>
        </p:txBody>
      </p:sp>
      <p:cxnSp>
        <p:nvCxnSpPr>
          <p:cNvPr id="57" name="profile-edge-48">
            <a:extLst xmlns:a="http://schemas.openxmlformats.org/drawingml/2006/main">
              <a:ext uri="{FF2B5EF4-FFF2-40B4-BE49-F238E27FC236}">
                <a16:creationId xmlns:a16="http://schemas.microsoft.com/office/drawing/2014/main" id="{BB446C6C-CEDE-4314-B7E7-2F89222941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58500" y="3952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7956A1"/>
            </a:solidFill>
            <a:prstDash val="solid"/>
            <a:tailEnd type="triangle" w="sm" len="sm"/>
          </a:ln>
        </p:spPr>
      </p:cxnSp>
      <p:sp>
        <p:nvSpPr>
          <p:cNvPr id="58" name="profile-text-49">
            <a:extLst xmlns:a="http://schemas.openxmlformats.org/drawingml/2006/main">
              <a:ext uri="{FF2B5EF4-FFF2-40B4-BE49-F238E27FC236}">
                <a16:creationId xmlns:a16="http://schemas.microsoft.com/office/drawing/2014/main" id="{68940766-4C32-4E13-B0B1-3BE00D25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6861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生成</a:t>
            </a:r>
          </a:p>
        </p:txBody>
      </p:sp>
      <p:cxnSp>
        <p:nvCxnSpPr>
          <p:cNvPr id="59" name="profile-edge-50">
            <a:extLst xmlns:a="http://schemas.openxmlformats.org/drawingml/2006/main">
              <a:ext uri="{FF2B5EF4-FFF2-40B4-BE49-F238E27FC236}">
                <a16:creationId xmlns:a16="http://schemas.microsoft.com/office/drawing/2014/main" id="{9B4C9FCD-9B60-48AD-9AFD-6F1C4862242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96875" y="55721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57125"/>
            </a:solidFill>
            <a:prstDash val="dash"/>
            <a:tailEnd type="none" w="sm" len="sm"/>
          </a:ln>
        </p:spPr>
      </p:cxnSp>
      <p:cxnSp>
        <p:nvCxnSpPr>
          <p:cNvPr id="60" name="profile-edge-51">
            <a:extLst xmlns:a="http://schemas.openxmlformats.org/drawingml/2006/main">
              <a:ext uri="{FF2B5EF4-FFF2-40B4-BE49-F238E27FC236}">
                <a16:creationId xmlns:a16="http://schemas.microsoft.com/office/drawing/2014/main" id="{EE1E27C4-0944-433E-8BB7-B5961563010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620000" y="5905500"/>
            <a:ext cx="54768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57125"/>
            </a:solidFill>
            <a:prstDash val="dash"/>
            <a:tailEnd type="none" w="sm" len="sm"/>
          </a:ln>
        </p:spPr>
      </p:cxnSp>
      <p:cxnSp>
        <p:nvCxnSpPr>
          <p:cNvPr id="61" name="profile-edge-52">
            <a:extLst xmlns:a="http://schemas.openxmlformats.org/drawingml/2006/main">
              <a:ext uri="{FF2B5EF4-FFF2-40B4-BE49-F238E27FC236}">
                <a16:creationId xmlns:a16="http://schemas.microsoft.com/office/drawing/2014/main" id="{E9A85AA2-288F-4350-9560-D05CCB6B4C5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620000" y="5572125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57125"/>
            </a:solidFill>
            <a:prstDash val="dash"/>
            <a:tailEnd type="triangle" w="sm" len="sm"/>
          </a:ln>
        </p:spPr>
      </p:cxnSp>
      <p:sp>
        <p:nvSpPr>
          <p:cNvPr id="62" name="profile-text-53">
            <a:extLst xmlns:a="http://schemas.openxmlformats.org/drawingml/2006/main">
              <a:ext uri="{FF2B5EF4-FFF2-40B4-BE49-F238E27FC236}">
                <a16:creationId xmlns:a16="http://schemas.microsoft.com/office/drawing/2014/main" id="{B50D27DE-6167-427C-BA23-E779BB5D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29275"/>
            <a:ext cx="514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A57125"/>
                </a:solidFill>
                <a:latin typeface="Arial Unicode MS"/>
                <a:ea typeface="Arial Unicode MS"/>
                <a:cs typeface="Arial Unicode MS"/>
              </a:rPr>
              <a:t>缺信息或校验未通过 → 定向补查 / 局部重生成</a:t>
            </a:r>
          </a:p>
        </p:txBody>
      </p:sp>
      <p:sp>
        <p:nvSpPr>
          <p:cNvPr id="63" name="profile-text-54">
            <a:extLst xmlns:a="http://schemas.openxmlformats.org/drawingml/2006/main">
              <a:ext uri="{FF2B5EF4-FFF2-40B4-BE49-F238E27FC236}">
                <a16:creationId xmlns:a16="http://schemas.microsoft.com/office/drawing/2014/main" id="{917E03B3-4B34-4F9C-8A36-7AC8C1DF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6262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效率来源：限定检索范围、复用适用资产、定向补缺</a:t>
            </a:r>
          </a:p>
        </p:txBody>
      </p:sp>
      <p:cxnSp>
        <p:nvCxnSpPr>
          <p:cNvPr id="64" name="profile-edge-55">
            <a:extLst xmlns:a="http://schemas.openxmlformats.org/drawingml/2006/main">
              <a:ext uri="{FF2B5EF4-FFF2-40B4-BE49-F238E27FC236}">
                <a16:creationId xmlns:a16="http://schemas.microsoft.com/office/drawing/2014/main" id="{5F26FB0E-0B8D-4C0B-898D-CB1DD44516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71500" y="6172200"/>
            <a:ext cx="14097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2C2CD"/>
            </a:solidFill>
            <a:prstDash val="solid"/>
            <a:tailEnd type="none" w="sm" len="sm"/>
          </a:ln>
        </p:spPr>
      </p:cxnSp>
      <p:sp>
        <p:nvSpPr>
          <p:cNvPr id="65" name="profile-text-56">
            <a:extLst xmlns:a="http://schemas.openxmlformats.org/drawingml/2006/main">
              <a:ext uri="{FF2B5EF4-FFF2-40B4-BE49-F238E27FC236}">
                <a16:creationId xmlns:a16="http://schemas.microsoft.com/office/drawing/2014/main" id="{B9EE0708-6AD8-4385-B0A2-9C13DE3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409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退款示例（构造）：画像知识如何变成测试动作</a:t>
            </a:r>
          </a:p>
        </p:txBody>
      </p:sp>
      <p:sp>
        <p:nvSpPr>
          <p:cNvPr id="66" name="profile-text-57">
            <a:extLst xmlns:a="http://schemas.openxmlformats.org/drawingml/2006/main">
              <a:ext uri="{FF2B5EF4-FFF2-40B4-BE49-F238E27FC236}">
                <a16:creationId xmlns:a16="http://schemas.microsoft.com/office/drawing/2014/main" id="{871463A2-2DF3-41A9-9B22-3EADE621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72275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7F83"/>
                </a:solidFill>
                <a:latin typeface="Arial Unicode MS"/>
                <a:ea typeface="Arial Unicode MS"/>
                <a:cs typeface="Arial Unicode MS"/>
              </a:rPr>
              <a:t>画像提供的知识</a:t>
            </a:r>
          </a:p>
        </p:txBody>
      </p:sp>
      <p:sp>
        <p:nvSpPr>
          <p:cNvPr id="67" name="profile-text-58">
            <a:extLst xmlns:a="http://schemas.openxmlformats.org/drawingml/2006/main">
              <a:ext uri="{FF2B5EF4-FFF2-40B4-BE49-F238E27FC236}">
                <a16:creationId xmlns:a16="http://schemas.microsoft.com/office/drawing/2014/main" id="{7FA33BD5-E0F8-4E95-945C-DA62F9ED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2470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回调接口 → 事件标识 → 账本字段</a:t>
            </a:r>
          </a:p>
        </p:txBody>
      </p:sp>
      <p:sp>
        <p:nvSpPr>
          <p:cNvPr id="68" name="profile-text-59">
            <a:extLst xmlns:a="http://schemas.openxmlformats.org/drawingml/2006/main">
              <a:ext uri="{FF2B5EF4-FFF2-40B4-BE49-F238E27FC236}">
                <a16:creationId xmlns:a16="http://schemas.microsoft.com/office/drawing/2014/main" id="{7C8A7111-4AB1-47B8-991C-43BF1D5D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104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批准预期：同一事件只记账一次</a:t>
            </a:r>
          </a:p>
        </p:txBody>
      </p:sp>
      <p:cxnSp>
        <p:nvCxnSpPr>
          <p:cNvPr id="69" name="profile-edge-60">
            <a:extLst xmlns:a="http://schemas.openxmlformats.org/drawingml/2006/main">
              <a:ext uri="{FF2B5EF4-FFF2-40B4-BE49-F238E27FC236}">
                <a16:creationId xmlns:a16="http://schemas.microsoft.com/office/drawing/2014/main" id="{5AA03B00-A975-4B8C-B5B1-283C438A35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772025" y="72294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7956A1"/>
            </a:solidFill>
            <a:prstDash val="solid"/>
            <a:tailEnd type="triangle" w="sm" len="sm"/>
          </a:ln>
        </p:spPr>
      </p:cxnSp>
      <p:sp>
        <p:nvSpPr>
          <p:cNvPr id="70" name="profile-text-61">
            <a:extLst xmlns:a="http://schemas.openxmlformats.org/drawingml/2006/main">
              <a:ext uri="{FF2B5EF4-FFF2-40B4-BE49-F238E27FC236}">
                <a16:creationId xmlns:a16="http://schemas.microsoft.com/office/drawing/2014/main" id="{F48E416B-7C11-435C-B1F6-C902B2D2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772275"/>
            <a:ext cx="440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Agent 生成的步骤</a:t>
            </a:r>
          </a:p>
        </p:txBody>
      </p:sp>
      <p:sp>
        <p:nvSpPr>
          <p:cNvPr id="71" name="profile-text-62">
            <a:extLst xmlns:a="http://schemas.openxmlformats.org/drawingml/2006/main">
              <a:ext uri="{FF2B5EF4-FFF2-40B4-BE49-F238E27FC236}">
                <a16:creationId xmlns:a16="http://schemas.microsoft.com/office/drawing/2014/main" id="{F37ECF32-EC4A-44BF-AB0B-52CFD963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12470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同一事件回调两次 → 限时等待完成</a:t>
            </a:r>
          </a:p>
        </p:txBody>
      </p:sp>
      <p:sp>
        <p:nvSpPr>
          <p:cNvPr id="72" name="profile-text-63">
            <a:extLst xmlns:a="http://schemas.openxmlformats.org/drawingml/2006/main">
              <a:ext uri="{FF2B5EF4-FFF2-40B4-BE49-F238E27FC236}">
                <a16:creationId xmlns:a16="http://schemas.microsoft.com/office/drawing/2014/main" id="{87A7B5E6-6F26-47A6-A4AC-634DCE5D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4104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按事件标识查账本，断言数量＝1</a:t>
            </a:r>
          </a:p>
        </p:txBody>
      </p:sp>
      <p:cxnSp>
        <p:nvCxnSpPr>
          <p:cNvPr id="73" name="profile-edge-64">
            <a:extLst xmlns:a="http://schemas.openxmlformats.org/drawingml/2006/main">
              <a:ext uri="{FF2B5EF4-FFF2-40B4-BE49-F238E27FC236}">
                <a16:creationId xmlns:a16="http://schemas.microsoft.com/office/drawing/2014/main" id="{E115FECE-2B98-4C61-A6A4-CCDF55E303C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77425" y="72294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7956A1"/>
            </a:solidFill>
            <a:prstDash val="solid"/>
            <a:tailEnd type="triangle" w="sm" len="sm"/>
          </a:ln>
        </p:spPr>
      </p:cxnSp>
      <p:sp>
        <p:nvSpPr>
          <p:cNvPr id="74" name="profile-text-65">
            <a:extLst xmlns:a="http://schemas.openxmlformats.org/drawingml/2006/main">
              <a:ext uri="{FF2B5EF4-FFF2-40B4-BE49-F238E27FC236}">
                <a16:creationId xmlns:a16="http://schemas.microsoft.com/office/drawing/2014/main" id="{A0764E77-8F59-48CD-86AF-E872895C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772275"/>
            <a:ext cx="41814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复用与补充</a:t>
            </a:r>
          </a:p>
        </p:txBody>
      </p:sp>
      <p:sp>
        <p:nvSpPr>
          <p:cNvPr id="75" name="profile-text-66">
            <a:extLst xmlns:a="http://schemas.openxmlformats.org/drawingml/2006/main">
              <a:ext uri="{FF2B5EF4-FFF2-40B4-BE49-F238E27FC236}">
                <a16:creationId xmlns:a16="http://schemas.microsoft.com/office/drawing/2014/main" id="{C66FD994-5351-4D2F-A001-FE715BDD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7124700"/>
            <a:ext cx="4181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复用身份认证、订单准备等步骤</a:t>
            </a:r>
          </a:p>
        </p:txBody>
      </p:sp>
      <p:sp>
        <p:nvSpPr>
          <p:cNvPr id="76" name="profile-text-67">
            <a:extLst xmlns:a="http://schemas.openxmlformats.org/drawingml/2006/main">
              <a:ext uri="{FF2B5EF4-FFF2-40B4-BE49-F238E27FC236}">
                <a16:creationId xmlns:a16="http://schemas.microsoft.com/office/drawing/2014/main" id="{AC93F8A5-B0EC-40F6-984A-127A0D6A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7410450"/>
            <a:ext cx="4181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3849"/>
                </a:solidFill>
                <a:latin typeface="Arial Unicode MS"/>
                <a:ea typeface="Arial Unicode MS"/>
                <a:cs typeface="Arial Unicode MS"/>
              </a:rPr>
              <a:t>补充重复回调与账本核对</a:t>
            </a:r>
          </a:p>
        </p:txBody>
      </p:sp>
      <p:sp>
        <p:nvSpPr>
          <p:cNvPr id="77" name="profile-node-68">
            <a:extLst xmlns:a="http://schemas.openxmlformats.org/drawingml/2006/main">
              <a:ext uri="{FF2B5EF4-FFF2-40B4-BE49-F238E27FC236}">
                <a16:creationId xmlns:a16="http://schemas.microsoft.com/office/drawing/2014/main" id="{502D0D06-B675-41EC-803B-EBB1B70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20025"/>
            <a:ext cx="1409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7"/>
          </a:solidFill>
          <a:ln xmlns:a="http://schemas.openxmlformats.org/drawingml/2006/main" w="0">
            <a:solidFill>
              <a:srgbClr val="F0ECF7"/>
            </a:solidFill>
          </a:ln>
        </p:spPr>
      </p:sp>
      <p:sp>
        <p:nvSpPr>
          <p:cNvPr id="78" name="profile-text-69">
            <a:extLst xmlns:a="http://schemas.openxmlformats.org/drawingml/2006/main">
              <a:ext uri="{FF2B5EF4-FFF2-40B4-BE49-F238E27FC236}">
                <a16:creationId xmlns:a16="http://schemas.microsoft.com/office/drawing/2014/main" id="{9B75E7CD-947F-4EE8-A04F-125D0257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8581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7956A1"/>
                </a:solidFill>
                <a:latin typeface="Arial Unicode MS"/>
                <a:ea typeface="Arial Unicode MS"/>
                <a:cs typeface="Arial Unicode MS"/>
              </a:rPr>
              <a:t>创新机制：画像关系与原文依据形成测试上下文，驱动 Agent 定向检索、资产复用和缺口补全</a:t>
            </a:r>
          </a:p>
        </p:txBody>
      </p:sp>
      <p:sp>
        <p:nvSpPr>
          <p:cNvPr id="79" name="profile-text-70">
            <a:extLst xmlns:a="http://schemas.openxmlformats.org/drawingml/2006/main">
              <a:ext uri="{FF2B5EF4-FFF2-40B4-BE49-F238E27FC236}">
                <a16:creationId xmlns:a16="http://schemas.microsoft.com/office/drawing/2014/main" id="{9160D2CD-1BDD-429D-906C-C0ABA1F3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48650"/>
            <a:ext cx="1276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目标设计；已有检索、分包与生成校验组件，完整 Agent 调度链路尚未全部贯通。效率收益待实测，生成不等于执行通过。</a:t>
            </a:r>
          </a:p>
        </p:txBody>
      </p:sp>
      <p:sp>
        <p:nvSpPr>
          <p:cNvPr id="80" name="profile-text-71">
            <a:extLst xmlns:a="http://schemas.openxmlformats.org/drawingml/2006/main">
              <a:ext uri="{FF2B5EF4-FFF2-40B4-BE49-F238E27FC236}">
                <a16:creationId xmlns:a16="http://schemas.microsoft.com/office/drawing/2014/main" id="{91B70926-4ED8-474F-9427-2E449568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2296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05 / 06</a:t>
            </a:r>
          </a:p>
        </p:txBody>
      </p:sp>
    </p:spTree>
    <p:extLst>
      <p:ext uri="{BB962C8B-B14F-4D97-AF65-F5344CB8AC3E}">
        <p14:creationId xmlns:p14="http://schemas.microsoft.com/office/powerpoint/2010/main" val="1770523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udsvah03-79">
            <a:extLst xmlns:a="http://schemas.openxmlformats.org/drawingml/2006/main">
              <a:ext uri="{FF2B5EF4-FFF2-40B4-BE49-F238E27FC236}">
                <a16:creationId xmlns:a16="http://schemas.microsoft.com/office/drawing/2014/main" id="{E51566D4-94D3-43DB-9ED0-B5E18260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3944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02C43"/>
                </a:solidFill>
                <a:latin typeface="Arial Unicode MS"/>
                <a:ea typeface="Arial Unicode MS"/>
                <a:cs typeface="Arial Unicode MS"/>
              </a:rPr>
              <a:t>相关专利的技术对照</a:t>
            </a:r>
          </a:p>
        </p:txBody>
      </p:sp>
      <p:sp>
        <p:nvSpPr>
          <p:cNvPr id="2" name="text-udsvah03-80">
            <a:extLst xmlns:a="http://schemas.openxmlformats.org/drawingml/2006/main">
              <a:ext uri="{FF2B5EF4-FFF2-40B4-BE49-F238E27FC236}">
                <a16:creationId xmlns:a16="http://schemas.microsoft.com/office/drawing/2014/main" id="{6A6A22D0-4BDA-4AC0-B72A-C9E36624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388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资料核查日 2026.10.29。按公开文本对照技术机制，保留公开号、权利要求位置及来源链接。</a:t>
            </a:r>
          </a:p>
        </p:txBody>
      </p:sp>
      <p:sp>
        <p:nvSpPr>
          <p:cNvPr id="3" name="text-udsvah03-81">
            <a:extLst xmlns:a="http://schemas.openxmlformats.org/drawingml/2006/main">
              <a:ext uri="{FF2B5EF4-FFF2-40B4-BE49-F238E27FC236}">
                <a16:creationId xmlns:a16="http://schemas.microsoft.com/office/drawing/2014/main" id="{62553C4B-1A72-4FE9-B5ED-82CFFA44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34350"/>
            <a:ext cx="1200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专利申请评审稿    2026.10.29</a:t>
            </a:r>
          </a:p>
        </p:txBody>
      </p:sp>
      <p:sp>
        <p:nvSpPr>
          <p:cNvPr id="4" name="text-udsvah03-82">
            <a:extLst xmlns:a="http://schemas.openxmlformats.org/drawingml/2006/main">
              <a:ext uri="{FF2B5EF4-FFF2-40B4-BE49-F238E27FC236}">
                <a16:creationId xmlns:a16="http://schemas.microsoft.com/office/drawing/2014/main" id="{4FD3F0C0-C12D-42E9-A7EB-963C861F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1057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06 / 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3465C-EBBC-464E-A721-3EE0B940C1D3}"/>
              </a:ext>
            </a:extLst>
          </p:cNvPr>
          <p:cNvGraphicFramePr/>
          <p:nvPr/>
        </p:nvGraphicFramePr>
        <p:xfrm>
          <a:off xmlns:a="http://schemas.openxmlformats.org/drawingml/2006/main" x="666750" y="2038350"/>
          <a:ext xmlns:a="http://schemas.openxmlformats.org/drawingml/2006/main" cx="13906500" cy="4933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143250"/>
                <a:gridCol w="4191000"/>
                <a:gridCol w="333375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编号、日期与位置</a:t>
                      </a:r>
                    </a:p>
                  </a:txBody>
                  <a:tcPr marL="161925" marR="161925" marT="123825" marB="85725" anchor="t">
                    <a:lnL w="6668">
                      <a:solidFill>
                        <a:srgbClr val="DCE4E9"/>
                      </a:solidFill>
                      <a:prstDash val="solid"/>
                    </a:lnL>
                    <a:lnR w="6668">
                      <a:solidFill>
                        <a:srgbClr val="DCE4E9"/>
                      </a:solidFill>
                      <a:prstDash val="solid"/>
                    </a:lnR>
                    <a:lnT w="6668">
                      <a:solidFill>
                        <a:srgbClr val="DCE4E9"/>
                      </a:solidFill>
                      <a:prstDash val="solid"/>
                    </a:lnT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已公开机制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T w="6668">
                      <a:solidFill>
                        <a:srgbClr val="DCE4E9"/>
                      </a:solidFill>
                      <a:prstDash val="solid"/>
                    </a:lnT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本方案比较的具体限定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T w="6668">
                      <a:solidFill>
                        <a:srgbClr val="DCE4E9"/>
                      </a:solidFill>
                      <a:prstDash val="solid"/>
                    </a:lnT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来源地址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T w="6668">
                      <a:solidFill>
                        <a:srgbClr val="DCE4E9"/>
                      </a:solidFill>
                      <a:prstDash val="solid"/>
                    </a:lnT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US20260072811A1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2026-03-12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权147—148、156—157</a:t>
                      </a:r>
                    </a:p>
                  </a:txBody>
                  <a:tcPr marL="161925" marR="161925" marT="123825" marB="85725" anchor="t">
                    <a:lnL w="6668">
                      <a:solidFill>
                        <a:srgbClr val="DCE4E9"/>
                      </a:solidFill>
                      <a:prstDash val="solid"/>
                    </a:lnL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代码差异、依赖图与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历史覆盖选测。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继续整理业务必测项，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识别缺少用例、结果检查和证据。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7F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patents.google.com/patent/</a:t>
                      </a:r>
                    </a:p>
                    <a:p>
                      <a:r>
                        <a:rPr sz="1500" b="0">
                          <a:solidFill>
                            <a:srgbClr val="007F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US20260072811A1/en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CN121935166A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2026-04-28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权1—3、6—7</a:t>
                      </a:r>
                    </a:p>
                  </a:txBody>
                  <a:tcPr marL="161925" marR="161925" marT="123825" marB="85725" anchor="t">
                    <a:lnL w="6668">
                      <a:solidFill>
                        <a:srgbClr val="DCE4E9"/>
                      </a:solidFill>
                      <a:prstDash val="solid"/>
                    </a:lnL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动态图谱、控制/数据流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影响、风险选路径及反馈。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完整必测项贯穿各阶段，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关系变化后重查证据能否支撑发布。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7F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patents.google.com/patent/</a:t>
                      </a:r>
                    </a:p>
                    <a:p>
                      <a:r>
                        <a:rPr sz="1500" b="0">
                          <a:solidFill>
                            <a:srgbClr val="007F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CN121935166A/zh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CN121996618A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2026-05-08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权1、2、5—7</a:t>
                      </a:r>
                    </a:p>
                  </a:txBody>
                  <a:tcPr marL="161925" marR="161925" marT="123825" marB="85725" anchor="t">
                    <a:lnL w="6668">
                      <a:solidFill>
                        <a:srgbClr val="DCE4E9"/>
                      </a:solidFill>
                      <a:prstDash val="solid"/>
                    </a:lnL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向量与图邻域检索，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版本对齐、证据包与复核。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检索数量上限不删必测项，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未命中查询的范围变化也触发重评。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7F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patents.google.com/patent/</a:t>
                      </a:r>
                    </a:p>
                    <a:p>
                      <a:r>
                        <a:rPr sz="1500" b="0">
                          <a:solidFill>
                            <a:srgbClr val="007F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CN121996618A/zh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CN122044758A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2026-05-15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权1、4—10</a:t>
                      </a:r>
                    </a:p>
                  </a:txBody>
                  <a:tcPr marL="161925" marR="161925" marT="123825" marB="85725" anchor="t">
                    <a:lnL w="6668">
                      <a:solidFill>
                        <a:srgbClr val="DCE4E9"/>
                      </a:solidFill>
                      <a:prstDash val="solid"/>
                    </a:lnL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事件驱动门禁、环境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快照、阈值放行及重测。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画像与必测项绑定目标版本证据，</a:t>
                      </a:r>
                    </a:p>
                    <a:p>
                      <a:r>
                        <a:rPr sz="1725" b="0">
                          <a:solidFill>
                            <a:srgbClr val="20384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来源和运行变化联动结论适用性。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7F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patents.google.com/patent/</a:t>
                      </a:r>
                    </a:p>
                    <a:p>
                      <a:r>
                        <a:rPr sz="1500" b="0">
                          <a:solidFill>
                            <a:srgbClr val="007F83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CN122044758A/zh</a:t>
                      </a:r>
                    </a:p>
                  </a:txBody>
                  <a:tcPr marL="161925" marR="161925" marT="123825" marB="85725" anchor="t">
                    <a:lnR w="6668">
                      <a:solidFill>
                        <a:srgbClr val="DCE4E9"/>
                      </a:solidFill>
                      <a:prstDash val="solid"/>
                    </a:lnR>
                    <a:lnB w="6668">
                      <a:solidFill>
                        <a:srgbClr val="DCE4E9"/>
                      </a:solidFill>
                      <a:prstDash val="solid"/>
                    </a:lnB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6" name="text-udsvah03-83">
            <a:extLst xmlns:a="http://schemas.openxmlformats.org/drawingml/2006/main">
              <a:ext uri="{FF2B5EF4-FFF2-40B4-BE49-F238E27FC236}">
                <a16:creationId xmlns:a16="http://schemas.microsoft.com/office/drawing/2014/main" id="{B6725BAF-8394-4B19-87C4-05ED418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72325"/>
            <a:ext cx="1381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66B79"/>
                </a:solidFill>
                <a:latin typeface="Arial Unicode MS"/>
                <a:ea typeface="Arial Unicode MS"/>
                <a:cs typeface="Arial Unicode MS"/>
              </a:rPr>
              <a:t>CN121935166B 授权公告日：2026-07-21，权利要求1增加具体限定。首次公开日期采用 A 文本。</a:t>
            </a:r>
          </a:p>
        </p:txBody>
      </p:sp>
      <p:sp>
        <p:nvSpPr>
          <p:cNvPr id="7" name="text-udsvah03-84">
            <a:extLst xmlns:a="http://schemas.openxmlformats.org/drawingml/2006/main">
              <a:ext uri="{FF2B5EF4-FFF2-40B4-BE49-F238E27FC236}">
                <a16:creationId xmlns:a16="http://schemas.microsoft.com/office/drawing/2014/main" id="{42CCA824-6383-429F-8DA7-E2795AB1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67625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35220"/>
                </a:solidFill>
                <a:latin typeface="Arial Unicode MS"/>
                <a:ea typeface="Arial Unicode MS"/>
                <a:cs typeface="Arial Unicode MS"/>
              </a:rPr>
              <a:t>公开文本已涉及多项基础机制。本页用于说明技术组合，检索范围尚未覆盖全部同族和审查档案，不能据此判断可授权性。</a:t>
            </a:r>
          </a:p>
        </p:txBody>
      </p:sp>
    </p:spTree>
    <p:extLst>
      <p:ext uri="{BB962C8B-B14F-4D97-AF65-F5344CB8AC3E}">
        <p14:creationId xmlns:p14="http://schemas.microsoft.com/office/powerpoint/2010/main" val="1051981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6</ap:Slides>
  <ap:Notes>6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2026-10-29T19:50:06.2920000Z</dcterms:created>
  <dcterms:modified xsi:type="dcterms:W3CDTF">2026-10-29T19:50:06.2920000Z</dcterms:modified>
</coreProperties>
</file>